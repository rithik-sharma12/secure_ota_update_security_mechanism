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6258032" cy="9144000"/>
  <p:notesSz cx="9144000" cy="1625803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24ce683-d7a1-a1f3-70d7-fce776659ff1}">
          <p14:sldIdLst>
            <p14:sldId id="256"/>
            <p14:sldId id="257"/>
          </p14:sldIdLst>
        </p14:section>
        <p14:section name="Problem and objectives" id="{1062230b-7424-8719-dd75-8eb253ba6fbd}">
          <p14:sldIdLst>
            <p14:sldId id="258"/>
            <p14:sldId id="259"/>
          </p14:sldIdLst>
        </p14:section>
        <p14:section name="Specification and design" id="{45cfff72-1830-48ec-d3d6-26c654a0c2b3}">
          <p14:sldIdLst>
            <p14:sldId id="260"/>
            <p14:sldId id="261"/>
            <p14:sldId id="262"/>
            <p14:sldId id="263"/>
            <p14:sldId id="264"/>
          </p14:sldIdLst>
        </p14:section>
        <p14:section name="Implementation and results" id="{5bddf9df-74c0-2338-bca7-48f5231dbb02}">
          <p14:sldIdLst>
            <p14:sldId id="265"/>
            <p14:sldId id="266"/>
            <p14:sldId id="267"/>
            <p14:sldId id="268"/>
            <p14:sldId id="269"/>
          </p14:sldIdLst>
        </p14:section>
        <p14:section name="Conclusion" id="{59c12dd0-d8c5-6b3f-f742-670cfd3c5bd9}">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D1B2A"/>
                </a:solidFill>
                <a:latin typeface="+mj-lt"/>
              </a:defRPr>
            </a:pPr>
            <a:r>
              <a:rPr sz="1600" b="0" i="0" u="none" strike="noStrike">
                <a:solidFill>
                  <a:srgbClr val="0D1B2A"/>
                </a:solidFill>
                <a:latin typeface="+mj-lt"/>
              </a:rPr>
              <a:t>Invalid packages reaching and rejected at each gate</a:t>
            </a:r>
          </a:p>
        </c:rich>
      </c:tx>
      <c:layout/>
      <c:overlay val="0"/>
    </c:title>
    <c:autoTitleDeleted val="0"/>
    <c:plotArea>
      <c:layout/>
      <c:barChart>
        <c:barDir val="col"/>
        <c:grouping val="clustered"/>
        <c:varyColors val="0"/>
        <c:ser>
          <c:idx val="0"/>
          <c:order val="0"/>
          <c:tx>
            <c:strRef>
              <c:f>Sheet1!$B$1</c:f>
              <c:strCache>
                <c:ptCount val="1"/>
                <c:pt idx="0">
                  <c:v>Reaching the gate</c:v>
                </c:pt>
              </c:strCache>
            </c:strRef>
          </c:tx>
          <c:spPr>
            <a:solidFill>
              <a:srgbClr val="0E7490"/>
            </a:solidFill>
            <a:effectLst/>
          </c:spPr>
          <c:invertIfNegative val="0"/>
          <c:dLbls>
            <c:numFmt formatCode="#,##0" sourceLinked="0"/>
            <c:txPr>
              <a:bodyPr/>
              <a:lstStyle/>
              <a:p>
                <a:pPr>
                  <a:defRPr b="0" i="0" strike="noStrike" sz="1300" u="none">
                    <a:solidFill>
                      <a:srgbClr val="33475B"/>
                    </a:solidFill>
                    <a:latin typeface="+mn-lt"/>
                  </a:defRPr>
                </a:pPr>
              </a:p>
            </c:txPr>
            <c:showLegendKey val="0"/>
            <c:showVal val="1"/>
            <c:showCatName val="0"/>
            <c:showSerName val="0"/>
            <c:showPercent val="0"/>
            <c:showBubbleSize val="0"/>
            <c:showLeaderLines val="0"/>
          </c:dLbls>
          <c:cat>
            <c:multiLvlStrRef>
              <c:f>Sheet1!$A$2:$A$6</c:f>
              <c:multiLvlStrCache>
                <c:ptCount val="5"/>
                <c:lvl>
                  <c:pt idx="0">
                    <c:v>G1 Manifest</c:v>
                  </c:pt>
                  <c:pt idx="1">
                    <c:v>G2 SHA-256</c:v>
                  </c:pt>
                  <c:pt idx="2">
                    <c:v>G3 Format</c:v>
                  </c:pt>
                  <c:pt idx="3">
                    <c:v>G4 HMAC</c:v>
                  </c:pt>
                  <c:pt idx="4">
                    <c:v>G5 Ed25519</c:v>
                  </c:pt>
                </c:lvl>
              </c:multiLvlStrCache>
            </c:multiLvlStrRef>
          </c:cat>
          <c:val>
            <c:numRef>
              <c:f>Sheet1!$B$2:$B$6</c:f>
              <c:numCache>
                <c:formatCode>General</c:formatCode>
                <c:ptCount val="5"/>
                <c:pt idx="0">
                  <c:v>360</c:v>
                </c:pt>
                <c:pt idx="1">
                  <c:v>240</c:v>
                </c:pt>
                <c:pt idx="2">
                  <c:v>120</c:v>
                </c:pt>
                <c:pt idx="3">
                  <c:v>60</c:v>
                </c:pt>
                <c:pt idx="4">
                  <c:v>48</c:v>
                </c:pt>
              </c:numCache>
            </c:numRef>
          </c:val>
        </c:ser>
        <c:ser>
          <c:idx val="1"/>
          <c:order val="1"/>
          <c:tx>
            <c:strRef>
              <c:f>Sheet1!$C$1</c:f>
              <c:strCache>
                <c:ptCount val="1"/>
                <c:pt idx="0">
                  <c:v>Rejected at the gate</c:v>
                </c:pt>
              </c:strCache>
            </c:strRef>
          </c:tx>
          <c:spPr>
            <a:solidFill>
              <a:srgbClr val="B4322A"/>
            </a:solidFill>
            <a:effectLst/>
          </c:spPr>
          <c:invertIfNegative val="0"/>
          <c:dLbls>
            <c:numFmt formatCode="#,##0" sourceLinked="0"/>
            <c:txPr>
              <a:bodyPr/>
              <a:lstStyle/>
              <a:p>
                <a:pPr>
                  <a:defRPr b="0" i="0" strike="noStrike" sz="1300" u="none">
                    <a:solidFill>
                      <a:srgbClr val="33475B"/>
                    </a:solidFill>
                    <a:latin typeface="+mn-lt"/>
                  </a:defRPr>
                </a:pPr>
              </a:p>
            </c:txPr>
            <c:showLegendKey val="0"/>
            <c:showVal val="1"/>
            <c:showCatName val="0"/>
            <c:showSerName val="0"/>
            <c:showPercent val="0"/>
            <c:showBubbleSize val="0"/>
            <c:showLeaderLines val="0"/>
          </c:dLbls>
          <c:cat>
            <c:multiLvlStrRef>
              <c:f>Sheet1!$A$2:$A$6</c:f>
              <c:multiLvlStrCache>
                <c:ptCount val="5"/>
                <c:lvl>
                  <c:pt idx="0">
                    <c:v>G1 Manifest</c:v>
                  </c:pt>
                  <c:pt idx="1">
                    <c:v>G2 SHA-256</c:v>
                  </c:pt>
                  <c:pt idx="2">
                    <c:v>G3 Format</c:v>
                  </c:pt>
                  <c:pt idx="3">
                    <c:v>G4 HMAC</c:v>
                  </c:pt>
                  <c:pt idx="4">
                    <c:v>G5 Ed25519</c:v>
                  </c:pt>
                </c:lvl>
              </c:multiLvlStrCache>
            </c:multiLvlStrRef>
          </c:cat>
          <c:val>
            <c:numRef>
              <c:f>Sheet1!$C$2:$C$6</c:f>
              <c:numCache>
                <c:formatCode>General</c:formatCode>
                <c:ptCount val="5"/>
                <c:pt idx="0">
                  <c:v>120</c:v>
                </c:pt>
                <c:pt idx="1">
                  <c:v>120</c:v>
                </c:pt>
                <c:pt idx="2">
                  <c:v>60</c:v>
                </c:pt>
                <c:pt idx="3">
                  <c:v>12</c:v>
                </c:pt>
                <c:pt idx="4">
                  <c:v>48</c:v>
                </c:pt>
              </c:numCache>
            </c:numRef>
          </c:val>
        </c:ser>
        <c:dLbls>
          <c:numFmt formatCode="#,##0" sourceLinked="0"/>
          <c:txPr>
            <a:bodyPr/>
            <a:lstStyle/>
            <a:p>
              <a:pPr>
                <a:defRPr b="0" i="0" strike="noStrike" sz="1300" u="none">
                  <a:solidFill>
                    <a:srgbClr val="33475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3475B"/>
                </a:solidFill>
                <a:latin typeface="+mn-lt"/>
              </a:defRPr>
            </a:pPr>
            <a:endParaRPr lang="en-US"/>
          </a:p>
        </c:txPr>
        <c:crossAx val="2094734552"/>
        <c:crosses val="autoZero"/>
        <c:auto val="1"/>
        <c:lblAlgn val="ctr"/>
        <c:noMultiLvlLbl val="1"/>
      </c:catAx>
      <c:valAx>
        <c:axId val="2094734552"/>
        <c:scaling>
          <c:orientation val="minMax"/>
          <c:max val="400"/>
        </c:scaling>
        <c:delete val="0"/>
        <c:axPos val="l"/>
        <c:majorGridlines>
          <c:spPr>
            <a:ln w="12700" cap="flat">
              <a:solidFill>
                <a:srgbClr val="E3E9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D91"/>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33475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D1B2A"/>
                </a:solidFill>
                <a:latin typeface="+mj-lt"/>
              </a:defRPr>
            </a:pPr>
            <a:r>
              <a:rPr sz="1600" b="0" i="0" u="none" strike="noStrike">
                <a:solidFill>
                  <a:srgbClr val="0D1B2A"/>
                </a:solidFill>
                <a:latin typeface="+mj-lt"/>
              </a:rPr>
              <a:t>Verification time per invalid package (ms)</a:t>
            </a:r>
          </a:p>
        </c:rich>
      </c:tx>
      <c:layout/>
      <c:overlay val="0"/>
    </c:title>
    <c:autoTitleDeleted val="0"/>
    <c:plotArea>
      <c:layout/>
      <c:barChart>
        <c:barDir val="col"/>
        <c:grouping val="clustered"/>
        <c:varyColors val="0"/>
        <c:ser>
          <c:idx val="0"/>
          <c:order val="0"/>
          <c:tx>
            <c:strRef>
              <c:f>Sheet1!$B$1</c:f>
              <c:strCache>
                <c:ptCount val="1"/>
                <c:pt idx="0">
                  <c:v>Full pipeline (ms)</c:v>
                </c:pt>
              </c:strCache>
            </c:strRef>
          </c:tx>
          <c:spPr>
            <a:solidFill>
              <a:srgbClr val="6B7D91"/>
            </a:solidFill>
            <a:effectLst/>
          </c:spPr>
          <c:invertIfNegative val="0"/>
          <c:dLbls>
            <c:numFmt formatCode="0.0" sourceLinked="0"/>
            <c:txPr>
              <a:bodyPr/>
              <a:lstStyle/>
              <a:p>
                <a:pPr>
                  <a:defRPr b="0" i="0" strike="noStrike" sz="1300" u="none">
                    <a:solidFill>
                      <a:srgbClr val="33475B"/>
                    </a:solidFill>
                    <a:latin typeface="+mn-lt"/>
                  </a:defRPr>
                </a:pPr>
              </a:p>
            </c:txPr>
            <c:showLegendKey val="0"/>
            <c:showVal val="1"/>
            <c:showCatName val="0"/>
            <c:showSerName val="0"/>
            <c:showPercent val="0"/>
            <c:showBubbleSize val="0"/>
            <c:showLeaderLines val="0"/>
          </c:dLbls>
          <c:cat>
            <c:multiLvlStrRef>
              <c:f>Sheet1!$A$2:$A$4</c:f>
              <c:multiLvlStrCache>
                <c:ptCount val="3"/>
                <c:lvl>
                  <c:pt idx="0">
                    <c:v>ESP32</c:v>
                  </c:pt>
                  <c:pt idx="1">
                    <c:v>ESP8266</c:v>
                  </c:pt>
                  <c:pt idx="2">
                    <c:v>ATmega328P</c:v>
                  </c:pt>
                </c:lvl>
              </c:multiLvlStrCache>
            </c:multiLvlStrRef>
          </c:cat>
          <c:val>
            <c:numRef>
              <c:f>Sheet1!$B$2:$B$4</c:f>
              <c:numCache>
                <c:formatCode>General</c:formatCode>
                <c:ptCount val="3"/>
                <c:pt idx="0">
                  <c:v>63.7</c:v>
                </c:pt>
                <c:pt idx="1">
                  <c:v>119.2</c:v>
                </c:pt>
                <c:pt idx="2">
                  <c:v>429</c:v>
                </c:pt>
              </c:numCache>
            </c:numRef>
          </c:val>
        </c:ser>
        <c:ser>
          <c:idx val="1"/>
          <c:order val="1"/>
          <c:tx>
            <c:strRef>
              <c:f>Sheet1!$C$1</c:f>
              <c:strCache>
                <c:ptCount val="1"/>
                <c:pt idx="0">
                  <c:v>TCV expected time (ms)</c:v>
                </c:pt>
              </c:strCache>
            </c:strRef>
          </c:tx>
          <c:spPr>
            <a:solidFill>
              <a:srgbClr val="067A55"/>
            </a:solidFill>
            <a:effectLst/>
          </c:spPr>
          <c:invertIfNegative val="0"/>
          <c:dLbls>
            <c:numFmt formatCode="0.0" sourceLinked="0"/>
            <c:txPr>
              <a:bodyPr/>
              <a:lstStyle/>
              <a:p>
                <a:pPr>
                  <a:defRPr b="0" i="0" strike="noStrike" sz="1300" u="none">
                    <a:solidFill>
                      <a:srgbClr val="33475B"/>
                    </a:solidFill>
                    <a:latin typeface="+mn-lt"/>
                  </a:defRPr>
                </a:pPr>
              </a:p>
            </c:txPr>
            <c:showLegendKey val="0"/>
            <c:showVal val="1"/>
            <c:showCatName val="0"/>
            <c:showSerName val="0"/>
            <c:showPercent val="0"/>
            <c:showBubbleSize val="0"/>
            <c:showLeaderLines val="0"/>
          </c:dLbls>
          <c:cat>
            <c:multiLvlStrRef>
              <c:f>Sheet1!$A$2:$A$4</c:f>
              <c:multiLvlStrCache>
                <c:ptCount val="3"/>
                <c:lvl>
                  <c:pt idx="0">
                    <c:v>ESP32</c:v>
                  </c:pt>
                  <c:pt idx="1">
                    <c:v>ESP8266</c:v>
                  </c:pt>
                  <c:pt idx="2">
                    <c:v>ATmega328P</c:v>
                  </c:pt>
                </c:lvl>
              </c:multiLvlStrCache>
            </c:multiLvlStrRef>
          </c:cat>
          <c:val>
            <c:numRef>
              <c:f>Sheet1!$C$2:$C$4</c:f>
              <c:numCache>
                <c:formatCode>General</c:formatCode>
                <c:ptCount val="3"/>
                <c:pt idx="0">
                  <c:v>16.1</c:v>
                </c:pt>
                <c:pt idx="1">
                  <c:v>27.9</c:v>
                </c:pt>
                <c:pt idx="2">
                  <c:v>106.1</c:v>
                </c:pt>
              </c:numCache>
            </c:numRef>
          </c:val>
        </c:ser>
        <c:dLbls>
          <c:numFmt formatCode="0.0" sourceLinked="0"/>
          <c:txPr>
            <a:bodyPr/>
            <a:lstStyle/>
            <a:p>
              <a:pPr>
                <a:defRPr b="0" i="0" strike="noStrike" sz="1300" u="none">
                  <a:solidFill>
                    <a:srgbClr val="33475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3475B"/>
                </a:solidFill>
                <a:latin typeface="+mn-lt"/>
              </a:defRPr>
            </a:pPr>
            <a:endParaRPr lang="en-US"/>
          </a:p>
        </c:txPr>
        <c:crossAx val="2094734552"/>
        <c:crosses val="autoZero"/>
        <c:auto val="1"/>
        <c:lblAlgn val="ctr"/>
        <c:noMultiLvlLbl val="1"/>
      </c:catAx>
      <c:valAx>
        <c:axId val="2094734552"/>
        <c:scaling>
          <c:orientation val="minMax"/>
          <c:max val="500"/>
        </c:scaling>
        <c:delete val="0"/>
        <c:axPos val="l"/>
        <c:majorGridlines>
          <c:spPr>
            <a:ln w="12700" cap="flat">
              <a:solidFill>
                <a:srgbClr val="E3E9EF"/>
              </a:solidFill>
              <a:prstDash val="solid"/>
              <a:round/>
            </a:ln>
          </c:spPr>
        </c:majorGridlines>
        <c:title>
          <c:tx>
            <c:rich>
              <a:bodyPr/>
              <a:lstStyle/>
              <a:p>
                <a:pPr>
                  <a:defRPr sz="1200" b="0" i="0" u="none" strike="noStrike">
                    <a:solidFill>
                      <a:srgbClr val="6B7D91"/>
                    </a:solidFill>
                    <a:latin typeface="Arial"/>
                  </a:defRPr>
                </a:pPr>
                <a:r>
                  <a:rPr sz="1200" b="0" i="0" u="none" strike="noStrike">
                    <a:solidFill>
                      <a:srgbClr val="6B7D91"/>
                    </a:solidFill>
                    <a:latin typeface="Arial"/>
                  </a:rPr>
                  <a:t>milliseconds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D91"/>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33475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title. One sentence on what SecureOTA is: a firmware update mechanism that keeps updates and device status from being forged, tampered with or replayed, and that rejects bad updates cheaply on small microcontrollers. Point at the right panel: this is the journey of one update, and the rest of the talk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abstract as four ideas: (1) the problem, devices out of sight with unchecked updates; (2) which boards; (3) the three protections: signed firmware, sealed beacons, five ordered gates plus a health score; (4) the results on the right. Say the headline numbers out loud: 86.7 percent of bad packages never reach the expensive signature check, which cuts the time spent on a bad package by about three quarters, and genuine packages are never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in one line: design an update mechanism for low-cost, mixed microcontrollers that keeps firmware and status traffic authentic and fresh, rejects bad updates cheaply, and shows the operator what every device is running. Then the three gaps. The middle one is our key insight: the most expensive check is usually run first or on everything, although most bad packages could be caught by a 1 ms check. Bottom row: none of the three recent frameworks rejects bad packages in stages, monitors devices or automates signing.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list: each objective maps to one mechanism we will show in the design slides. 1 sealed beacons, 2 workflow-bound signing, 3 Tiered Crypto Verification, 4 compatibility check, self-test, rollback and quarantine, 5 the live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four board families in the paper. Stress the range, from 520 KB of RAM on the ESP32 down to 2 KB on the ATmega328P. The ESP32 is the demo board; STM32F103 measurements are still planned, so say so. Right: the stack layer by layer, firmware, gateway, console, data, flashing, release and hosting.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left to right. A version tag in the repository starts the build; the workflow hashes and signs the image and publishes a release bundle. The gateway serves the signed manifest and package to devices over HTTPS and receives their sealed beacons. Devices verify every package before installing. The console sits on top of the gateway: it shows the live fleet and is also used once per new board to flash and provision it over USB.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Figure 1 from our paper. Two domains: the developer and GitHub release domain, and the SecureOTA device agent. The device polls, validates the manifest, downloads the signed bundle, runs the five TCV checks, boots the new partition and self-tests it. Pass: commit and raise the health score H. Fail: roll back and lower H. The six mechanisms M1 to M6 on the right are the modules we implemented; the implementation slide explains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keeps devices, releases, deployments and per-device commands in its state store, and writes high-volume time series to SQLite: telemetry from every beacon and an audit row for every write request. The console keeps user profiles with roles and USB flash jobs in its own store, mirrored to Supabase when configured. Relationships: a device has many telemetry rows, commands and audit rows; a release has many deployments; a deployment targets many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package must pass all five gates (D = 1) before it is written to flash. The gates are cheap to expensive: manifest 1.2 ms, digest 11.8 ms, image format 0.9 ms, HMAC 2.3 ms and Ed25519 47.5 ms on the ESP32. The gate priority is rejection probability divided by cost, and the origin-proving Ed25519 gate always goes last. E[T] says a later gate only costs time for packages that survived earlier gates. After install, the post-boot self-test decides commit or rollback, and the health score H moves up by alpha on success and down by beta on failure; below the threshold the device is quarantined.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module from the design is a real part of the code. Packaging lives in the release workflow and the build script. Verification lives in the device firmware. Policy, distribution and deployment tracking live in the FastAPI gateway. Rollback uses the ESP32 dual-partition boot with a post-boot self-test. The health score is stored on the device and on the gateway, and the console shows it per device. Mention: deployments are marked confirmed only when the device itself reports the new version, not when the gateway has merely sent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console. Walk the four steps on the right in the order you would demo them: build, first flash over USB, publish and deploy, monitor. If there is time for a live demo, show the Devices page, then the Releases page, then a deployment completing. Bottom box: the platform-level protections around the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of bars is one gate: how many invalid packages reached it, and how many it rejected. The manifest gate removes a third at 1.2 ms. Digest and format checks remove most of the rest. Only 48 forged-signature packages ever reach the Ed25519 gate, which costs about 75 percent of the whole pipeline. So 312 of 360, 86.7 percent, are rejected before the expensive gate, and no genuine package was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 bars are the time a package would take if every gate always ran; green bars are the expected time under our ordering for an invalid package. On the ESP32 that is 63.7 ms down to 16.1 ms; on the ATmega328P 429 ms down to 106.1 ms. The saving is almost the same everywhere, about three quarters, because the signature check is about three quarters of the pipeline on every board and most bad packages never reach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the green column. Park et al. is fast but was simulated on a laptop and does not handle replay or rollback. Shin et al. show MQTT over TLS is about four times faster than HTTPS and detect duplicate updates, but have no staged rejection and no defence against denial of service. Carnevale et al. keep firmware fresh on an ESP32 mesh but report no timing. Be fair: these works target different settings; our claim is the combination of staged rejection, authenticated monitoring and automated signing on real microcontrollers.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three sentences, one per card, then read the bottom line. Keep it short; the numbers have already been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directions from the paper's conclusion. The first is the honest gap: STM32F103 measurements are not done yet. The last is the long-term one: post-quantum signatures, since Ed25519 is not quantum-safe.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paper status exactly as it is on the day: prepared for submission, with the target conference. If the venue or patent status is confirmed before the exam, replace the placeholders. Do not claim acceptance or a filed patent unless that has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need to read these out. If asked, the three most relevant comparisons are [5] Park, [10] Shin and [15] Carnevale.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rtlCol="0"/>
          <a:lstStyle>
            <a:lvl1pPr algn="l" indent="0" marL="0">
              <a:buNone/>
              <a:defRPr lang="en-US" sz="3200" b="1" dirty="0">
                <a:solidFill>
                  <a:srgbClr val="0D1B2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rtlCol="0"/>
          <a:lstStyle>
            <a:lvl1pPr algn="l" indent="0" marL="0">
              <a:buNone/>
              <a:defRPr lang="en-US" sz="1600" dirty="0">
                <a:solidFill>
                  <a:srgbClr val="6B7D91"/>
                </a:solidFill>
                <a:latin typeface="Calibri" pitchFamily="34" charset="0"/>
                <a:ea typeface="Calibri" pitchFamily="34" charset="-122"/>
                <a:cs typeface="Calibri" pitchFamily="34" charset="-120"/>
              </a:defRPr>
            </a:lvl1pPr>
          </a:lstStyle>
          <a:p>
            <a:pPr algn="l" indent="0" marL="0">
              <a:buNone/>
            </a:pPr>
            <a:endParaRPr lang="en-US" sz="1600" dirty="0"/>
          </a:p>
        </p:txBody>
      </p:sp>
      <p:sp>
        <p:nvSpPr>
          <p:cNvPr id="4" name="Text 0"/>
          <p:cNvSpPr/>
          <p:nvPr/>
        </p:nvSpPr>
        <p:spPr>
          <a:xfrm>
            <a:off x="731520" y="8549640"/>
            <a:ext cx="10972800" cy="320040"/>
          </a:xfrm>
          <a:prstGeom prst="rect">
            <a:avLst/>
          </a:prstGeom>
          <a:noFill/>
          <a:ln/>
        </p:spPr>
        <p:txBody>
          <a:bodyPr wrap="square" lIns="0" tIns="0" rIns="0" bIns="0" rtlCol="0" anchor="ctr"/>
          <a:lstStyle/>
          <a:p>
            <a:pPr indent="0" marL="0">
              <a:buNone/>
            </a:pPr>
            <a:r>
              <a:rPr lang="en-US" sz="1100" dirty="0">
                <a:solidFill>
                  <a:srgbClr val="6B7D91"/>
                </a:solidFill>
                <a:latin typeface="Calibri" pitchFamily="34" charset="0"/>
                <a:ea typeface="Calibri" pitchFamily="34" charset="-122"/>
                <a:cs typeface="Calibri" pitchFamily="34" charset="-120"/>
              </a:rPr>
              <a:t>SecureOTA  |  Department of Cybersecurity Engineering, KCG College of Technology</a:t>
            </a:r>
            <a:endParaRPr lang="en-US" sz="11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731520" y="868680"/>
            <a:ext cx="7315200" cy="274320"/>
          </a:xfrm>
          <a:prstGeom prst="rect">
            <a:avLst/>
          </a:prstGeom>
          <a:noFill/>
          <a:ln/>
        </p:spPr>
        <p:txBody>
          <a:bodyPr wrap="square" lIns="0" tIns="0" rIns="0" bIns="0" rtlCol="0" anchor="t"/>
          <a:lstStyle/>
          <a:p>
            <a:pPr algn="l" indent="0" marL="0">
              <a:lnSpc>
                <a:spcPct val="100000"/>
              </a:lnSpc>
              <a:buNone/>
            </a:pPr>
            <a:r>
              <a:rPr lang="en-US" sz="1100" b="1" dirty="0">
                <a:solidFill>
                  <a:srgbClr val="0E7490"/>
                </a:solidFill>
                <a:latin typeface="Calibri" pitchFamily="34" charset="0"/>
                <a:ea typeface="Calibri" pitchFamily="34" charset="-122"/>
                <a:cs typeface="Calibri" pitchFamily="34" charset="-120"/>
              </a:rPr>
              <a:t>FINAL YEAR PROJECT  |  MODEL EXAMINATION</a:t>
            </a:r>
            <a:endParaRPr lang="en-US" sz="1100" dirty="0"/>
          </a:p>
        </p:txBody>
      </p:sp>
      <p:sp>
        <p:nvSpPr>
          <p:cNvPr id="3" name="text-2"/>
          <p:cNvSpPr txBox="1"/>
          <p:nvPr/>
        </p:nvSpPr>
        <p:spPr>
          <a:xfrm>
            <a:off x="731520" y="1280160"/>
            <a:ext cx="8595360" cy="2194560"/>
          </a:xfrm>
          <a:prstGeom prst="rect">
            <a:avLst/>
          </a:prstGeom>
          <a:noFill/>
          <a:ln/>
        </p:spPr>
        <p:txBody>
          <a:bodyPr wrap="square" lIns="0" tIns="0" rIns="0" bIns="0" rtlCol="0" anchor="t"/>
          <a:lstStyle/>
          <a:p>
            <a:pPr algn="l" indent="0" marL="0">
              <a:lnSpc>
                <a:spcPct val="105000"/>
              </a:lnSpc>
              <a:buNone/>
            </a:pPr>
            <a:r>
              <a:rPr lang="en-US" sz="3400" b="1" dirty="0">
                <a:solidFill>
                  <a:srgbClr val="0D1B2A"/>
                </a:solidFill>
                <a:latin typeface="Cambria" pitchFamily="34" charset="0"/>
                <a:ea typeface="Cambria" pitchFamily="34" charset="-122"/>
                <a:cs typeface="Cambria" pitchFamily="34" charset="-120"/>
              </a:rPr>
              <a:t>SecureOTA: A Secure Heterogeneous OTA Update Mechanism for Resource-Constrained IoT Devices</a:t>
            </a:r>
            <a:endParaRPr lang="en-US" sz="3400" dirty="0"/>
          </a:p>
        </p:txBody>
      </p:sp>
      <p:sp>
        <p:nvSpPr>
          <p:cNvPr id="4" name="text-3"/>
          <p:cNvSpPr txBox="1"/>
          <p:nvPr/>
        </p:nvSpPr>
        <p:spPr>
          <a:xfrm>
            <a:off x="731520" y="3520440"/>
            <a:ext cx="8229600" cy="822960"/>
          </a:xfrm>
          <a:prstGeom prst="rect">
            <a:avLst/>
          </a:prstGeom>
          <a:noFill/>
          <a:ln/>
        </p:spPr>
        <p:txBody>
          <a:bodyPr wrap="square" lIns="0" tIns="0" rIns="0" bIns="0" rtlCol="0" anchor="t"/>
          <a:lstStyle/>
          <a:p>
            <a:pPr algn="l" indent="0" marL="0">
              <a:lnSpc>
                <a:spcPct val="105000"/>
              </a:lnSpc>
              <a:buNone/>
            </a:pPr>
            <a:r>
              <a:rPr lang="en-US" sz="1800" dirty="0">
                <a:solidFill>
                  <a:srgbClr val="33475B"/>
                </a:solidFill>
                <a:latin typeface="Calibri" pitchFamily="34" charset="0"/>
                <a:ea typeface="Calibri" pitchFamily="34" charset="-122"/>
                <a:cs typeface="Calibri" pitchFamily="34" charset="-120"/>
              </a:rPr>
              <a:t>Signed firmware, verified cheapest check first, and a live view of every device, on low-cost microcontrollers.</a:t>
            </a:r>
            <a:endParaRPr lang="en-US" sz="1800" dirty="0"/>
          </a:p>
        </p:txBody>
      </p:sp>
      <p:sp>
        <p:nvSpPr>
          <p:cNvPr id="5" name="card-4"/>
          <p:cNvSpPr/>
          <p:nvPr/>
        </p:nvSpPr>
        <p:spPr>
          <a:xfrm>
            <a:off x="731520" y="4617720"/>
            <a:ext cx="8412480" cy="2148840"/>
          </a:xfrm>
          <a:prstGeom prst="roundRect">
            <a:avLst>
              <a:gd name="adj" fmla="val 5106"/>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6" name="text-5"/>
          <p:cNvSpPr txBox="1"/>
          <p:nvPr/>
        </p:nvSpPr>
        <p:spPr>
          <a:xfrm>
            <a:off x="1051560" y="4846320"/>
            <a:ext cx="3657600" cy="274320"/>
          </a:xfrm>
          <a:prstGeom prst="rect">
            <a:avLst/>
          </a:prstGeom>
          <a:noFill/>
          <a:ln/>
        </p:spPr>
        <p:txBody>
          <a:bodyPr wrap="square" lIns="0" tIns="0" rIns="0" bIns="0" rtlCol="0" anchor="t"/>
          <a:lstStyle/>
          <a:p>
            <a:pPr algn="l" indent="0" marL="0">
              <a:lnSpc>
                <a:spcPct val="100000"/>
              </a:lnSpc>
              <a:buNone/>
            </a:pPr>
            <a:r>
              <a:rPr lang="en-US" sz="1100" b="1" dirty="0">
                <a:solidFill>
                  <a:srgbClr val="0E7490"/>
                </a:solidFill>
                <a:latin typeface="Calibri" pitchFamily="34" charset="0"/>
                <a:ea typeface="Calibri" pitchFamily="34" charset="-122"/>
                <a:cs typeface="Calibri" pitchFamily="34" charset="-120"/>
              </a:rPr>
              <a:t>PRESENTED BY</a:t>
            </a:r>
            <a:endParaRPr lang="en-US" sz="1100" dirty="0"/>
          </a:p>
        </p:txBody>
      </p:sp>
      <p:sp>
        <p:nvSpPr>
          <p:cNvPr id="7" name="text-6"/>
          <p:cNvSpPr txBox="1"/>
          <p:nvPr/>
        </p:nvSpPr>
        <p:spPr>
          <a:xfrm>
            <a:off x="1051560" y="5230368"/>
            <a:ext cx="4206240" cy="411480"/>
          </a:xfrm>
          <a:prstGeom prst="rect">
            <a:avLst/>
          </a:prstGeom>
          <a:noFill/>
          <a:ln/>
        </p:spPr>
        <p:txBody>
          <a:bodyPr wrap="square" lIns="0" tIns="0" rIns="0" bIns="0" rtlCol="0" anchor="ctr"/>
          <a:lstStyle/>
          <a:p>
            <a:pPr algn="l" indent="0" marL="0">
              <a:lnSpc>
                <a:spcPct val="105000"/>
              </a:lnSpc>
              <a:buNone/>
            </a:pPr>
            <a:r>
              <a:rPr lang="en-US" sz="1800" b="1" dirty="0">
                <a:solidFill>
                  <a:srgbClr val="0D1B2A"/>
                </a:solidFill>
                <a:latin typeface="Calibri" pitchFamily="34" charset="0"/>
                <a:ea typeface="Calibri" pitchFamily="34" charset="-122"/>
                <a:cs typeface="Calibri" pitchFamily="34" charset="-120"/>
              </a:rPr>
              <a:t>Priyankaa Devi S</a:t>
            </a:r>
            <a:endParaRPr lang="en-US" sz="1800" dirty="0"/>
          </a:p>
        </p:txBody>
      </p:sp>
      <p:sp>
        <p:nvSpPr>
          <p:cNvPr id="8" name="text-7"/>
          <p:cNvSpPr txBox="1"/>
          <p:nvPr/>
        </p:nvSpPr>
        <p:spPr>
          <a:xfrm>
            <a:off x="5303520" y="5230368"/>
            <a:ext cx="3474720" cy="411480"/>
          </a:xfrm>
          <a:prstGeom prst="rect">
            <a:avLst/>
          </a:prstGeom>
          <a:noFill/>
          <a:ln/>
        </p:spPr>
        <p:txBody>
          <a:bodyPr wrap="square" lIns="0" tIns="0" rIns="0" bIns="0" rtlCol="0" anchor="ctr"/>
          <a:lstStyle/>
          <a:p>
            <a:pPr algn="l" indent="0" marL="0">
              <a:lnSpc>
                <a:spcPct val="105000"/>
              </a:lnSpc>
              <a:buNone/>
            </a:pPr>
            <a:r>
              <a:rPr lang="en-US" sz="1600" dirty="0">
                <a:solidFill>
                  <a:srgbClr val="6B7D91"/>
                </a:solidFill>
                <a:latin typeface="Calibri" pitchFamily="34" charset="0"/>
                <a:ea typeface="Calibri" pitchFamily="34" charset="-122"/>
                <a:cs typeface="Calibri" pitchFamily="34" charset="-120"/>
              </a:rPr>
              <a:t>9123128034</a:t>
            </a:r>
            <a:endParaRPr lang="en-US" sz="1600" dirty="0"/>
          </a:p>
        </p:txBody>
      </p:sp>
      <p:sp>
        <p:nvSpPr>
          <p:cNvPr id="9" name="text-8"/>
          <p:cNvSpPr txBox="1"/>
          <p:nvPr/>
        </p:nvSpPr>
        <p:spPr>
          <a:xfrm>
            <a:off x="1051560" y="5687568"/>
            <a:ext cx="4206240" cy="411480"/>
          </a:xfrm>
          <a:prstGeom prst="rect">
            <a:avLst/>
          </a:prstGeom>
          <a:noFill/>
          <a:ln/>
        </p:spPr>
        <p:txBody>
          <a:bodyPr wrap="square" lIns="0" tIns="0" rIns="0" bIns="0" rtlCol="0" anchor="ctr"/>
          <a:lstStyle/>
          <a:p>
            <a:pPr algn="l" indent="0" marL="0">
              <a:lnSpc>
                <a:spcPct val="105000"/>
              </a:lnSpc>
              <a:buNone/>
            </a:pPr>
            <a:r>
              <a:rPr lang="en-US" sz="1800" b="1" dirty="0">
                <a:solidFill>
                  <a:srgbClr val="0D1B2A"/>
                </a:solidFill>
                <a:latin typeface="Calibri" pitchFamily="34" charset="0"/>
                <a:ea typeface="Calibri" pitchFamily="34" charset="-122"/>
                <a:cs typeface="Calibri" pitchFamily="34" charset="-120"/>
              </a:rPr>
              <a:t>Rithik Sharma A</a:t>
            </a:r>
            <a:endParaRPr lang="en-US" sz="1800" dirty="0"/>
          </a:p>
        </p:txBody>
      </p:sp>
      <p:sp>
        <p:nvSpPr>
          <p:cNvPr id="10" name="text-9"/>
          <p:cNvSpPr txBox="1"/>
          <p:nvPr/>
        </p:nvSpPr>
        <p:spPr>
          <a:xfrm>
            <a:off x="5303520" y="5687568"/>
            <a:ext cx="3474720" cy="411480"/>
          </a:xfrm>
          <a:prstGeom prst="rect">
            <a:avLst/>
          </a:prstGeom>
          <a:noFill/>
          <a:ln/>
        </p:spPr>
        <p:txBody>
          <a:bodyPr wrap="square" lIns="0" tIns="0" rIns="0" bIns="0" rtlCol="0" anchor="ctr"/>
          <a:lstStyle/>
          <a:p>
            <a:pPr algn="l" indent="0" marL="0">
              <a:lnSpc>
                <a:spcPct val="105000"/>
              </a:lnSpc>
              <a:buNone/>
            </a:pPr>
            <a:r>
              <a:rPr lang="en-US" sz="1600" dirty="0">
                <a:solidFill>
                  <a:srgbClr val="6B7D91"/>
                </a:solidFill>
                <a:latin typeface="Calibri" pitchFamily="34" charset="0"/>
                <a:ea typeface="Calibri" pitchFamily="34" charset="-122"/>
                <a:cs typeface="Calibri" pitchFamily="34" charset="-120"/>
              </a:rPr>
              <a:t>9123128040</a:t>
            </a:r>
            <a:endParaRPr lang="en-US" sz="1600" dirty="0"/>
          </a:p>
        </p:txBody>
      </p:sp>
      <p:sp>
        <p:nvSpPr>
          <p:cNvPr id="11" name="text-10"/>
          <p:cNvSpPr txBox="1"/>
          <p:nvPr/>
        </p:nvSpPr>
        <p:spPr>
          <a:xfrm>
            <a:off x="1051560" y="6144768"/>
            <a:ext cx="4206240" cy="411480"/>
          </a:xfrm>
          <a:prstGeom prst="rect">
            <a:avLst/>
          </a:prstGeom>
          <a:noFill/>
          <a:ln/>
        </p:spPr>
        <p:txBody>
          <a:bodyPr wrap="square" lIns="0" tIns="0" rIns="0" bIns="0" rtlCol="0" anchor="ctr"/>
          <a:lstStyle/>
          <a:p>
            <a:pPr algn="l" indent="0" marL="0">
              <a:lnSpc>
                <a:spcPct val="105000"/>
              </a:lnSpc>
              <a:buNone/>
            </a:pPr>
            <a:r>
              <a:rPr lang="en-US" sz="1800" b="1" dirty="0">
                <a:solidFill>
                  <a:srgbClr val="0D1B2A"/>
                </a:solidFill>
                <a:latin typeface="Calibri" pitchFamily="34" charset="0"/>
                <a:ea typeface="Calibri" pitchFamily="34" charset="-122"/>
                <a:cs typeface="Calibri" pitchFamily="34" charset="-120"/>
              </a:rPr>
              <a:t>Ritesh V</a:t>
            </a:r>
            <a:endParaRPr lang="en-US" sz="1800" dirty="0"/>
          </a:p>
        </p:txBody>
      </p:sp>
      <p:sp>
        <p:nvSpPr>
          <p:cNvPr id="12" name="text-11"/>
          <p:cNvSpPr txBox="1"/>
          <p:nvPr/>
        </p:nvSpPr>
        <p:spPr>
          <a:xfrm>
            <a:off x="5303520" y="6144768"/>
            <a:ext cx="3474720" cy="411480"/>
          </a:xfrm>
          <a:prstGeom prst="rect">
            <a:avLst/>
          </a:prstGeom>
          <a:noFill/>
          <a:ln/>
        </p:spPr>
        <p:txBody>
          <a:bodyPr wrap="square" lIns="0" tIns="0" rIns="0" bIns="0" rtlCol="0" anchor="ctr"/>
          <a:lstStyle/>
          <a:p>
            <a:pPr algn="l" indent="0" marL="0">
              <a:lnSpc>
                <a:spcPct val="105000"/>
              </a:lnSpc>
              <a:buNone/>
            </a:pPr>
            <a:r>
              <a:rPr lang="en-US" sz="1600" dirty="0">
                <a:solidFill>
                  <a:srgbClr val="6B7D91"/>
                </a:solidFill>
                <a:latin typeface="Calibri" pitchFamily="34" charset="0"/>
                <a:ea typeface="Calibri" pitchFamily="34" charset="-122"/>
                <a:cs typeface="Calibri" pitchFamily="34" charset="-120"/>
              </a:rPr>
              <a:t>9123128039</a:t>
            </a:r>
            <a:endParaRPr lang="en-US" sz="1600" dirty="0"/>
          </a:p>
        </p:txBody>
      </p:sp>
      <p:sp>
        <p:nvSpPr>
          <p:cNvPr id="13" name="card-12"/>
          <p:cNvSpPr/>
          <p:nvPr/>
        </p:nvSpPr>
        <p:spPr>
          <a:xfrm>
            <a:off x="731520" y="6995160"/>
            <a:ext cx="4069080" cy="1234440"/>
          </a:xfrm>
          <a:prstGeom prst="roundRect">
            <a:avLst>
              <a:gd name="adj" fmla="val 8889"/>
            </a:avLst>
          </a:prstGeom>
          <a:solidFill>
            <a:srgbClr val="F3F6F9"/>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14" name="text-13"/>
          <p:cNvSpPr txBox="1"/>
          <p:nvPr/>
        </p:nvSpPr>
        <p:spPr>
          <a:xfrm>
            <a:off x="1005840" y="7178040"/>
            <a:ext cx="3657600" cy="274320"/>
          </a:xfrm>
          <a:prstGeom prst="rect">
            <a:avLst/>
          </a:prstGeom>
          <a:noFill/>
          <a:ln/>
        </p:spPr>
        <p:txBody>
          <a:bodyPr wrap="square" lIns="0" tIns="0" rIns="0" bIns="0" rtlCol="0" anchor="t"/>
          <a:lstStyle/>
          <a:p>
            <a:pPr algn="l" indent="0" marL="0">
              <a:lnSpc>
                <a:spcPct val="100000"/>
              </a:lnSpc>
              <a:buNone/>
            </a:pPr>
            <a:r>
              <a:rPr lang="en-US" sz="1100" b="1" dirty="0">
                <a:solidFill>
                  <a:srgbClr val="6B7D91"/>
                </a:solidFill>
                <a:latin typeface="Calibri" pitchFamily="34" charset="0"/>
                <a:ea typeface="Calibri" pitchFamily="34" charset="-122"/>
                <a:cs typeface="Calibri" pitchFamily="34" charset="-120"/>
              </a:rPr>
              <a:t>SUPERVISOR</a:t>
            </a:r>
            <a:endParaRPr lang="en-US" sz="1100" dirty="0"/>
          </a:p>
        </p:txBody>
      </p:sp>
      <p:sp>
        <p:nvSpPr>
          <p:cNvPr id="15" name="text-14"/>
          <p:cNvSpPr txBox="1"/>
          <p:nvPr/>
        </p:nvSpPr>
        <p:spPr>
          <a:xfrm>
            <a:off x="1005840" y="7543800"/>
            <a:ext cx="3657600" cy="457200"/>
          </a:xfrm>
          <a:prstGeom prst="rect">
            <a:avLst/>
          </a:prstGeom>
          <a:noFill/>
          <a:ln/>
        </p:spPr>
        <p:txBody>
          <a:bodyPr wrap="square" lIns="0" tIns="0" rIns="0" bIns="0" rtlCol="0" anchor="t"/>
          <a:lstStyle/>
          <a:p>
            <a:pPr algn="l" indent="0" marL="0">
              <a:lnSpc>
                <a:spcPct val="105000"/>
              </a:lnSpc>
              <a:buNone/>
            </a:pPr>
            <a:r>
              <a:rPr lang="en-US" sz="1700" b="1" dirty="0">
                <a:solidFill>
                  <a:srgbClr val="0D1B2A"/>
                </a:solidFill>
                <a:latin typeface="Calibri" pitchFamily="34" charset="0"/>
                <a:ea typeface="Calibri" pitchFamily="34" charset="-122"/>
                <a:cs typeface="Calibri" pitchFamily="34" charset="-120"/>
              </a:rPr>
              <a:t>[Supervisor name]</a:t>
            </a:r>
            <a:endParaRPr lang="en-US" sz="1700" dirty="0"/>
          </a:p>
        </p:txBody>
      </p:sp>
      <p:sp>
        <p:nvSpPr>
          <p:cNvPr id="16" name="card-15"/>
          <p:cNvSpPr/>
          <p:nvPr/>
        </p:nvSpPr>
        <p:spPr>
          <a:xfrm>
            <a:off x="5074920" y="6995160"/>
            <a:ext cx="4069080" cy="1234440"/>
          </a:xfrm>
          <a:prstGeom prst="roundRect">
            <a:avLst>
              <a:gd name="adj" fmla="val 8889"/>
            </a:avLst>
          </a:prstGeom>
          <a:solidFill>
            <a:srgbClr val="F3F6F9"/>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17" name="text-16"/>
          <p:cNvSpPr txBox="1"/>
          <p:nvPr/>
        </p:nvSpPr>
        <p:spPr>
          <a:xfrm>
            <a:off x="5349240" y="7178040"/>
            <a:ext cx="3657600" cy="274320"/>
          </a:xfrm>
          <a:prstGeom prst="rect">
            <a:avLst/>
          </a:prstGeom>
          <a:noFill/>
          <a:ln/>
        </p:spPr>
        <p:txBody>
          <a:bodyPr wrap="square" lIns="0" tIns="0" rIns="0" bIns="0" rtlCol="0" anchor="t"/>
          <a:lstStyle/>
          <a:p>
            <a:pPr algn="l" indent="0" marL="0">
              <a:lnSpc>
                <a:spcPct val="100000"/>
              </a:lnSpc>
              <a:buNone/>
            </a:pPr>
            <a:r>
              <a:rPr lang="en-US" sz="1100" b="1" dirty="0">
                <a:solidFill>
                  <a:srgbClr val="6B7D91"/>
                </a:solidFill>
                <a:latin typeface="Calibri" pitchFamily="34" charset="0"/>
                <a:ea typeface="Calibri" pitchFamily="34" charset="-122"/>
                <a:cs typeface="Calibri" pitchFamily="34" charset="-120"/>
              </a:rPr>
              <a:t>PROJECT COORDINATOR</a:t>
            </a:r>
            <a:endParaRPr lang="en-US" sz="1100" dirty="0"/>
          </a:p>
        </p:txBody>
      </p:sp>
      <p:sp>
        <p:nvSpPr>
          <p:cNvPr id="18" name="text-17"/>
          <p:cNvSpPr txBox="1"/>
          <p:nvPr/>
        </p:nvSpPr>
        <p:spPr>
          <a:xfrm>
            <a:off x="5349240" y="7543800"/>
            <a:ext cx="3657600" cy="457200"/>
          </a:xfrm>
          <a:prstGeom prst="rect">
            <a:avLst/>
          </a:prstGeom>
          <a:noFill/>
          <a:ln/>
        </p:spPr>
        <p:txBody>
          <a:bodyPr wrap="square" lIns="0" tIns="0" rIns="0" bIns="0" rtlCol="0" anchor="t"/>
          <a:lstStyle/>
          <a:p>
            <a:pPr algn="l" indent="0" marL="0">
              <a:lnSpc>
                <a:spcPct val="105000"/>
              </a:lnSpc>
              <a:buNone/>
            </a:pPr>
            <a:r>
              <a:rPr lang="en-US" sz="1700" b="1" dirty="0">
                <a:solidFill>
                  <a:srgbClr val="0D1B2A"/>
                </a:solidFill>
                <a:latin typeface="Calibri" pitchFamily="34" charset="0"/>
                <a:ea typeface="Calibri" pitchFamily="34" charset="-122"/>
                <a:cs typeface="Calibri" pitchFamily="34" charset="-120"/>
              </a:rPr>
              <a:t>[Project coordinator name]</a:t>
            </a:r>
            <a:endParaRPr lang="en-US" sz="1700" dirty="0"/>
          </a:p>
        </p:txBody>
      </p:sp>
      <p:sp>
        <p:nvSpPr>
          <p:cNvPr id="19" name="card-18"/>
          <p:cNvSpPr/>
          <p:nvPr/>
        </p:nvSpPr>
        <p:spPr>
          <a:xfrm>
            <a:off x="10241280" y="914400"/>
            <a:ext cx="5303520" cy="7315200"/>
          </a:xfrm>
          <a:prstGeom prst="roundRect">
            <a:avLst>
              <a:gd name="adj" fmla="val 2069"/>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20" name="text-19"/>
          <p:cNvSpPr txBox="1"/>
          <p:nvPr/>
        </p:nvSpPr>
        <p:spPr>
          <a:xfrm>
            <a:off x="10607040" y="1188720"/>
            <a:ext cx="4572000" cy="274320"/>
          </a:xfrm>
          <a:prstGeom prst="rect">
            <a:avLst/>
          </a:prstGeom>
          <a:noFill/>
          <a:ln/>
        </p:spPr>
        <p:txBody>
          <a:bodyPr wrap="square" lIns="0" tIns="0" rIns="0" bIns="0" rtlCol="0" anchor="t"/>
          <a:lstStyle/>
          <a:p>
            <a:pPr algn="l" indent="0" marL="0">
              <a:lnSpc>
                <a:spcPct val="100000"/>
              </a:lnSpc>
              <a:buNone/>
            </a:pPr>
            <a:r>
              <a:rPr lang="en-US" sz="1100" b="1" dirty="0">
                <a:solidFill>
                  <a:srgbClr val="0E7490"/>
                </a:solidFill>
                <a:latin typeface="Calibri" pitchFamily="34" charset="0"/>
                <a:ea typeface="Calibri" pitchFamily="34" charset="-122"/>
                <a:cs typeface="Calibri" pitchFamily="34" charset="-120"/>
              </a:rPr>
              <a:t>HOW AN UPDATE TRAVELS</a:t>
            </a:r>
            <a:endParaRPr lang="en-US" sz="1100" dirty="0"/>
          </a:p>
        </p:txBody>
      </p:sp>
      <p:sp>
        <p:nvSpPr>
          <p:cNvPr id="21" name="iconbg-20"/>
          <p:cNvSpPr/>
          <p:nvPr/>
        </p:nvSpPr>
        <p:spPr>
          <a:xfrm>
            <a:off x="10607040" y="1737360"/>
            <a:ext cx="914400" cy="914400"/>
          </a:xfrm>
          <a:prstGeom prst="ellipse">
            <a:avLst/>
          </a:prstGeom>
          <a:solidFill>
            <a:srgbClr val="E8F3F6"/>
          </a:solidFill>
          <a:ln w="15875">
            <a:solidFill>
              <a:srgbClr val="0E7490"/>
            </a:solidFill>
            <a:prstDash val="solid"/>
          </a:ln>
        </p:spPr>
      </p:sp>
      <p:pic>
        <p:nvPicPr>
          <p:cNvPr id="22" name="icon-21" descr="preencoded.png">    </p:cNvPr>
          <p:cNvPicPr>
            <a:picLocks noChangeAspect="1"/>
          </p:cNvPicPr>
          <p:nvPr/>
        </p:nvPicPr>
        <p:blipFill>
          <a:blip r:embed="rId1"/>
          <a:stretch>
            <a:fillRect/>
          </a:stretch>
        </p:blipFill>
        <p:spPr>
          <a:xfrm>
            <a:off x="10844784" y="1975104"/>
            <a:ext cx="438912" cy="438912"/>
          </a:xfrm>
          <a:prstGeom prst="rect">
            <a:avLst/>
          </a:prstGeom>
        </p:spPr>
      </p:pic>
      <p:sp>
        <p:nvSpPr>
          <p:cNvPr id="23" name="text-22"/>
          <p:cNvSpPr txBox="1"/>
          <p:nvPr/>
        </p:nvSpPr>
        <p:spPr>
          <a:xfrm>
            <a:off x="11750040" y="1755648"/>
            <a:ext cx="3474720" cy="411480"/>
          </a:xfrm>
          <a:prstGeom prst="rect">
            <a:avLst/>
          </a:prstGeom>
          <a:noFill/>
          <a:ln/>
        </p:spPr>
        <p:txBody>
          <a:bodyPr wrap="square" lIns="0" tIns="0" rIns="0" bIns="0" rtlCol="0" anchor="t"/>
          <a:lstStyle/>
          <a:p>
            <a:pPr algn="l" indent="0" marL="0">
              <a:lnSpc>
                <a:spcPct val="105000"/>
              </a:lnSpc>
              <a:buNone/>
            </a:pPr>
            <a:r>
              <a:rPr lang="en-US" sz="1800" b="1" dirty="0">
                <a:solidFill>
                  <a:srgbClr val="0D1B2A"/>
                </a:solidFill>
                <a:latin typeface="Cambria" pitchFamily="34" charset="0"/>
                <a:ea typeface="Cambria" pitchFamily="34" charset="-122"/>
                <a:cs typeface="Cambria" pitchFamily="34" charset="-120"/>
              </a:rPr>
              <a:t>Build and sign</a:t>
            </a:r>
            <a:endParaRPr lang="en-US" sz="1800" dirty="0"/>
          </a:p>
        </p:txBody>
      </p:sp>
      <p:sp>
        <p:nvSpPr>
          <p:cNvPr id="24" name="text-23"/>
          <p:cNvSpPr txBox="1"/>
          <p:nvPr/>
        </p:nvSpPr>
        <p:spPr>
          <a:xfrm>
            <a:off x="11750040" y="2176272"/>
            <a:ext cx="3474720" cy="777240"/>
          </a:xfrm>
          <a:prstGeom prst="rect">
            <a:avLst/>
          </a:prstGeom>
          <a:noFill/>
          <a:ln/>
        </p:spPr>
        <p:txBody>
          <a:bodyPr wrap="square" lIns="0" tIns="0" rIns="0" bIns="0" rtlCol="0" anchor="t"/>
          <a:lstStyle/>
          <a:p>
            <a:pPr algn="l" indent="0" marL="0">
              <a:lnSpc>
                <a:spcPct val="105000"/>
              </a:lnSpc>
              <a:buNone/>
            </a:pPr>
            <a:r>
              <a:rPr lang="en-US" sz="1400" dirty="0">
                <a:solidFill>
                  <a:srgbClr val="33475B"/>
                </a:solidFill>
                <a:latin typeface="Calibri" pitchFamily="34" charset="0"/>
                <a:ea typeface="Calibri" pitchFamily="34" charset="-122"/>
                <a:cs typeface="Calibri" pitchFamily="34" charset="-120"/>
              </a:rPr>
              <a:t>Version tag starts the CI build; SHA-256 digest is signed</a:t>
            </a:r>
            <a:endParaRPr lang="en-US" sz="1400" dirty="0"/>
          </a:p>
        </p:txBody>
      </p:sp>
      <p:sp>
        <p:nvSpPr>
          <p:cNvPr id="25" name="arrow-24"/>
          <p:cNvSpPr/>
          <p:nvPr/>
        </p:nvSpPr>
        <p:spPr>
          <a:xfrm>
            <a:off x="11064240" y="2724912"/>
            <a:ext cx="914" cy="548640"/>
          </a:xfrm>
          <a:prstGeom prst="line">
            <a:avLst/>
          </a:prstGeom>
          <a:noFill/>
          <a:ln w="25400">
            <a:solidFill>
              <a:srgbClr val="C9D4DE"/>
            </a:solidFill>
            <a:prstDash val="solid"/>
            <a:tailEnd type="triangle"/>
          </a:ln>
        </p:spPr>
      </p:sp>
      <p:sp>
        <p:nvSpPr>
          <p:cNvPr id="26" name="iconbg-25"/>
          <p:cNvSpPr/>
          <p:nvPr/>
        </p:nvSpPr>
        <p:spPr>
          <a:xfrm>
            <a:off x="10607040" y="3337560"/>
            <a:ext cx="914400" cy="914400"/>
          </a:xfrm>
          <a:prstGeom prst="ellipse">
            <a:avLst/>
          </a:prstGeom>
          <a:solidFill>
            <a:srgbClr val="FBF4E6"/>
          </a:solidFill>
          <a:ln w="15875">
            <a:solidFill>
              <a:srgbClr val="96650A"/>
            </a:solidFill>
            <a:prstDash val="solid"/>
          </a:ln>
        </p:spPr>
      </p:sp>
      <p:pic>
        <p:nvPicPr>
          <p:cNvPr id="27" name="icon-26" descr="preencoded.png">    </p:cNvPr>
          <p:cNvPicPr>
            <a:picLocks noChangeAspect="1"/>
          </p:cNvPicPr>
          <p:nvPr/>
        </p:nvPicPr>
        <p:blipFill>
          <a:blip r:embed="rId2"/>
          <a:stretch>
            <a:fillRect/>
          </a:stretch>
        </p:blipFill>
        <p:spPr>
          <a:xfrm>
            <a:off x="10844784" y="3575304"/>
            <a:ext cx="438912" cy="438912"/>
          </a:xfrm>
          <a:prstGeom prst="rect">
            <a:avLst/>
          </a:prstGeom>
        </p:spPr>
      </p:pic>
      <p:sp>
        <p:nvSpPr>
          <p:cNvPr id="28" name="text-27"/>
          <p:cNvSpPr txBox="1"/>
          <p:nvPr/>
        </p:nvSpPr>
        <p:spPr>
          <a:xfrm>
            <a:off x="11750040" y="3355848"/>
            <a:ext cx="3474720" cy="411480"/>
          </a:xfrm>
          <a:prstGeom prst="rect">
            <a:avLst/>
          </a:prstGeom>
          <a:noFill/>
          <a:ln/>
        </p:spPr>
        <p:txBody>
          <a:bodyPr wrap="square" lIns="0" tIns="0" rIns="0" bIns="0" rtlCol="0" anchor="t"/>
          <a:lstStyle/>
          <a:p>
            <a:pPr algn="l" indent="0" marL="0">
              <a:lnSpc>
                <a:spcPct val="105000"/>
              </a:lnSpc>
              <a:buNone/>
            </a:pPr>
            <a:r>
              <a:rPr lang="en-US" sz="1800" b="1" dirty="0">
                <a:solidFill>
                  <a:srgbClr val="0D1B2A"/>
                </a:solidFill>
                <a:latin typeface="Cambria" pitchFamily="34" charset="0"/>
                <a:ea typeface="Cambria" pitchFamily="34" charset="-122"/>
                <a:cs typeface="Cambria" pitchFamily="34" charset="-120"/>
              </a:rPr>
              <a:t>Publish and deliver</a:t>
            </a:r>
            <a:endParaRPr lang="en-US" sz="1800" dirty="0"/>
          </a:p>
        </p:txBody>
      </p:sp>
      <p:sp>
        <p:nvSpPr>
          <p:cNvPr id="29" name="text-28"/>
          <p:cNvSpPr txBox="1"/>
          <p:nvPr/>
        </p:nvSpPr>
        <p:spPr>
          <a:xfrm>
            <a:off x="11750040" y="3776472"/>
            <a:ext cx="3474720" cy="777240"/>
          </a:xfrm>
          <a:prstGeom prst="rect">
            <a:avLst/>
          </a:prstGeom>
          <a:noFill/>
          <a:ln/>
        </p:spPr>
        <p:txBody>
          <a:bodyPr wrap="square" lIns="0" tIns="0" rIns="0" bIns="0" rtlCol="0" anchor="t"/>
          <a:lstStyle/>
          <a:p>
            <a:pPr algn="l" indent="0" marL="0">
              <a:lnSpc>
                <a:spcPct val="105000"/>
              </a:lnSpc>
              <a:buNone/>
            </a:pPr>
            <a:r>
              <a:rPr lang="en-US" sz="1400" dirty="0">
                <a:solidFill>
                  <a:srgbClr val="33475B"/>
                </a:solidFill>
                <a:latin typeface="Calibri" pitchFamily="34" charset="0"/>
                <a:ea typeface="Calibri" pitchFamily="34" charset="-122"/>
                <a:cs typeface="Calibri" pitchFamily="34" charset="-120"/>
              </a:rPr>
              <a:t>Signed bundle and manifest reach devices over HTTPS</a:t>
            </a:r>
            <a:endParaRPr lang="en-US" sz="1400" dirty="0"/>
          </a:p>
        </p:txBody>
      </p:sp>
      <p:sp>
        <p:nvSpPr>
          <p:cNvPr id="30" name="arrow-29"/>
          <p:cNvSpPr/>
          <p:nvPr/>
        </p:nvSpPr>
        <p:spPr>
          <a:xfrm>
            <a:off x="11064240" y="4325112"/>
            <a:ext cx="914" cy="548640"/>
          </a:xfrm>
          <a:prstGeom prst="line">
            <a:avLst/>
          </a:prstGeom>
          <a:noFill/>
          <a:ln w="25400">
            <a:solidFill>
              <a:srgbClr val="C9D4DE"/>
            </a:solidFill>
            <a:prstDash val="solid"/>
            <a:tailEnd type="triangle"/>
          </a:ln>
        </p:spPr>
      </p:sp>
      <p:sp>
        <p:nvSpPr>
          <p:cNvPr id="31" name="iconbg-30"/>
          <p:cNvSpPr/>
          <p:nvPr/>
        </p:nvSpPr>
        <p:spPr>
          <a:xfrm>
            <a:off x="10607040" y="4937760"/>
            <a:ext cx="914400" cy="914400"/>
          </a:xfrm>
          <a:prstGeom prst="ellipse">
            <a:avLst/>
          </a:prstGeom>
          <a:solidFill>
            <a:srgbClr val="E8F5EF"/>
          </a:solidFill>
          <a:ln w="15875">
            <a:solidFill>
              <a:srgbClr val="067A55"/>
            </a:solidFill>
            <a:prstDash val="solid"/>
          </a:ln>
        </p:spPr>
      </p:sp>
      <p:pic>
        <p:nvPicPr>
          <p:cNvPr id="32" name="icon-31" descr="preencoded.png">    </p:cNvPr>
          <p:cNvPicPr>
            <a:picLocks noChangeAspect="1"/>
          </p:cNvPicPr>
          <p:nvPr/>
        </p:nvPicPr>
        <p:blipFill>
          <a:blip r:embed="rId3"/>
          <a:stretch>
            <a:fillRect/>
          </a:stretch>
        </p:blipFill>
        <p:spPr>
          <a:xfrm>
            <a:off x="10844784" y="5175504"/>
            <a:ext cx="438912" cy="438912"/>
          </a:xfrm>
          <a:prstGeom prst="rect">
            <a:avLst/>
          </a:prstGeom>
        </p:spPr>
      </p:pic>
      <p:sp>
        <p:nvSpPr>
          <p:cNvPr id="33" name="text-32"/>
          <p:cNvSpPr txBox="1"/>
          <p:nvPr/>
        </p:nvSpPr>
        <p:spPr>
          <a:xfrm>
            <a:off x="11750040" y="4956048"/>
            <a:ext cx="3474720" cy="411480"/>
          </a:xfrm>
          <a:prstGeom prst="rect">
            <a:avLst/>
          </a:prstGeom>
          <a:noFill/>
          <a:ln/>
        </p:spPr>
        <p:txBody>
          <a:bodyPr wrap="square" lIns="0" tIns="0" rIns="0" bIns="0" rtlCol="0" anchor="t"/>
          <a:lstStyle/>
          <a:p>
            <a:pPr algn="l" indent="0" marL="0">
              <a:lnSpc>
                <a:spcPct val="105000"/>
              </a:lnSpc>
              <a:buNone/>
            </a:pPr>
            <a:r>
              <a:rPr lang="en-US" sz="1800" b="1" dirty="0">
                <a:solidFill>
                  <a:srgbClr val="0D1B2A"/>
                </a:solidFill>
                <a:latin typeface="Cambria" pitchFamily="34" charset="0"/>
                <a:ea typeface="Cambria" pitchFamily="34" charset="-122"/>
                <a:cs typeface="Cambria" pitchFamily="34" charset="-120"/>
              </a:rPr>
              <a:t>Verify in five gates</a:t>
            </a:r>
            <a:endParaRPr lang="en-US" sz="1800" dirty="0"/>
          </a:p>
        </p:txBody>
      </p:sp>
      <p:sp>
        <p:nvSpPr>
          <p:cNvPr id="34" name="text-33"/>
          <p:cNvSpPr txBox="1"/>
          <p:nvPr/>
        </p:nvSpPr>
        <p:spPr>
          <a:xfrm>
            <a:off x="11750040" y="5376672"/>
            <a:ext cx="3474720" cy="777240"/>
          </a:xfrm>
          <a:prstGeom prst="rect">
            <a:avLst/>
          </a:prstGeom>
          <a:noFill/>
          <a:ln/>
        </p:spPr>
        <p:txBody>
          <a:bodyPr wrap="square" lIns="0" tIns="0" rIns="0" bIns="0" rtlCol="0" anchor="t"/>
          <a:lstStyle/>
          <a:p>
            <a:pPr algn="l" indent="0" marL="0">
              <a:lnSpc>
                <a:spcPct val="105000"/>
              </a:lnSpc>
              <a:buNone/>
            </a:pPr>
            <a:r>
              <a:rPr lang="en-US" sz="1400" dirty="0">
                <a:solidFill>
                  <a:srgbClr val="33475B"/>
                </a:solidFill>
                <a:latin typeface="Calibri" pitchFamily="34" charset="0"/>
                <a:ea typeface="Calibri" pitchFamily="34" charset="-122"/>
                <a:cs typeface="Calibri" pitchFamily="34" charset="-120"/>
              </a:rPr>
              <a:t>Cheapest checks first; signature check last</a:t>
            </a:r>
            <a:endParaRPr lang="en-US" sz="1400" dirty="0"/>
          </a:p>
        </p:txBody>
      </p:sp>
      <p:sp>
        <p:nvSpPr>
          <p:cNvPr id="35" name="arrow-34"/>
          <p:cNvSpPr/>
          <p:nvPr/>
        </p:nvSpPr>
        <p:spPr>
          <a:xfrm>
            <a:off x="11064240" y="5925312"/>
            <a:ext cx="914" cy="548640"/>
          </a:xfrm>
          <a:prstGeom prst="line">
            <a:avLst/>
          </a:prstGeom>
          <a:noFill/>
          <a:ln w="25400">
            <a:solidFill>
              <a:srgbClr val="C9D4DE"/>
            </a:solidFill>
            <a:prstDash val="solid"/>
            <a:tailEnd type="triangle"/>
          </a:ln>
        </p:spPr>
      </p:sp>
      <p:sp>
        <p:nvSpPr>
          <p:cNvPr id="36" name="iconbg-35"/>
          <p:cNvSpPr/>
          <p:nvPr/>
        </p:nvSpPr>
        <p:spPr>
          <a:xfrm>
            <a:off x="10607040" y="6537960"/>
            <a:ext cx="914400" cy="914400"/>
          </a:xfrm>
          <a:prstGeom prst="ellipse">
            <a:avLst/>
          </a:prstGeom>
          <a:solidFill>
            <a:srgbClr val="FBEDEB"/>
          </a:solidFill>
          <a:ln w="15875">
            <a:solidFill>
              <a:srgbClr val="B4322A"/>
            </a:solidFill>
            <a:prstDash val="solid"/>
          </a:ln>
        </p:spPr>
      </p:sp>
      <p:pic>
        <p:nvPicPr>
          <p:cNvPr id="37" name="icon-36" descr="preencoded.png">    </p:cNvPr>
          <p:cNvPicPr>
            <a:picLocks noChangeAspect="1"/>
          </p:cNvPicPr>
          <p:nvPr/>
        </p:nvPicPr>
        <p:blipFill>
          <a:blip r:embed="rId4"/>
          <a:stretch>
            <a:fillRect/>
          </a:stretch>
        </p:blipFill>
        <p:spPr>
          <a:xfrm>
            <a:off x="10844784" y="6775704"/>
            <a:ext cx="438912" cy="438912"/>
          </a:xfrm>
          <a:prstGeom prst="rect">
            <a:avLst/>
          </a:prstGeom>
        </p:spPr>
      </p:pic>
      <p:sp>
        <p:nvSpPr>
          <p:cNvPr id="38" name="text-37"/>
          <p:cNvSpPr txBox="1"/>
          <p:nvPr/>
        </p:nvSpPr>
        <p:spPr>
          <a:xfrm>
            <a:off x="11750040" y="6556248"/>
            <a:ext cx="3474720" cy="411480"/>
          </a:xfrm>
          <a:prstGeom prst="rect">
            <a:avLst/>
          </a:prstGeom>
          <a:noFill/>
          <a:ln/>
        </p:spPr>
        <p:txBody>
          <a:bodyPr wrap="square" lIns="0" tIns="0" rIns="0" bIns="0" rtlCol="0" anchor="t"/>
          <a:lstStyle/>
          <a:p>
            <a:pPr algn="l" indent="0" marL="0">
              <a:lnSpc>
                <a:spcPct val="105000"/>
              </a:lnSpc>
              <a:buNone/>
            </a:pPr>
            <a:r>
              <a:rPr lang="en-US" sz="1800" b="1" dirty="0">
                <a:solidFill>
                  <a:srgbClr val="0D1B2A"/>
                </a:solidFill>
                <a:latin typeface="Cambria" pitchFamily="34" charset="0"/>
                <a:ea typeface="Cambria" pitchFamily="34" charset="-122"/>
                <a:cs typeface="Cambria" pitchFamily="34" charset="-120"/>
              </a:rPr>
              <a:t>Boot, self-test, report</a:t>
            </a:r>
            <a:endParaRPr lang="en-US" sz="1800" dirty="0"/>
          </a:p>
        </p:txBody>
      </p:sp>
      <p:sp>
        <p:nvSpPr>
          <p:cNvPr id="39" name="text-38"/>
          <p:cNvSpPr txBox="1"/>
          <p:nvPr/>
        </p:nvSpPr>
        <p:spPr>
          <a:xfrm>
            <a:off x="11750040" y="6976872"/>
            <a:ext cx="3474720" cy="777240"/>
          </a:xfrm>
          <a:prstGeom prst="rect">
            <a:avLst/>
          </a:prstGeom>
          <a:noFill/>
          <a:ln/>
        </p:spPr>
        <p:txBody>
          <a:bodyPr wrap="square" lIns="0" tIns="0" rIns="0" bIns="0" rtlCol="0" anchor="t"/>
          <a:lstStyle/>
          <a:p>
            <a:pPr algn="l" indent="0" marL="0">
              <a:lnSpc>
                <a:spcPct val="105000"/>
              </a:lnSpc>
              <a:buNone/>
            </a:pPr>
            <a:r>
              <a:rPr lang="en-US" sz="1400" dirty="0">
                <a:solidFill>
                  <a:srgbClr val="33475B"/>
                </a:solidFill>
                <a:latin typeface="Calibri" pitchFamily="34" charset="0"/>
                <a:ea typeface="Calibri" pitchFamily="34" charset="-122"/>
                <a:cs typeface="Calibri" pitchFamily="34" charset="-120"/>
              </a:rPr>
              <a:t>Commit or roll back; health score and beacon update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Abstract</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What we built and what we measured, in one slide</a:t>
            </a:r>
            <a:endParaRPr lang="en-US" sz="1600" dirty="0"/>
          </a:p>
        </p:txBody>
      </p:sp>
      <p:sp>
        <p:nvSpPr>
          <p:cNvPr id="4" name="card-39"/>
          <p:cNvSpPr/>
          <p:nvPr/>
        </p:nvSpPr>
        <p:spPr>
          <a:xfrm>
            <a:off x="731520" y="1828800"/>
            <a:ext cx="8595360" cy="6309360"/>
          </a:xfrm>
          <a:prstGeom prst="roundRect">
            <a:avLst>
              <a:gd name="adj" fmla="val 1739"/>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5" name="abstract-40"/>
          <p:cNvSpPr txBox="1"/>
          <p:nvPr/>
        </p:nvSpPr>
        <p:spPr>
          <a:xfrm>
            <a:off x="1143000" y="2194560"/>
            <a:ext cx="7772400" cy="4480560"/>
          </a:xfrm>
          <a:prstGeom prst="rect">
            <a:avLst/>
          </a:prstGeom>
          <a:noFill/>
          <a:ln/>
        </p:spPr>
        <p:txBody>
          <a:bodyPr wrap="square" lIns="0" tIns="0" rIns="0" bIns="0" rtlCol="0" anchor="t"/>
          <a:lstStyle/>
          <a:p>
            <a:pPr indent="0" marL="0">
              <a:spcAft>
                <a:spcPts val="1200"/>
              </a:spcAft>
              <a:buNone/>
            </a:pPr>
            <a:r>
              <a:rPr lang="en-US" sz="1900" dirty="0">
                <a:solidFill>
                  <a:srgbClr val="33475B"/>
                </a:solidFill>
                <a:latin typeface="Calibri" pitchFamily="34" charset="0"/>
                <a:ea typeface="Calibri" pitchFamily="34" charset="-122"/>
                <a:cs typeface="Calibri" pitchFamily="34" charset="-120"/>
              </a:rPr>
              <a:t>IoT fleets are hard to secure: devices are out of sight after deployment, and many update paths never check a signature.</a:t>
            </a:r>
            <a:endParaRPr lang="en-US" sz="1900" dirty="0"/>
          </a:p>
          <a:p>
            <a:pPr indent="0" marL="0">
              <a:spcAft>
                <a:spcPts val="1200"/>
              </a:spcAft>
              <a:buNone/>
            </a:pPr>
            <a:r>
              <a:rPr lang="en-US" sz="1900" dirty="0">
                <a:solidFill>
                  <a:srgbClr val="33475B"/>
                </a:solidFill>
                <a:latin typeface="Calibri" pitchFamily="34" charset="0"/>
                <a:ea typeface="Calibri" pitchFamily="34" charset="-122"/>
                <a:cs typeface="Calibri" pitchFamily="34" charset="-120"/>
              </a:rPr>
              <a:t>SecureOTA is a firmware lifecycle framework for ESP32, ESP8266, STM32F103 and ATmega328P devices.</a:t>
            </a:r>
            <a:endParaRPr lang="en-US" sz="1900" dirty="0"/>
          </a:p>
          <a:p>
            <a:pPr indent="0" marL="0">
              <a:spcAft>
                <a:spcPts val="1200"/>
              </a:spcAft>
              <a:buNone/>
            </a:pPr>
            <a:r>
              <a:rPr lang="en-US" sz="1900" dirty="0">
                <a:solidFill>
                  <a:srgbClr val="33475B"/>
                </a:solidFill>
                <a:latin typeface="Calibri" pitchFamily="34" charset="0"/>
                <a:ea typeface="Calibri" pitchFamily="34" charset="-122"/>
                <a:cs typeface="Calibri" pitchFamily="34" charset="-120"/>
              </a:rPr>
              <a:t>Firmware is hashed with SHA-256 and signed with Ed25519 in a GitHub Actions workflow. Device status beacons are encrypted with AES-256-CBC and tagged with HMAC-SHA256 and a persistent counter, so they cannot be forged or replayed.</a:t>
            </a:r>
            <a:endParaRPr lang="en-US" sz="1900" dirty="0"/>
          </a:p>
          <a:p>
            <a:pPr indent="0" marL="0">
              <a:spcAft>
                <a:spcPts val="1200"/>
              </a:spcAft>
              <a:buNone/>
            </a:pPr>
            <a:r>
              <a:rPr lang="en-US" sz="1900" dirty="0">
                <a:solidFill>
                  <a:srgbClr val="33475B"/>
                </a:solidFill>
                <a:latin typeface="Calibri" pitchFamily="34" charset="0"/>
                <a:ea typeface="Calibri" pitchFamily="34" charset="-122"/>
                <a:cs typeface="Calibri" pitchFamily="34" charset="-120"/>
              </a:rPr>
              <a:t>Each update passes five verification gates ordered by cost and rejection probability (Tiered Crypto Verification). A health score quarantines devices that keep failing.</a:t>
            </a:r>
            <a:endParaRPr lang="en-US" sz="1900" dirty="0"/>
          </a:p>
        </p:txBody>
      </p:sp>
      <p:sp>
        <p:nvSpPr>
          <p:cNvPr id="6" name="rule-41"/>
          <p:cNvSpPr/>
          <p:nvPr/>
        </p:nvSpPr>
        <p:spPr>
          <a:xfrm>
            <a:off x="1143000" y="6812280"/>
            <a:ext cx="7772400" cy="0"/>
          </a:xfrm>
          <a:prstGeom prst="line">
            <a:avLst/>
          </a:prstGeom>
          <a:noFill/>
          <a:ln w="12700">
            <a:solidFill>
              <a:srgbClr val="C9D4DE"/>
            </a:solidFill>
            <a:prstDash val="solid"/>
          </a:ln>
        </p:spPr>
      </p:sp>
      <p:sp>
        <p:nvSpPr>
          <p:cNvPr id="7" name="text-42"/>
          <p:cNvSpPr txBox="1"/>
          <p:nvPr/>
        </p:nvSpPr>
        <p:spPr>
          <a:xfrm>
            <a:off x="1143000" y="6995160"/>
            <a:ext cx="3657600" cy="274320"/>
          </a:xfrm>
          <a:prstGeom prst="rect">
            <a:avLst/>
          </a:prstGeom>
          <a:noFill/>
          <a:ln/>
        </p:spPr>
        <p:txBody>
          <a:bodyPr wrap="square" lIns="0" tIns="0" rIns="0" bIns="0" rtlCol="0" anchor="t"/>
          <a:lstStyle/>
          <a:p>
            <a:pPr algn="l" indent="0" marL="0">
              <a:lnSpc>
                <a:spcPct val="100000"/>
              </a:lnSpc>
              <a:buNone/>
            </a:pPr>
            <a:r>
              <a:rPr lang="en-US" sz="1100" b="1" dirty="0">
                <a:solidFill>
                  <a:srgbClr val="0E7490"/>
                </a:solidFill>
                <a:latin typeface="Calibri" pitchFamily="34" charset="0"/>
                <a:ea typeface="Calibri" pitchFamily="34" charset="-122"/>
                <a:cs typeface="Calibri" pitchFamily="34" charset="-120"/>
              </a:rPr>
              <a:t>KEYWORDS</a:t>
            </a:r>
            <a:endParaRPr lang="en-US" sz="1100" dirty="0"/>
          </a:p>
        </p:txBody>
      </p:sp>
      <p:sp>
        <p:nvSpPr>
          <p:cNvPr id="8" name="text-43"/>
          <p:cNvSpPr txBox="1"/>
          <p:nvPr/>
        </p:nvSpPr>
        <p:spPr>
          <a:xfrm>
            <a:off x="1143000" y="7315200"/>
            <a:ext cx="7772400" cy="640080"/>
          </a:xfrm>
          <a:prstGeom prst="rect">
            <a:avLst/>
          </a:prstGeom>
          <a:noFill/>
          <a:ln/>
        </p:spPr>
        <p:txBody>
          <a:bodyPr wrap="square" lIns="0" tIns="0" rIns="0" bIns="0" rtlCol="0" anchor="t"/>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OTA updates  |  Ed25519  |  AES-256-CBC  |  HMAC-SHA256  |  replay protection  |  tiered verification  |  ESP32</a:t>
            </a:r>
            <a:endParaRPr lang="en-US" sz="1500" dirty="0"/>
          </a:p>
        </p:txBody>
      </p:sp>
      <p:sp>
        <p:nvSpPr>
          <p:cNvPr id="9" name="card-44"/>
          <p:cNvSpPr/>
          <p:nvPr/>
        </p:nvSpPr>
        <p:spPr>
          <a:xfrm>
            <a:off x="9692640" y="1828800"/>
            <a:ext cx="2788920" cy="2926080"/>
          </a:xfrm>
          <a:prstGeom prst="roundRect">
            <a:avLst>
              <a:gd name="adj" fmla="val 3934"/>
            </a:avLst>
          </a:prstGeom>
          <a:solidFill>
            <a:srgbClr val="E8F5EF"/>
          </a:solidFill>
          <a:ln w="15875">
            <a:solidFill>
              <a:srgbClr val="067A55"/>
            </a:solidFill>
            <a:prstDash val="solid"/>
          </a:ln>
          <a:effectLst>
            <a:outerShdw sx="100000" sy="100000" kx="0" ky="0" algn="bl" rotWithShape="0" blurRad="76200" dist="25400" dir="5400000">
              <a:srgbClr val="9AAEC2">
                <a:alpha val="18000"/>
              </a:srgbClr>
            </a:outerShdw>
          </a:effectLst>
        </p:spPr>
      </p:sp>
      <p:sp>
        <p:nvSpPr>
          <p:cNvPr id="10" name="text-45"/>
          <p:cNvSpPr txBox="1"/>
          <p:nvPr/>
        </p:nvSpPr>
        <p:spPr>
          <a:xfrm>
            <a:off x="9966960" y="2148840"/>
            <a:ext cx="2286000" cy="914400"/>
          </a:xfrm>
          <a:prstGeom prst="rect">
            <a:avLst/>
          </a:prstGeom>
          <a:noFill/>
          <a:ln/>
        </p:spPr>
        <p:txBody>
          <a:bodyPr wrap="square" lIns="0" tIns="0" rIns="0" bIns="0" rtlCol="0" anchor="t"/>
          <a:lstStyle/>
          <a:p>
            <a:pPr algn="l" indent="0" marL="0">
              <a:lnSpc>
                <a:spcPct val="105000"/>
              </a:lnSpc>
              <a:buNone/>
            </a:pPr>
            <a:r>
              <a:rPr lang="en-US" sz="3600" b="1" dirty="0">
                <a:solidFill>
                  <a:srgbClr val="067A55"/>
                </a:solidFill>
                <a:latin typeface="Cambria" pitchFamily="34" charset="0"/>
                <a:ea typeface="Cambria" pitchFamily="34" charset="-122"/>
                <a:cs typeface="Cambria" pitchFamily="34" charset="-120"/>
              </a:rPr>
              <a:t>86.7%</a:t>
            </a:r>
            <a:endParaRPr lang="en-US" sz="3600" dirty="0"/>
          </a:p>
        </p:txBody>
      </p:sp>
      <p:sp>
        <p:nvSpPr>
          <p:cNvPr id="11" name="text-46"/>
          <p:cNvSpPr txBox="1"/>
          <p:nvPr/>
        </p:nvSpPr>
        <p:spPr>
          <a:xfrm>
            <a:off x="9966960" y="3154680"/>
            <a:ext cx="2286000" cy="1463040"/>
          </a:xfrm>
          <a:prstGeom prst="rect">
            <a:avLst/>
          </a:prstGeom>
          <a:noFill/>
          <a:ln/>
        </p:spPr>
        <p:txBody>
          <a:bodyPr wrap="square" lIns="0" tIns="0" rIns="0" bIns="0" rtlCol="0" anchor="t"/>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of invalid packages rejected before the costly signature gate</a:t>
            </a:r>
            <a:endParaRPr lang="en-US" sz="1500" dirty="0"/>
          </a:p>
        </p:txBody>
      </p:sp>
      <p:sp>
        <p:nvSpPr>
          <p:cNvPr id="12" name="card-47"/>
          <p:cNvSpPr/>
          <p:nvPr/>
        </p:nvSpPr>
        <p:spPr>
          <a:xfrm>
            <a:off x="12664440" y="1828800"/>
            <a:ext cx="2788920" cy="2926080"/>
          </a:xfrm>
          <a:prstGeom prst="roundRect">
            <a:avLst>
              <a:gd name="adj" fmla="val 3934"/>
            </a:avLst>
          </a:prstGeom>
          <a:solidFill>
            <a:srgbClr val="E8F3F6"/>
          </a:solidFill>
          <a:ln w="15875">
            <a:solidFill>
              <a:srgbClr val="0E7490"/>
            </a:solidFill>
            <a:prstDash val="solid"/>
          </a:ln>
          <a:effectLst>
            <a:outerShdw sx="100000" sy="100000" kx="0" ky="0" algn="bl" rotWithShape="0" blurRad="76200" dist="25400" dir="5400000">
              <a:srgbClr val="9AAEC2">
                <a:alpha val="18000"/>
              </a:srgbClr>
            </a:outerShdw>
          </a:effectLst>
        </p:spPr>
      </p:sp>
      <p:sp>
        <p:nvSpPr>
          <p:cNvPr id="13" name="text-48"/>
          <p:cNvSpPr txBox="1"/>
          <p:nvPr/>
        </p:nvSpPr>
        <p:spPr>
          <a:xfrm>
            <a:off x="12938760" y="2148840"/>
            <a:ext cx="2286000" cy="914400"/>
          </a:xfrm>
          <a:prstGeom prst="rect">
            <a:avLst/>
          </a:prstGeom>
          <a:noFill/>
          <a:ln/>
        </p:spPr>
        <p:txBody>
          <a:bodyPr wrap="square" lIns="0" tIns="0" rIns="0" bIns="0" rtlCol="0" anchor="t"/>
          <a:lstStyle/>
          <a:p>
            <a:pPr algn="l" indent="0" marL="0">
              <a:lnSpc>
                <a:spcPct val="105000"/>
              </a:lnSpc>
              <a:buNone/>
            </a:pPr>
            <a:r>
              <a:rPr lang="en-US" sz="3600" b="1" dirty="0">
                <a:solidFill>
                  <a:srgbClr val="0E7490"/>
                </a:solidFill>
                <a:latin typeface="Cambria" pitchFamily="34" charset="0"/>
                <a:ea typeface="Cambria" pitchFamily="34" charset="-122"/>
                <a:cs typeface="Cambria" pitchFamily="34" charset="-120"/>
              </a:rPr>
              <a:t>75 to 77%</a:t>
            </a:r>
            <a:endParaRPr lang="en-US" sz="3600" dirty="0"/>
          </a:p>
        </p:txBody>
      </p:sp>
      <p:sp>
        <p:nvSpPr>
          <p:cNvPr id="14" name="text-49"/>
          <p:cNvSpPr txBox="1"/>
          <p:nvPr/>
        </p:nvSpPr>
        <p:spPr>
          <a:xfrm>
            <a:off x="12938760" y="3154680"/>
            <a:ext cx="2286000" cy="1463040"/>
          </a:xfrm>
          <a:prstGeom prst="rect">
            <a:avLst/>
          </a:prstGeom>
          <a:noFill/>
          <a:ln/>
        </p:spPr>
        <p:txBody>
          <a:bodyPr wrap="square" lIns="0" tIns="0" rIns="0" bIns="0" rtlCol="0" anchor="t"/>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less processing time per invalid package on ESP32, ESP8266 and ATmega328P</a:t>
            </a:r>
            <a:endParaRPr lang="en-US" sz="1500" dirty="0"/>
          </a:p>
        </p:txBody>
      </p:sp>
      <p:sp>
        <p:nvSpPr>
          <p:cNvPr id="15" name="card-50"/>
          <p:cNvSpPr/>
          <p:nvPr/>
        </p:nvSpPr>
        <p:spPr>
          <a:xfrm>
            <a:off x="9692640" y="5029200"/>
            <a:ext cx="2788920" cy="2926080"/>
          </a:xfrm>
          <a:prstGeom prst="roundRect">
            <a:avLst>
              <a:gd name="adj" fmla="val 3934"/>
            </a:avLst>
          </a:prstGeom>
          <a:solidFill>
            <a:srgbClr val="FBF4E6"/>
          </a:solidFill>
          <a:ln w="15875">
            <a:solidFill>
              <a:srgbClr val="96650A"/>
            </a:solidFill>
            <a:prstDash val="solid"/>
          </a:ln>
          <a:effectLst>
            <a:outerShdw sx="100000" sy="100000" kx="0" ky="0" algn="bl" rotWithShape="0" blurRad="76200" dist="25400" dir="5400000">
              <a:srgbClr val="9AAEC2">
                <a:alpha val="18000"/>
              </a:srgbClr>
            </a:outerShdw>
          </a:effectLst>
        </p:spPr>
      </p:sp>
      <p:sp>
        <p:nvSpPr>
          <p:cNvPr id="16" name="text-51"/>
          <p:cNvSpPr txBox="1"/>
          <p:nvPr/>
        </p:nvSpPr>
        <p:spPr>
          <a:xfrm>
            <a:off x="9966960" y="5349240"/>
            <a:ext cx="2286000" cy="914400"/>
          </a:xfrm>
          <a:prstGeom prst="rect">
            <a:avLst/>
          </a:prstGeom>
          <a:noFill/>
          <a:ln/>
        </p:spPr>
        <p:txBody>
          <a:bodyPr wrap="square" lIns="0" tIns="0" rIns="0" bIns="0" rtlCol="0" anchor="t"/>
          <a:lstStyle/>
          <a:p>
            <a:pPr algn="l" indent="0" marL="0">
              <a:lnSpc>
                <a:spcPct val="105000"/>
              </a:lnSpc>
              <a:buNone/>
            </a:pPr>
            <a:r>
              <a:rPr lang="en-US" sz="3600" b="1" dirty="0">
                <a:solidFill>
                  <a:srgbClr val="96650A"/>
                </a:solidFill>
                <a:latin typeface="Cambria" pitchFamily="34" charset="0"/>
                <a:ea typeface="Cambria" pitchFamily="34" charset="-122"/>
                <a:cs typeface="Cambria" pitchFamily="34" charset="-120"/>
              </a:rPr>
              <a:t>720</a:t>
            </a:r>
            <a:endParaRPr lang="en-US" sz="3600" dirty="0"/>
          </a:p>
        </p:txBody>
      </p:sp>
      <p:sp>
        <p:nvSpPr>
          <p:cNvPr id="17" name="text-52"/>
          <p:cNvSpPr txBox="1"/>
          <p:nvPr/>
        </p:nvSpPr>
        <p:spPr>
          <a:xfrm>
            <a:off x="9966960" y="6355080"/>
            <a:ext cx="2286000" cy="1463040"/>
          </a:xfrm>
          <a:prstGeom prst="rect">
            <a:avLst/>
          </a:prstGeom>
          <a:noFill/>
          <a:ln/>
        </p:spPr>
        <p:txBody>
          <a:bodyPr wrap="square" lIns="0" tIns="0" rIns="0" bIns="0" rtlCol="0" anchor="t"/>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test packages; every genuine package was accepted</a:t>
            </a:r>
            <a:endParaRPr lang="en-US" sz="1500" dirty="0"/>
          </a:p>
        </p:txBody>
      </p:sp>
      <p:sp>
        <p:nvSpPr>
          <p:cNvPr id="18" name="card-53"/>
          <p:cNvSpPr/>
          <p:nvPr/>
        </p:nvSpPr>
        <p:spPr>
          <a:xfrm>
            <a:off x="12664440" y="5029200"/>
            <a:ext cx="2788920" cy="2926080"/>
          </a:xfrm>
          <a:prstGeom prst="roundRect">
            <a:avLst>
              <a:gd name="adj" fmla="val 3934"/>
            </a:avLst>
          </a:prstGeom>
          <a:solidFill>
            <a:srgbClr val="F3F6F9"/>
          </a:solidFill>
          <a:ln w="15875">
            <a:solidFill>
              <a:srgbClr val="0D1B2A"/>
            </a:solidFill>
            <a:prstDash val="solid"/>
          </a:ln>
          <a:effectLst>
            <a:outerShdw sx="100000" sy="100000" kx="0" ky="0" algn="bl" rotWithShape="0" blurRad="76200" dist="25400" dir="5400000">
              <a:srgbClr val="9AAEC2">
                <a:alpha val="18000"/>
              </a:srgbClr>
            </a:outerShdw>
          </a:effectLst>
        </p:spPr>
      </p:sp>
      <p:sp>
        <p:nvSpPr>
          <p:cNvPr id="19" name="text-54"/>
          <p:cNvSpPr txBox="1"/>
          <p:nvPr/>
        </p:nvSpPr>
        <p:spPr>
          <a:xfrm>
            <a:off x="12938760" y="5349240"/>
            <a:ext cx="2286000" cy="914400"/>
          </a:xfrm>
          <a:prstGeom prst="rect">
            <a:avLst/>
          </a:prstGeom>
          <a:noFill/>
          <a:ln/>
        </p:spPr>
        <p:txBody>
          <a:bodyPr wrap="square" lIns="0" tIns="0" rIns="0" bIns="0" rtlCol="0" anchor="t"/>
          <a:lstStyle/>
          <a:p>
            <a:pPr algn="l" indent="0" marL="0">
              <a:lnSpc>
                <a:spcPct val="105000"/>
              </a:lnSpc>
              <a:buNone/>
            </a:pPr>
            <a:r>
              <a:rPr lang="en-US" sz="3600" b="1" dirty="0">
                <a:solidFill>
                  <a:srgbClr val="0D1B2A"/>
                </a:solidFill>
                <a:latin typeface="Cambria" pitchFamily="34" charset="0"/>
                <a:ea typeface="Cambria" pitchFamily="34" charset="-122"/>
                <a:cs typeface="Cambria" pitchFamily="34" charset="-120"/>
              </a:rPr>
              <a:t>&lt; 2 s</a:t>
            </a:r>
            <a:endParaRPr lang="en-US" sz="3600" dirty="0"/>
          </a:p>
        </p:txBody>
      </p:sp>
      <p:sp>
        <p:nvSpPr>
          <p:cNvPr id="20" name="text-55"/>
          <p:cNvSpPr txBox="1"/>
          <p:nvPr/>
        </p:nvSpPr>
        <p:spPr>
          <a:xfrm>
            <a:off x="12938760" y="6355080"/>
            <a:ext cx="2286000" cy="1463040"/>
          </a:xfrm>
          <a:prstGeom prst="rect">
            <a:avLst/>
          </a:prstGeom>
          <a:noFill/>
          <a:ln/>
        </p:spPr>
        <p:txBody>
          <a:bodyPr wrap="square" lIns="0" tIns="0" rIns="0" bIns="0" rtlCol="0" anchor="t"/>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for a device status change to reach the dashboard</a:t>
            </a:r>
            <a:endParaRPr lang="en-US" sz="15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Problem Definition</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Three gaps in how small IoT devices are updated today</a:t>
            </a:r>
            <a:endParaRPr lang="en-US" sz="1600" dirty="0"/>
          </a:p>
        </p:txBody>
      </p:sp>
      <p:sp>
        <p:nvSpPr>
          <p:cNvPr id="4" name="card-56"/>
          <p:cNvSpPr/>
          <p:nvPr/>
        </p:nvSpPr>
        <p:spPr>
          <a:xfrm>
            <a:off x="731520" y="1828800"/>
            <a:ext cx="4736592" cy="4023360"/>
          </a:xfrm>
          <a:prstGeom prst="roundRect">
            <a:avLst>
              <a:gd name="adj" fmla="val 2727"/>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5" name="iconbg-57"/>
          <p:cNvSpPr/>
          <p:nvPr/>
        </p:nvSpPr>
        <p:spPr>
          <a:xfrm>
            <a:off x="1097280" y="2148840"/>
            <a:ext cx="914400" cy="914400"/>
          </a:xfrm>
          <a:prstGeom prst="ellipse">
            <a:avLst/>
          </a:prstGeom>
          <a:solidFill>
            <a:srgbClr val="FBEDEB"/>
          </a:solidFill>
          <a:ln w="15875">
            <a:solidFill>
              <a:srgbClr val="B4322A"/>
            </a:solidFill>
            <a:prstDash val="solid"/>
          </a:ln>
        </p:spPr>
      </p:sp>
      <p:pic>
        <p:nvPicPr>
          <p:cNvPr id="6" name="icon-58" descr="preencoded.png">    </p:cNvPr>
          <p:cNvPicPr>
            <a:picLocks noChangeAspect="1"/>
          </p:cNvPicPr>
          <p:nvPr/>
        </p:nvPicPr>
        <p:blipFill>
          <a:blip r:embed="rId1"/>
          <a:stretch>
            <a:fillRect/>
          </a:stretch>
        </p:blipFill>
        <p:spPr>
          <a:xfrm>
            <a:off x="1335024" y="2386584"/>
            <a:ext cx="438912" cy="438912"/>
          </a:xfrm>
          <a:prstGeom prst="rect">
            <a:avLst/>
          </a:prstGeom>
        </p:spPr>
      </p:pic>
      <p:sp>
        <p:nvSpPr>
          <p:cNvPr id="7" name="text-59"/>
          <p:cNvSpPr txBox="1"/>
          <p:nvPr/>
        </p:nvSpPr>
        <p:spPr>
          <a:xfrm>
            <a:off x="1097280" y="3246120"/>
            <a:ext cx="4005072" cy="822960"/>
          </a:xfrm>
          <a:prstGeom prst="rect">
            <a:avLst/>
          </a:prstGeom>
          <a:noFill/>
          <a:ln/>
        </p:spPr>
        <p:txBody>
          <a:bodyPr wrap="square" lIns="0" tIns="0" rIns="0" bIns="0" rtlCol="0" anchor="t"/>
          <a:lstStyle/>
          <a:p>
            <a:pPr algn="l" indent="0" marL="0">
              <a:lnSpc>
                <a:spcPct val="105000"/>
              </a:lnSpc>
              <a:buNone/>
            </a:pPr>
            <a:r>
              <a:rPr lang="en-US" sz="2000" b="1" dirty="0">
                <a:solidFill>
                  <a:srgbClr val="0D1B2A"/>
                </a:solidFill>
                <a:latin typeface="Cambria" pitchFamily="34" charset="0"/>
                <a:ea typeface="Cambria" pitchFamily="34" charset="-122"/>
                <a:cs typeface="Cambria" pitchFamily="34" charset="-120"/>
              </a:rPr>
              <a:t>Updates and status can be faked</a:t>
            </a:r>
            <a:endParaRPr lang="en-US" sz="2000" dirty="0"/>
          </a:p>
        </p:txBody>
      </p:sp>
      <p:sp>
        <p:nvSpPr>
          <p:cNvPr id="8" name="text-60"/>
          <p:cNvSpPr txBox="1"/>
          <p:nvPr/>
        </p:nvSpPr>
        <p:spPr>
          <a:xfrm>
            <a:off x="1097280" y="4069080"/>
            <a:ext cx="4005072" cy="1737360"/>
          </a:xfrm>
          <a:prstGeom prst="rect">
            <a:avLst/>
          </a:prstGeom>
          <a:noFill/>
          <a:ln/>
        </p:spPr>
        <p:txBody>
          <a:bodyPr wrap="square" lIns="0" tIns="0" rIns="0" bIns="0" rtlCol="0" anchor="t"/>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Many update paths skip signature checks, and plain status messages can be forged or replayed. An attacker can install old or altered firmware, or hide a failed device.</a:t>
            </a:r>
            <a:endParaRPr lang="en-US" sz="1500" dirty="0"/>
          </a:p>
        </p:txBody>
      </p:sp>
      <p:sp>
        <p:nvSpPr>
          <p:cNvPr id="9" name="card-61"/>
          <p:cNvSpPr/>
          <p:nvPr/>
        </p:nvSpPr>
        <p:spPr>
          <a:xfrm>
            <a:off x="5760720" y="1828800"/>
            <a:ext cx="4736592" cy="4023360"/>
          </a:xfrm>
          <a:prstGeom prst="roundRect">
            <a:avLst>
              <a:gd name="adj" fmla="val 2727"/>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10" name="iconbg-62"/>
          <p:cNvSpPr/>
          <p:nvPr/>
        </p:nvSpPr>
        <p:spPr>
          <a:xfrm>
            <a:off x="6126480" y="2148840"/>
            <a:ext cx="914400" cy="914400"/>
          </a:xfrm>
          <a:prstGeom prst="ellipse">
            <a:avLst/>
          </a:prstGeom>
          <a:solidFill>
            <a:srgbClr val="FBF4E6"/>
          </a:solidFill>
          <a:ln w="15875">
            <a:solidFill>
              <a:srgbClr val="96650A"/>
            </a:solidFill>
            <a:prstDash val="solid"/>
          </a:ln>
        </p:spPr>
      </p:sp>
      <p:pic>
        <p:nvPicPr>
          <p:cNvPr id="11" name="icon-63" descr="preencoded.png">    </p:cNvPr>
          <p:cNvPicPr>
            <a:picLocks noChangeAspect="1"/>
          </p:cNvPicPr>
          <p:nvPr/>
        </p:nvPicPr>
        <p:blipFill>
          <a:blip r:embed="rId2"/>
          <a:stretch>
            <a:fillRect/>
          </a:stretch>
        </p:blipFill>
        <p:spPr>
          <a:xfrm>
            <a:off x="6364224" y="2386584"/>
            <a:ext cx="438912" cy="438912"/>
          </a:xfrm>
          <a:prstGeom prst="rect">
            <a:avLst/>
          </a:prstGeom>
        </p:spPr>
      </p:pic>
      <p:sp>
        <p:nvSpPr>
          <p:cNvPr id="12" name="text-64"/>
          <p:cNvSpPr txBox="1"/>
          <p:nvPr/>
        </p:nvSpPr>
        <p:spPr>
          <a:xfrm>
            <a:off x="6126480" y="3246120"/>
            <a:ext cx="4005072" cy="822960"/>
          </a:xfrm>
          <a:prstGeom prst="rect">
            <a:avLst/>
          </a:prstGeom>
          <a:noFill/>
          <a:ln/>
        </p:spPr>
        <p:txBody>
          <a:bodyPr wrap="square" lIns="0" tIns="0" rIns="0" bIns="0" rtlCol="0" anchor="t"/>
          <a:lstStyle/>
          <a:p>
            <a:pPr algn="l" indent="0" marL="0">
              <a:lnSpc>
                <a:spcPct val="105000"/>
              </a:lnSpc>
              <a:buNone/>
            </a:pPr>
            <a:r>
              <a:rPr lang="en-US" sz="2000" b="1" dirty="0">
                <a:solidFill>
                  <a:srgbClr val="0D1B2A"/>
                </a:solidFill>
                <a:latin typeface="Cambria" pitchFamily="34" charset="0"/>
                <a:ea typeface="Cambria" pitchFamily="34" charset="-122"/>
                <a:cs typeface="Cambria" pitchFamily="34" charset="-120"/>
              </a:rPr>
              <a:t>The expensive check runs on everything</a:t>
            </a:r>
            <a:endParaRPr lang="en-US" sz="2000" dirty="0"/>
          </a:p>
        </p:txBody>
      </p:sp>
      <p:sp>
        <p:nvSpPr>
          <p:cNvPr id="13" name="text-65"/>
          <p:cNvSpPr txBox="1"/>
          <p:nvPr/>
        </p:nvSpPr>
        <p:spPr>
          <a:xfrm>
            <a:off x="6126480" y="4069080"/>
            <a:ext cx="4005072" cy="1737360"/>
          </a:xfrm>
          <a:prstGeom prst="rect">
            <a:avLst/>
          </a:prstGeom>
          <a:noFill/>
          <a:ln/>
        </p:spPr>
        <p:txBody>
          <a:bodyPr wrap="square" lIns="0" tIns="0" rIns="0" bIns="0" rtlCol="0" anchor="t"/>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Ed25519 signature verification is about 75 to 78% of total verification time on the tested boards, yet a cheap check would already reject most invalid images.</a:t>
            </a:r>
            <a:endParaRPr lang="en-US" sz="1500" dirty="0"/>
          </a:p>
        </p:txBody>
      </p:sp>
      <p:sp>
        <p:nvSpPr>
          <p:cNvPr id="14" name="card-66"/>
          <p:cNvSpPr/>
          <p:nvPr/>
        </p:nvSpPr>
        <p:spPr>
          <a:xfrm>
            <a:off x="10789920" y="1828800"/>
            <a:ext cx="4736592" cy="4023360"/>
          </a:xfrm>
          <a:prstGeom prst="roundRect">
            <a:avLst>
              <a:gd name="adj" fmla="val 2727"/>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15" name="iconbg-67"/>
          <p:cNvSpPr/>
          <p:nvPr/>
        </p:nvSpPr>
        <p:spPr>
          <a:xfrm>
            <a:off x="11155680" y="2148840"/>
            <a:ext cx="914400" cy="914400"/>
          </a:xfrm>
          <a:prstGeom prst="ellipse">
            <a:avLst/>
          </a:prstGeom>
          <a:solidFill>
            <a:srgbClr val="E8F3F6"/>
          </a:solidFill>
          <a:ln w="15875">
            <a:solidFill>
              <a:srgbClr val="0E7490"/>
            </a:solidFill>
            <a:prstDash val="solid"/>
          </a:ln>
        </p:spPr>
      </p:sp>
      <p:pic>
        <p:nvPicPr>
          <p:cNvPr id="16" name="icon-68" descr="preencoded.png">    </p:cNvPr>
          <p:cNvPicPr>
            <a:picLocks noChangeAspect="1"/>
          </p:cNvPicPr>
          <p:nvPr/>
        </p:nvPicPr>
        <p:blipFill>
          <a:blip r:embed="rId3"/>
          <a:stretch>
            <a:fillRect/>
          </a:stretch>
        </p:blipFill>
        <p:spPr>
          <a:xfrm>
            <a:off x="11393424" y="2386584"/>
            <a:ext cx="438912" cy="438912"/>
          </a:xfrm>
          <a:prstGeom prst="rect">
            <a:avLst/>
          </a:prstGeom>
        </p:spPr>
      </p:pic>
      <p:sp>
        <p:nvSpPr>
          <p:cNvPr id="17" name="text-69"/>
          <p:cNvSpPr txBox="1"/>
          <p:nvPr/>
        </p:nvSpPr>
        <p:spPr>
          <a:xfrm>
            <a:off x="11155680" y="3246120"/>
            <a:ext cx="4005072" cy="822960"/>
          </a:xfrm>
          <a:prstGeom prst="rect">
            <a:avLst/>
          </a:prstGeom>
          <a:noFill/>
          <a:ln/>
        </p:spPr>
        <p:txBody>
          <a:bodyPr wrap="square" lIns="0" tIns="0" rIns="0" bIns="0" rtlCol="0" anchor="t"/>
          <a:lstStyle/>
          <a:p>
            <a:pPr algn="l" indent="0" marL="0">
              <a:lnSpc>
                <a:spcPct val="105000"/>
              </a:lnSpc>
              <a:buNone/>
            </a:pPr>
            <a:r>
              <a:rPr lang="en-US" sz="2000" b="1" dirty="0">
                <a:solidFill>
                  <a:srgbClr val="0D1B2A"/>
                </a:solidFill>
                <a:latin typeface="Cambria" pitchFamily="34" charset="0"/>
                <a:ea typeface="Cambria" pitchFamily="34" charset="-122"/>
                <a:cs typeface="Cambria" pitchFamily="34" charset="-120"/>
              </a:rPr>
              <a:t>No view after deployment</a:t>
            </a:r>
            <a:endParaRPr lang="en-US" sz="2000" dirty="0"/>
          </a:p>
        </p:txBody>
      </p:sp>
      <p:sp>
        <p:nvSpPr>
          <p:cNvPr id="18" name="text-70"/>
          <p:cNvSpPr txBox="1"/>
          <p:nvPr/>
        </p:nvSpPr>
        <p:spPr>
          <a:xfrm>
            <a:off x="11155680" y="4069080"/>
            <a:ext cx="4005072" cy="1737360"/>
          </a:xfrm>
          <a:prstGeom prst="rect">
            <a:avLst/>
          </a:prstGeom>
          <a:noFill/>
          <a:ln/>
        </p:spPr>
        <p:txBody>
          <a:bodyPr wrap="square" lIns="0" tIns="0" rIns="0" bIns="0" rtlCol="0" anchor="t"/>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Operators often cannot tell which firmware a node runs or whether an update installed. Manual export, upload and metadata steps cause mismatched releases.</a:t>
            </a:r>
            <a:endParaRPr lang="en-US" sz="1500" dirty="0"/>
          </a:p>
        </p:txBody>
      </p:sp>
      <p:sp>
        <p:nvSpPr>
          <p:cNvPr id="19" name="card-71"/>
          <p:cNvSpPr/>
          <p:nvPr/>
        </p:nvSpPr>
        <p:spPr>
          <a:xfrm>
            <a:off x="731520" y="6126480"/>
            <a:ext cx="14794992" cy="2103120"/>
          </a:xfrm>
          <a:prstGeom prst="roundRect">
            <a:avLst>
              <a:gd name="adj" fmla="val 5217"/>
            </a:avLst>
          </a:prstGeom>
          <a:solidFill>
            <a:srgbClr val="F3F6F9"/>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20" name="text-72"/>
          <p:cNvSpPr txBox="1"/>
          <p:nvPr/>
        </p:nvSpPr>
        <p:spPr>
          <a:xfrm>
            <a:off x="1097280" y="6355080"/>
            <a:ext cx="7315200" cy="274320"/>
          </a:xfrm>
          <a:prstGeom prst="rect">
            <a:avLst/>
          </a:prstGeom>
          <a:noFill/>
          <a:ln/>
        </p:spPr>
        <p:txBody>
          <a:bodyPr wrap="square" lIns="0" tIns="0" rIns="0" bIns="0" rtlCol="0" anchor="t"/>
          <a:lstStyle/>
          <a:p>
            <a:pPr algn="l" indent="0" marL="0">
              <a:lnSpc>
                <a:spcPct val="100000"/>
              </a:lnSpc>
              <a:buNone/>
            </a:pPr>
            <a:r>
              <a:rPr lang="en-US" sz="1100" b="1" dirty="0">
                <a:solidFill>
                  <a:srgbClr val="6B7D91"/>
                </a:solidFill>
                <a:latin typeface="Calibri" pitchFamily="34" charset="0"/>
                <a:ea typeface="Calibri" pitchFamily="34" charset="-122"/>
                <a:cs typeface="Calibri" pitchFamily="34" charset="-120"/>
              </a:rPr>
              <a:t>WHY EXISTING WORK FALLS SHORT</a:t>
            </a:r>
            <a:endParaRPr lang="en-US" sz="1100" dirty="0"/>
          </a:p>
        </p:txBody>
      </p:sp>
      <p:sp>
        <p:nvSpPr>
          <p:cNvPr id="21" name="text-73"/>
          <p:cNvSpPr txBox="1"/>
          <p:nvPr/>
        </p:nvSpPr>
        <p:spPr>
          <a:xfrm>
            <a:off x="1097280" y="6766560"/>
            <a:ext cx="4572000" cy="365760"/>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Park et al. [5], 2025</a:t>
            </a:r>
            <a:endParaRPr lang="en-US" sz="1500" dirty="0"/>
          </a:p>
        </p:txBody>
      </p:sp>
      <p:sp>
        <p:nvSpPr>
          <p:cNvPr id="22" name="text-74"/>
          <p:cNvSpPr txBox="1"/>
          <p:nvPr/>
        </p:nvSpPr>
        <p:spPr>
          <a:xfrm>
            <a:off x="1097280" y="7132320"/>
            <a:ext cx="4480560" cy="914400"/>
          </a:xfrm>
          <a:prstGeom prst="rect">
            <a:avLst/>
          </a:prstGeom>
          <a:noFill/>
          <a:ln/>
        </p:spPr>
        <p:txBody>
          <a:bodyPr wrap="square" lIns="0" tIns="0" rIns="0" bIns="0" rtlCol="0" anchor="t"/>
          <a:lstStyle/>
          <a:p>
            <a:pPr algn="l" indent="0" marL="0">
              <a:lnSpc>
                <a:spcPct val="105000"/>
              </a:lnSpc>
              <a:buNone/>
            </a:pPr>
            <a:r>
              <a:rPr lang="en-US" sz="1400" dirty="0">
                <a:solidFill>
                  <a:srgbClr val="33475B"/>
                </a:solidFill>
                <a:latin typeface="Calibri" pitchFamily="34" charset="0"/>
                <a:ea typeface="Calibri" pitchFamily="34" charset="-122"/>
                <a:cs typeface="Calibri" pitchFamily="34" charset="-120"/>
              </a:rPr>
              <a:t>Fast and light, but simulated on a laptop; no replay or rollback control</a:t>
            </a:r>
            <a:endParaRPr lang="en-US" sz="1400" dirty="0"/>
          </a:p>
        </p:txBody>
      </p:sp>
      <p:sp>
        <p:nvSpPr>
          <p:cNvPr id="23" name="text-75"/>
          <p:cNvSpPr txBox="1"/>
          <p:nvPr/>
        </p:nvSpPr>
        <p:spPr>
          <a:xfrm>
            <a:off x="5943600" y="6766560"/>
            <a:ext cx="4572000" cy="365760"/>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Shin et al. [10], 2024</a:t>
            </a:r>
            <a:endParaRPr lang="en-US" sz="1500" dirty="0"/>
          </a:p>
        </p:txBody>
      </p:sp>
      <p:sp>
        <p:nvSpPr>
          <p:cNvPr id="24" name="text-76"/>
          <p:cNvSpPr txBox="1"/>
          <p:nvPr/>
        </p:nvSpPr>
        <p:spPr>
          <a:xfrm>
            <a:off x="5943600" y="7132320"/>
            <a:ext cx="4480560" cy="914400"/>
          </a:xfrm>
          <a:prstGeom prst="rect">
            <a:avLst/>
          </a:prstGeom>
          <a:noFill/>
          <a:ln/>
        </p:spPr>
        <p:txBody>
          <a:bodyPr wrap="square" lIns="0" tIns="0" rIns="0" bIns="0" rtlCol="0" anchor="t"/>
          <a:lstStyle/>
          <a:p>
            <a:pPr algn="l" indent="0" marL="0">
              <a:lnSpc>
                <a:spcPct val="105000"/>
              </a:lnSpc>
              <a:buNone/>
            </a:pPr>
            <a:r>
              <a:rPr lang="en-US" sz="1400" dirty="0">
                <a:solidFill>
                  <a:srgbClr val="33475B"/>
                </a:solidFill>
                <a:latin typeface="Calibri" pitchFamily="34" charset="0"/>
                <a:ea typeface="Calibri" pitchFamily="34" charset="-122"/>
                <a:cs typeface="Calibri" pitchFamily="34" charset="-120"/>
              </a:rPr>
              <a:t>MQTT, TLS and a Merkle tree; no denial-of-service defence or staged rejection</a:t>
            </a:r>
            <a:endParaRPr lang="en-US" sz="1400" dirty="0"/>
          </a:p>
        </p:txBody>
      </p:sp>
      <p:sp>
        <p:nvSpPr>
          <p:cNvPr id="25" name="text-77"/>
          <p:cNvSpPr txBox="1"/>
          <p:nvPr/>
        </p:nvSpPr>
        <p:spPr>
          <a:xfrm>
            <a:off x="10789920" y="6766560"/>
            <a:ext cx="4572000" cy="365760"/>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Carnevale et al. [15], 2023</a:t>
            </a:r>
            <a:endParaRPr lang="en-US" sz="1500" dirty="0"/>
          </a:p>
        </p:txBody>
      </p:sp>
      <p:sp>
        <p:nvSpPr>
          <p:cNvPr id="26" name="text-78"/>
          <p:cNvSpPr txBox="1"/>
          <p:nvPr/>
        </p:nvSpPr>
        <p:spPr>
          <a:xfrm>
            <a:off x="10789920" y="7132320"/>
            <a:ext cx="4480560" cy="914400"/>
          </a:xfrm>
          <a:prstGeom prst="rect">
            <a:avLst/>
          </a:prstGeom>
          <a:noFill/>
          <a:ln/>
        </p:spPr>
        <p:txBody>
          <a:bodyPr wrap="square" lIns="0" tIns="0" rIns="0" bIns="0" rtlCol="0" anchor="t"/>
          <a:lstStyle/>
          <a:p>
            <a:pPr algn="l" indent="0" marL="0">
              <a:lnSpc>
                <a:spcPct val="105000"/>
              </a:lnSpc>
              <a:buNone/>
            </a:pPr>
            <a:r>
              <a:rPr lang="en-US" sz="1400" dirty="0">
                <a:solidFill>
                  <a:srgbClr val="33475B"/>
                </a:solidFill>
                <a:latin typeface="Calibri" pitchFamily="34" charset="0"/>
                <a:ea typeface="Calibri" pitchFamily="34" charset="-122"/>
                <a:cs typeface="Calibri" pitchFamily="34" charset="-120"/>
              </a:rPr>
              <a:t>Firmware freshness on an ESP32 mesh; no timing data and no fleet monitoring</a:t>
            </a:r>
            <a:endParaRPr lang="en-US" sz="14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Objectives</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Five goals, each matched to one mechanism in the design</a:t>
            </a:r>
            <a:endParaRPr lang="en-US" sz="1600" dirty="0"/>
          </a:p>
        </p:txBody>
      </p:sp>
      <p:sp>
        <p:nvSpPr>
          <p:cNvPr id="4" name="card-79"/>
          <p:cNvSpPr/>
          <p:nvPr/>
        </p:nvSpPr>
        <p:spPr>
          <a:xfrm>
            <a:off x="731520" y="1828800"/>
            <a:ext cx="14794992" cy="1115568"/>
          </a:xfrm>
          <a:prstGeom prst="roundRect">
            <a:avLst>
              <a:gd name="adj" fmla="val 9836"/>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5" name="num-80"/>
          <p:cNvSpPr/>
          <p:nvPr/>
        </p:nvSpPr>
        <p:spPr>
          <a:xfrm>
            <a:off x="1051560" y="2112264"/>
            <a:ext cx="548640" cy="548640"/>
          </a:xfrm>
          <a:prstGeom prst="ellipse">
            <a:avLst/>
          </a:prstGeom>
          <a:solidFill>
            <a:srgbClr val="FFFFFF"/>
          </a:solidFill>
          <a:ln w="19050">
            <a:solidFill>
              <a:srgbClr val="0E7490"/>
            </a:solidFill>
            <a:prstDash val="solid"/>
          </a:ln>
        </p:spPr>
      </p:sp>
      <p:sp>
        <p:nvSpPr>
          <p:cNvPr id="6" name="text-81"/>
          <p:cNvSpPr txBox="1"/>
          <p:nvPr/>
        </p:nvSpPr>
        <p:spPr>
          <a:xfrm>
            <a:off x="1051560" y="2112264"/>
            <a:ext cx="548640" cy="548640"/>
          </a:xfrm>
          <a:prstGeom prst="rect">
            <a:avLst/>
          </a:prstGeom>
          <a:noFill/>
          <a:ln/>
        </p:spPr>
        <p:txBody>
          <a:bodyPr wrap="square" lIns="0" tIns="0" rIns="0" bIns="0" rtlCol="0" anchor="ctr"/>
          <a:lstStyle/>
          <a:p>
            <a:pPr algn="ctr" indent="0" marL="0">
              <a:lnSpc>
                <a:spcPct val="105000"/>
              </a:lnSpc>
              <a:buNone/>
            </a:pPr>
            <a:r>
              <a:rPr lang="en-US" sz="1600" b="1" dirty="0">
                <a:solidFill>
                  <a:srgbClr val="0E7490"/>
                </a:solidFill>
                <a:latin typeface="Cambria" pitchFamily="34" charset="0"/>
                <a:ea typeface="Cambria" pitchFamily="34" charset="-122"/>
                <a:cs typeface="Cambria" pitchFamily="34" charset="-120"/>
              </a:rPr>
              <a:t>1</a:t>
            </a:r>
            <a:endParaRPr lang="en-US" sz="1600" dirty="0"/>
          </a:p>
        </p:txBody>
      </p:sp>
      <p:sp>
        <p:nvSpPr>
          <p:cNvPr id="7" name="iconbg-82"/>
          <p:cNvSpPr/>
          <p:nvPr/>
        </p:nvSpPr>
        <p:spPr>
          <a:xfrm>
            <a:off x="1828800" y="2066544"/>
            <a:ext cx="640080" cy="640080"/>
          </a:xfrm>
          <a:prstGeom prst="ellipse">
            <a:avLst/>
          </a:prstGeom>
          <a:solidFill>
            <a:srgbClr val="E8F5EF"/>
          </a:solidFill>
          <a:ln w="15875">
            <a:solidFill>
              <a:srgbClr val="067A55"/>
            </a:solidFill>
            <a:prstDash val="solid"/>
          </a:ln>
        </p:spPr>
      </p:sp>
      <p:pic>
        <p:nvPicPr>
          <p:cNvPr id="8" name="icon-83" descr="preencoded.png">    </p:cNvPr>
          <p:cNvPicPr>
            <a:picLocks noChangeAspect="1"/>
          </p:cNvPicPr>
          <p:nvPr/>
        </p:nvPicPr>
        <p:blipFill>
          <a:blip r:embed="rId1"/>
          <a:stretch>
            <a:fillRect/>
          </a:stretch>
        </p:blipFill>
        <p:spPr>
          <a:xfrm>
            <a:off x="1995221" y="2232965"/>
            <a:ext cx="307238" cy="307238"/>
          </a:xfrm>
          <a:prstGeom prst="rect">
            <a:avLst/>
          </a:prstGeom>
        </p:spPr>
      </p:pic>
      <p:sp>
        <p:nvSpPr>
          <p:cNvPr id="9" name="text-84"/>
          <p:cNvSpPr txBox="1"/>
          <p:nvPr/>
        </p:nvSpPr>
        <p:spPr>
          <a:xfrm>
            <a:off x="2743200" y="2011680"/>
            <a:ext cx="3840480" cy="731520"/>
          </a:xfrm>
          <a:prstGeom prst="rect">
            <a:avLst/>
          </a:prstGeom>
          <a:noFill/>
          <a:ln/>
        </p:spPr>
        <p:txBody>
          <a:bodyPr wrap="square" lIns="0" tIns="0" rIns="0" bIns="0" rtlCol="0" anchor="ctr"/>
          <a:lstStyle/>
          <a:p>
            <a:pPr algn="l" indent="0" marL="0">
              <a:lnSpc>
                <a:spcPct val="105000"/>
              </a:lnSpc>
              <a:buNone/>
            </a:pPr>
            <a:r>
              <a:rPr lang="en-US" sz="1900" b="1" dirty="0">
                <a:solidFill>
                  <a:srgbClr val="0D1B2A"/>
                </a:solidFill>
                <a:latin typeface="Cambria" pitchFamily="34" charset="0"/>
                <a:ea typeface="Cambria" pitchFamily="34" charset="-122"/>
                <a:cs typeface="Cambria" pitchFamily="34" charset="-120"/>
              </a:rPr>
              <a:t>Authentic, fresh status</a:t>
            </a:r>
            <a:endParaRPr lang="en-US" sz="1900" dirty="0"/>
          </a:p>
        </p:txBody>
      </p:sp>
      <p:sp>
        <p:nvSpPr>
          <p:cNvPr id="10" name="text-85"/>
          <p:cNvSpPr txBox="1"/>
          <p:nvPr/>
        </p:nvSpPr>
        <p:spPr>
          <a:xfrm>
            <a:off x="6675120" y="1965960"/>
            <a:ext cx="8485632" cy="841248"/>
          </a:xfrm>
          <a:prstGeom prst="rect">
            <a:avLst/>
          </a:prstGeom>
          <a:noFill/>
          <a:ln/>
        </p:spPr>
        <p:txBody>
          <a:bodyPr wrap="square" lIns="0" tIns="0" rIns="0" bIns="0" rtlCol="0" anchor="ctr"/>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Seal device beacons with AES-256-CBC, an HMAC-SHA256 tag and a persistent counter so forged and replayed beacons are rejected.</a:t>
            </a:r>
            <a:endParaRPr lang="en-US" sz="1500" dirty="0"/>
          </a:p>
        </p:txBody>
      </p:sp>
      <p:sp>
        <p:nvSpPr>
          <p:cNvPr id="11" name="card-86"/>
          <p:cNvSpPr/>
          <p:nvPr/>
        </p:nvSpPr>
        <p:spPr>
          <a:xfrm>
            <a:off x="731520" y="3127248"/>
            <a:ext cx="14794992" cy="1115568"/>
          </a:xfrm>
          <a:prstGeom prst="roundRect">
            <a:avLst>
              <a:gd name="adj" fmla="val 9836"/>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12" name="num-87"/>
          <p:cNvSpPr/>
          <p:nvPr/>
        </p:nvSpPr>
        <p:spPr>
          <a:xfrm>
            <a:off x="1051560" y="3410712"/>
            <a:ext cx="548640" cy="548640"/>
          </a:xfrm>
          <a:prstGeom prst="ellipse">
            <a:avLst/>
          </a:prstGeom>
          <a:solidFill>
            <a:srgbClr val="FFFFFF"/>
          </a:solidFill>
          <a:ln w="19050">
            <a:solidFill>
              <a:srgbClr val="0E7490"/>
            </a:solidFill>
            <a:prstDash val="solid"/>
          </a:ln>
        </p:spPr>
      </p:sp>
      <p:sp>
        <p:nvSpPr>
          <p:cNvPr id="13" name="text-88"/>
          <p:cNvSpPr txBox="1"/>
          <p:nvPr/>
        </p:nvSpPr>
        <p:spPr>
          <a:xfrm>
            <a:off x="1051560" y="3410712"/>
            <a:ext cx="548640" cy="548640"/>
          </a:xfrm>
          <a:prstGeom prst="rect">
            <a:avLst/>
          </a:prstGeom>
          <a:noFill/>
          <a:ln/>
        </p:spPr>
        <p:txBody>
          <a:bodyPr wrap="square" lIns="0" tIns="0" rIns="0" bIns="0" rtlCol="0" anchor="ctr"/>
          <a:lstStyle/>
          <a:p>
            <a:pPr algn="ctr" indent="0" marL="0">
              <a:lnSpc>
                <a:spcPct val="105000"/>
              </a:lnSpc>
              <a:buNone/>
            </a:pPr>
            <a:r>
              <a:rPr lang="en-US" sz="1600" b="1" dirty="0">
                <a:solidFill>
                  <a:srgbClr val="0E7490"/>
                </a:solidFill>
                <a:latin typeface="Cambria" pitchFamily="34" charset="0"/>
                <a:ea typeface="Cambria" pitchFamily="34" charset="-122"/>
                <a:cs typeface="Cambria" pitchFamily="34" charset="-120"/>
              </a:rPr>
              <a:t>2</a:t>
            </a:r>
            <a:endParaRPr lang="en-US" sz="1600" dirty="0"/>
          </a:p>
        </p:txBody>
      </p:sp>
      <p:sp>
        <p:nvSpPr>
          <p:cNvPr id="14" name="iconbg-89"/>
          <p:cNvSpPr/>
          <p:nvPr/>
        </p:nvSpPr>
        <p:spPr>
          <a:xfrm>
            <a:off x="1828800" y="3364992"/>
            <a:ext cx="640080" cy="640080"/>
          </a:xfrm>
          <a:prstGeom prst="ellipse">
            <a:avLst/>
          </a:prstGeom>
          <a:solidFill>
            <a:srgbClr val="E8F5EF"/>
          </a:solidFill>
          <a:ln w="15875">
            <a:solidFill>
              <a:srgbClr val="067A55"/>
            </a:solidFill>
            <a:prstDash val="solid"/>
          </a:ln>
        </p:spPr>
      </p:sp>
      <p:pic>
        <p:nvPicPr>
          <p:cNvPr id="15" name="icon-90" descr="preencoded.png">    </p:cNvPr>
          <p:cNvPicPr>
            <a:picLocks noChangeAspect="1"/>
          </p:cNvPicPr>
          <p:nvPr/>
        </p:nvPicPr>
        <p:blipFill>
          <a:blip r:embed="rId2"/>
          <a:stretch>
            <a:fillRect/>
          </a:stretch>
        </p:blipFill>
        <p:spPr>
          <a:xfrm>
            <a:off x="1995221" y="3531413"/>
            <a:ext cx="307238" cy="307238"/>
          </a:xfrm>
          <a:prstGeom prst="rect">
            <a:avLst/>
          </a:prstGeom>
        </p:spPr>
      </p:pic>
      <p:sp>
        <p:nvSpPr>
          <p:cNvPr id="16" name="text-91"/>
          <p:cNvSpPr txBox="1"/>
          <p:nvPr/>
        </p:nvSpPr>
        <p:spPr>
          <a:xfrm>
            <a:off x="2743200" y="3310128"/>
            <a:ext cx="3840480" cy="731520"/>
          </a:xfrm>
          <a:prstGeom prst="rect">
            <a:avLst/>
          </a:prstGeom>
          <a:noFill/>
          <a:ln/>
        </p:spPr>
        <p:txBody>
          <a:bodyPr wrap="square" lIns="0" tIns="0" rIns="0" bIns="0" rtlCol="0" anchor="ctr"/>
          <a:lstStyle/>
          <a:p>
            <a:pPr algn="l" indent="0" marL="0">
              <a:lnSpc>
                <a:spcPct val="105000"/>
              </a:lnSpc>
              <a:buNone/>
            </a:pPr>
            <a:r>
              <a:rPr lang="en-US" sz="1900" b="1" dirty="0">
                <a:solidFill>
                  <a:srgbClr val="0D1B2A"/>
                </a:solidFill>
                <a:latin typeface="Cambria" pitchFamily="34" charset="0"/>
                <a:ea typeface="Cambria" pitchFamily="34" charset="-122"/>
                <a:cs typeface="Cambria" pitchFamily="34" charset="-120"/>
              </a:rPr>
              <a:t>Automated release signing</a:t>
            </a:r>
            <a:endParaRPr lang="en-US" sz="1900" dirty="0"/>
          </a:p>
        </p:txBody>
      </p:sp>
      <p:sp>
        <p:nvSpPr>
          <p:cNvPr id="17" name="text-92"/>
          <p:cNvSpPr txBox="1"/>
          <p:nvPr/>
        </p:nvSpPr>
        <p:spPr>
          <a:xfrm>
            <a:off x="6675120" y="3264408"/>
            <a:ext cx="8485632" cy="841248"/>
          </a:xfrm>
          <a:prstGeom prst="rect">
            <a:avLst/>
          </a:prstGeom>
          <a:noFill/>
          <a:ln/>
        </p:spPr>
        <p:txBody>
          <a:bodyPr wrap="square" lIns="0" tIns="0" rIns="0" bIns="0" rtlCol="0" anchor="ctr"/>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Sign every build with Ed25519 inside GitHub Actions, so no manual export, upload or metadata step can produce an unsigned or mismatched release.</a:t>
            </a:r>
            <a:endParaRPr lang="en-US" sz="1500" dirty="0"/>
          </a:p>
        </p:txBody>
      </p:sp>
      <p:sp>
        <p:nvSpPr>
          <p:cNvPr id="18" name="card-93"/>
          <p:cNvSpPr/>
          <p:nvPr/>
        </p:nvSpPr>
        <p:spPr>
          <a:xfrm>
            <a:off x="731520" y="4425696"/>
            <a:ext cx="14794992" cy="1115568"/>
          </a:xfrm>
          <a:prstGeom prst="roundRect">
            <a:avLst>
              <a:gd name="adj" fmla="val 9836"/>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19" name="num-94"/>
          <p:cNvSpPr/>
          <p:nvPr/>
        </p:nvSpPr>
        <p:spPr>
          <a:xfrm>
            <a:off x="1051560" y="4709160"/>
            <a:ext cx="548640" cy="548640"/>
          </a:xfrm>
          <a:prstGeom prst="ellipse">
            <a:avLst/>
          </a:prstGeom>
          <a:solidFill>
            <a:srgbClr val="FFFFFF"/>
          </a:solidFill>
          <a:ln w="19050">
            <a:solidFill>
              <a:srgbClr val="0E7490"/>
            </a:solidFill>
            <a:prstDash val="solid"/>
          </a:ln>
        </p:spPr>
      </p:sp>
      <p:sp>
        <p:nvSpPr>
          <p:cNvPr id="20" name="text-95"/>
          <p:cNvSpPr txBox="1"/>
          <p:nvPr/>
        </p:nvSpPr>
        <p:spPr>
          <a:xfrm>
            <a:off x="1051560" y="4709160"/>
            <a:ext cx="548640" cy="548640"/>
          </a:xfrm>
          <a:prstGeom prst="rect">
            <a:avLst/>
          </a:prstGeom>
          <a:noFill/>
          <a:ln/>
        </p:spPr>
        <p:txBody>
          <a:bodyPr wrap="square" lIns="0" tIns="0" rIns="0" bIns="0" rtlCol="0" anchor="ctr"/>
          <a:lstStyle/>
          <a:p>
            <a:pPr algn="ctr" indent="0" marL="0">
              <a:lnSpc>
                <a:spcPct val="105000"/>
              </a:lnSpc>
              <a:buNone/>
            </a:pPr>
            <a:r>
              <a:rPr lang="en-US" sz="1600" b="1" dirty="0">
                <a:solidFill>
                  <a:srgbClr val="0E7490"/>
                </a:solidFill>
                <a:latin typeface="Cambria" pitchFamily="34" charset="0"/>
                <a:ea typeface="Cambria" pitchFamily="34" charset="-122"/>
                <a:cs typeface="Cambria" pitchFamily="34" charset="-120"/>
              </a:rPr>
              <a:t>3</a:t>
            </a:r>
            <a:endParaRPr lang="en-US" sz="1600" dirty="0"/>
          </a:p>
        </p:txBody>
      </p:sp>
      <p:sp>
        <p:nvSpPr>
          <p:cNvPr id="21" name="iconbg-96"/>
          <p:cNvSpPr/>
          <p:nvPr/>
        </p:nvSpPr>
        <p:spPr>
          <a:xfrm>
            <a:off x="1828800" y="4663440"/>
            <a:ext cx="640080" cy="640080"/>
          </a:xfrm>
          <a:prstGeom prst="ellipse">
            <a:avLst/>
          </a:prstGeom>
          <a:solidFill>
            <a:srgbClr val="E8F5EF"/>
          </a:solidFill>
          <a:ln w="15875">
            <a:solidFill>
              <a:srgbClr val="067A55"/>
            </a:solidFill>
            <a:prstDash val="solid"/>
          </a:ln>
        </p:spPr>
      </p:sp>
      <p:pic>
        <p:nvPicPr>
          <p:cNvPr id="22" name="icon-97" descr="preencoded.png">    </p:cNvPr>
          <p:cNvPicPr>
            <a:picLocks noChangeAspect="1"/>
          </p:cNvPicPr>
          <p:nvPr/>
        </p:nvPicPr>
        <p:blipFill>
          <a:blip r:embed="rId3"/>
          <a:stretch>
            <a:fillRect/>
          </a:stretch>
        </p:blipFill>
        <p:spPr>
          <a:xfrm>
            <a:off x="1995221" y="4829861"/>
            <a:ext cx="307238" cy="307238"/>
          </a:xfrm>
          <a:prstGeom prst="rect">
            <a:avLst/>
          </a:prstGeom>
        </p:spPr>
      </p:pic>
      <p:sp>
        <p:nvSpPr>
          <p:cNvPr id="23" name="text-98"/>
          <p:cNvSpPr txBox="1"/>
          <p:nvPr/>
        </p:nvSpPr>
        <p:spPr>
          <a:xfrm>
            <a:off x="2743200" y="4608576"/>
            <a:ext cx="3840480" cy="731520"/>
          </a:xfrm>
          <a:prstGeom prst="rect">
            <a:avLst/>
          </a:prstGeom>
          <a:noFill/>
          <a:ln/>
        </p:spPr>
        <p:txBody>
          <a:bodyPr wrap="square" lIns="0" tIns="0" rIns="0" bIns="0" rtlCol="0" anchor="ctr"/>
          <a:lstStyle/>
          <a:p>
            <a:pPr algn="l" indent="0" marL="0">
              <a:lnSpc>
                <a:spcPct val="105000"/>
              </a:lnSpc>
              <a:buNone/>
            </a:pPr>
            <a:r>
              <a:rPr lang="en-US" sz="1900" b="1" dirty="0">
                <a:solidFill>
                  <a:srgbClr val="0D1B2A"/>
                </a:solidFill>
                <a:latin typeface="Cambria" pitchFamily="34" charset="0"/>
                <a:ea typeface="Cambria" pitchFamily="34" charset="-122"/>
                <a:cs typeface="Cambria" pitchFamily="34" charset="-120"/>
              </a:rPr>
              <a:t>Cheap early rejection</a:t>
            </a:r>
            <a:endParaRPr lang="en-US" sz="1900" dirty="0"/>
          </a:p>
        </p:txBody>
      </p:sp>
      <p:sp>
        <p:nvSpPr>
          <p:cNvPr id="24" name="text-99"/>
          <p:cNvSpPr txBox="1"/>
          <p:nvPr/>
        </p:nvSpPr>
        <p:spPr>
          <a:xfrm>
            <a:off x="6675120" y="4562856"/>
            <a:ext cx="8485632" cy="841248"/>
          </a:xfrm>
          <a:prstGeom prst="rect">
            <a:avLst/>
          </a:prstGeom>
          <a:noFill/>
          <a:ln/>
        </p:spPr>
        <p:txBody>
          <a:bodyPr wrap="square" lIns="0" tIns="0" rIns="0" bIns="0" rtlCol="0" anchor="ctr"/>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Order five verification gates by rejection probability per millisecond, so most invalid packages are dropped before the signature check.</a:t>
            </a:r>
            <a:endParaRPr lang="en-US" sz="1500" dirty="0"/>
          </a:p>
        </p:txBody>
      </p:sp>
      <p:sp>
        <p:nvSpPr>
          <p:cNvPr id="25" name="card-100"/>
          <p:cNvSpPr/>
          <p:nvPr/>
        </p:nvSpPr>
        <p:spPr>
          <a:xfrm>
            <a:off x="731520" y="5724144"/>
            <a:ext cx="14794992" cy="1115568"/>
          </a:xfrm>
          <a:prstGeom prst="roundRect">
            <a:avLst>
              <a:gd name="adj" fmla="val 9836"/>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26" name="num-101"/>
          <p:cNvSpPr/>
          <p:nvPr/>
        </p:nvSpPr>
        <p:spPr>
          <a:xfrm>
            <a:off x="1051560" y="6007608"/>
            <a:ext cx="548640" cy="548640"/>
          </a:xfrm>
          <a:prstGeom prst="ellipse">
            <a:avLst/>
          </a:prstGeom>
          <a:solidFill>
            <a:srgbClr val="FFFFFF"/>
          </a:solidFill>
          <a:ln w="19050">
            <a:solidFill>
              <a:srgbClr val="0E7490"/>
            </a:solidFill>
            <a:prstDash val="solid"/>
          </a:ln>
        </p:spPr>
      </p:sp>
      <p:sp>
        <p:nvSpPr>
          <p:cNvPr id="27" name="text-102"/>
          <p:cNvSpPr txBox="1"/>
          <p:nvPr/>
        </p:nvSpPr>
        <p:spPr>
          <a:xfrm>
            <a:off x="1051560" y="6007608"/>
            <a:ext cx="548640" cy="548640"/>
          </a:xfrm>
          <a:prstGeom prst="rect">
            <a:avLst/>
          </a:prstGeom>
          <a:noFill/>
          <a:ln/>
        </p:spPr>
        <p:txBody>
          <a:bodyPr wrap="square" lIns="0" tIns="0" rIns="0" bIns="0" rtlCol="0" anchor="ctr"/>
          <a:lstStyle/>
          <a:p>
            <a:pPr algn="ctr" indent="0" marL="0">
              <a:lnSpc>
                <a:spcPct val="105000"/>
              </a:lnSpc>
              <a:buNone/>
            </a:pPr>
            <a:r>
              <a:rPr lang="en-US" sz="1600" b="1" dirty="0">
                <a:solidFill>
                  <a:srgbClr val="0E7490"/>
                </a:solidFill>
                <a:latin typeface="Cambria" pitchFamily="34" charset="0"/>
                <a:ea typeface="Cambria" pitchFamily="34" charset="-122"/>
                <a:cs typeface="Cambria" pitchFamily="34" charset="-120"/>
              </a:rPr>
              <a:t>4</a:t>
            </a:r>
            <a:endParaRPr lang="en-US" sz="1600" dirty="0"/>
          </a:p>
        </p:txBody>
      </p:sp>
      <p:sp>
        <p:nvSpPr>
          <p:cNvPr id="28" name="iconbg-103"/>
          <p:cNvSpPr/>
          <p:nvPr/>
        </p:nvSpPr>
        <p:spPr>
          <a:xfrm>
            <a:off x="1828800" y="5961888"/>
            <a:ext cx="640080" cy="640080"/>
          </a:xfrm>
          <a:prstGeom prst="ellipse">
            <a:avLst/>
          </a:prstGeom>
          <a:solidFill>
            <a:srgbClr val="E8F5EF"/>
          </a:solidFill>
          <a:ln w="15875">
            <a:solidFill>
              <a:srgbClr val="067A55"/>
            </a:solidFill>
            <a:prstDash val="solid"/>
          </a:ln>
        </p:spPr>
      </p:sp>
      <p:pic>
        <p:nvPicPr>
          <p:cNvPr id="29" name="icon-104" descr="preencoded.png">    </p:cNvPr>
          <p:cNvPicPr>
            <a:picLocks noChangeAspect="1"/>
          </p:cNvPicPr>
          <p:nvPr/>
        </p:nvPicPr>
        <p:blipFill>
          <a:blip r:embed="rId4"/>
          <a:stretch>
            <a:fillRect/>
          </a:stretch>
        </p:blipFill>
        <p:spPr>
          <a:xfrm>
            <a:off x="1995221" y="6128309"/>
            <a:ext cx="307238" cy="307238"/>
          </a:xfrm>
          <a:prstGeom prst="rect">
            <a:avLst/>
          </a:prstGeom>
        </p:spPr>
      </p:pic>
      <p:sp>
        <p:nvSpPr>
          <p:cNvPr id="30" name="text-105"/>
          <p:cNvSpPr txBox="1"/>
          <p:nvPr/>
        </p:nvSpPr>
        <p:spPr>
          <a:xfrm>
            <a:off x="2743200" y="5907024"/>
            <a:ext cx="3840480" cy="731520"/>
          </a:xfrm>
          <a:prstGeom prst="rect">
            <a:avLst/>
          </a:prstGeom>
          <a:noFill/>
          <a:ln/>
        </p:spPr>
        <p:txBody>
          <a:bodyPr wrap="square" lIns="0" tIns="0" rIns="0" bIns="0" rtlCol="0" anchor="ctr"/>
          <a:lstStyle/>
          <a:p>
            <a:pPr algn="l" indent="0" marL="0">
              <a:lnSpc>
                <a:spcPct val="105000"/>
              </a:lnSpc>
              <a:buNone/>
            </a:pPr>
            <a:r>
              <a:rPr lang="en-US" sz="1900" b="1" dirty="0">
                <a:solidFill>
                  <a:srgbClr val="0D1B2A"/>
                </a:solidFill>
                <a:latin typeface="Cambria" pitchFamily="34" charset="0"/>
                <a:ea typeface="Cambria" pitchFamily="34" charset="-122"/>
                <a:cs typeface="Cambria" pitchFamily="34" charset="-120"/>
              </a:rPr>
              <a:t>Safe install and recovery</a:t>
            </a:r>
            <a:endParaRPr lang="en-US" sz="1900" dirty="0"/>
          </a:p>
        </p:txBody>
      </p:sp>
      <p:sp>
        <p:nvSpPr>
          <p:cNvPr id="31" name="text-106"/>
          <p:cNvSpPr txBox="1"/>
          <p:nvPr/>
        </p:nvSpPr>
        <p:spPr>
          <a:xfrm>
            <a:off x="6675120" y="5861304"/>
            <a:ext cx="8485632" cy="841248"/>
          </a:xfrm>
          <a:prstGeom prst="rect">
            <a:avLst/>
          </a:prstGeom>
          <a:noFill/>
          <a:ln/>
        </p:spPr>
        <p:txBody>
          <a:bodyPr wrap="square" lIns="0" tIns="0" rIns="0" bIns="0" rtlCol="0" anchor="ctr"/>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Check compatibility before release, self-test after boot, roll back on failure and quarantine devices whose health score falls too low.</a:t>
            </a:r>
            <a:endParaRPr lang="en-US" sz="1500" dirty="0"/>
          </a:p>
        </p:txBody>
      </p:sp>
      <p:sp>
        <p:nvSpPr>
          <p:cNvPr id="32" name="card-107"/>
          <p:cNvSpPr/>
          <p:nvPr/>
        </p:nvSpPr>
        <p:spPr>
          <a:xfrm>
            <a:off x="731520" y="7022592"/>
            <a:ext cx="14794992" cy="1115568"/>
          </a:xfrm>
          <a:prstGeom prst="roundRect">
            <a:avLst>
              <a:gd name="adj" fmla="val 9836"/>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33" name="num-108"/>
          <p:cNvSpPr/>
          <p:nvPr/>
        </p:nvSpPr>
        <p:spPr>
          <a:xfrm>
            <a:off x="1051560" y="7306056"/>
            <a:ext cx="548640" cy="548640"/>
          </a:xfrm>
          <a:prstGeom prst="ellipse">
            <a:avLst/>
          </a:prstGeom>
          <a:solidFill>
            <a:srgbClr val="FFFFFF"/>
          </a:solidFill>
          <a:ln w="19050">
            <a:solidFill>
              <a:srgbClr val="0E7490"/>
            </a:solidFill>
            <a:prstDash val="solid"/>
          </a:ln>
        </p:spPr>
      </p:sp>
      <p:sp>
        <p:nvSpPr>
          <p:cNvPr id="34" name="text-109"/>
          <p:cNvSpPr txBox="1"/>
          <p:nvPr/>
        </p:nvSpPr>
        <p:spPr>
          <a:xfrm>
            <a:off x="1051560" y="7306056"/>
            <a:ext cx="548640" cy="548640"/>
          </a:xfrm>
          <a:prstGeom prst="rect">
            <a:avLst/>
          </a:prstGeom>
          <a:noFill/>
          <a:ln/>
        </p:spPr>
        <p:txBody>
          <a:bodyPr wrap="square" lIns="0" tIns="0" rIns="0" bIns="0" rtlCol="0" anchor="ctr"/>
          <a:lstStyle/>
          <a:p>
            <a:pPr algn="ctr" indent="0" marL="0">
              <a:lnSpc>
                <a:spcPct val="105000"/>
              </a:lnSpc>
              <a:buNone/>
            </a:pPr>
            <a:r>
              <a:rPr lang="en-US" sz="1600" b="1" dirty="0">
                <a:solidFill>
                  <a:srgbClr val="0E7490"/>
                </a:solidFill>
                <a:latin typeface="Cambria" pitchFamily="34" charset="0"/>
                <a:ea typeface="Cambria" pitchFamily="34" charset="-122"/>
                <a:cs typeface="Cambria" pitchFamily="34" charset="-120"/>
              </a:rPr>
              <a:t>5</a:t>
            </a:r>
            <a:endParaRPr lang="en-US" sz="1600" dirty="0"/>
          </a:p>
        </p:txBody>
      </p:sp>
      <p:sp>
        <p:nvSpPr>
          <p:cNvPr id="35" name="iconbg-110"/>
          <p:cNvSpPr/>
          <p:nvPr/>
        </p:nvSpPr>
        <p:spPr>
          <a:xfrm>
            <a:off x="1828800" y="7260336"/>
            <a:ext cx="640080" cy="640080"/>
          </a:xfrm>
          <a:prstGeom prst="ellipse">
            <a:avLst/>
          </a:prstGeom>
          <a:solidFill>
            <a:srgbClr val="E8F5EF"/>
          </a:solidFill>
          <a:ln w="15875">
            <a:solidFill>
              <a:srgbClr val="067A55"/>
            </a:solidFill>
            <a:prstDash val="solid"/>
          </a:ln>
        </p:spPr>
      </p:sp>
      <p:pic>
        <p:nvPicPr>
          <p:cNvPr id="36" name="icon-111" descr="preencoded.png">    </p:cNvPr>
          <p:cNvPicPr>
            <a:picLocks noChangeAspect="1"/>
          </p:cNvPicPr>
          <p:nvPr/>
        </p:nvPicPr>
        <p:blipFill>
          <a:blip r:embed="rId5"/>
          <a:stretch>
            <a:fillRect/>
          </a:stretch>
        </p:blipFill>
        <p:spPr>
          <a:xfrm>
            <a:off x="1995221" y="7426757"/>
            <a:ext cx="307238" cy="307238"/>
          </a:xfrm>
          <a:prstGeom prst="rect">
            <a:avLst/>
          </a:prstGeom>
        </p:spPr>
      </p:pic>
      <p:sp>
        <p:nvSpPr>
          <p:cNvPr id="37" name="text-112"/>
          <p:cNvSpPr txBox="1"/>
          <p:nvPr/>
        </p:nvSpPr>
        <p:spPr>
          <a:xfrm>
            <a:off x="2743200" y="7205472"/>
            <a:ext cx="3840480" cy="731520"/>
          </a:xfrm>
          <a:prstGeom prst="rect">
            <a:avLst/>
          </a:prstGeom>
          <a:noFill/>
          <a:ln/>
        </p:spPr>
        <p:txBody>
          <a:bodyPr wrap="square" lIns="0" tIns="0" rIns="0" bIns="0" rtlCol="0" anchor="ctr"/>
          <a:lstStyle/>
          <a:p>
            <a:pPr algn="l" indent="0" marL="0">
              <a:lnSpc>
                <a:spcPct val="105000"/>
              </a:lnSpc>
              <a:buNone/>
            </a:pPr>
            <a:r>
              <a:rPr lang="en-US" sz="1900" b="1" dirty="0">
                <a:solidFill>
                  <a:srgbClr val="0D1B2A"/>
                </a:solidFill>
                <a:latin typeface="Cambria" pitchFamily="34" charset="0"/>
                <a:ea typeface="Cambria" pitchFamily="34" charset="-122"/>
                <a:cs typeface="Cambria" pitchFamily="34" charset="-120"/>
              </a:rPr>
              <a:t>Live fleet visibility</a:t>
            </a:r>
            <a:endParaRPr lang="en-US" sz="1900" dirty="0"/>
          </a:p>
        </p:txBody>
      </p:sp>
      <p:sp>
        <p:nvSpPr>
          <p:cNvPr id="38" name="text-113"/>
          <p:cNvSpPr txBox="1"/>
          <p:nvPr/>
        </p:nvSpPr>
        <p:spPr>
          <a:xfrm>
            <a:off x="6675120" y="7159752"/>
            <a:ext cx="8485632" cy="841248"/>
          </a:xfrm>
          <a:prstGeom prst="rect">
            <a:avLst/>
          </a:prstGeom>
          <a:noFill/>
          <a:ln/>
        </p:spPr>
        <p:txBody>
          <a:bodyPr wrap="square" lIns="0" tIns="0" rIns="0" bIns="0" rtlCol="0" anchor="ctr"/>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Show each device's verified firmware version and state on a dashboard within 2 seconds of a change.</a:t>
            </a:r>
            <a:endParaRPr lang="en-US" sz="15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Hardware and Software Specification</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Four microcontroller families, one toolchain per layer</a:t>
            </a:r>
            <a:endParaRPr lang="en-US" sz="1600" dirty="0"/>
          </a:p>
        </p:txBody>
      </p:sp>
      <p:sp>
        <p:nvSpPr>
          <p:cNvPr id="4" name="text-114"/>
          <p:cNvSpPr txBox="1"/>
          <p:nvPr/>
        </p:nvSpPr>
        <p:spPr>
          <a:xfrm>
            <a:off x="731520" y="1783080"/>
            <a:ext cx="5486400" cy="274320"/>
          </a:xfrm>
          <a:prstGeom prst="rect">
            <a:avLst/>
          </a:prstGeom>
          <a:noFill/>
          <a:ln/>
        </p:spPr>
        <p:txBody>
          <a:bodyPr wrap="square" lIns="0" tIns="0" rIns="0" bIns="0" rtlCol="0" anchor="t"/>
          <a:lstStyle/>
          <a:p>
            <a:pPr algn="l" indent="0" marL="0">
              <a:lnSpc>
                <a:spcPct val="100000"/>
              </a:lnSpc>
              <a:buNone/>
            </a:pPr>
            <a:r>
              <a:rPr lang="en-US" sz="1100" b="1" dirty="0">
                <a:solidFill>
                  <a:srgbClr val="0E7490"/>
                </a:solidFill>
                <a:latin typeface="Calibri" pitchFamily="34" charset="0"/>
                <a:ea typeface="Calibri" pitchFamily="34" charset="-122"/>
                <a:cs typeface="Calibri" pitchFamily="34" charset="-120"/>
              </a:rPr>
              <a:t>TARGET HARDWARE</a:t>
            </a:r>
            <a:endParaRPr lang="en-US" sz="1100" dirty="0"/>
          </a:p>
        </p:txBody>
      </p:sp>
      <p:sp>
        <p:nvSpPr>
          <p:cNvPr id="5" name="card-115"/>
          <p:cNvSpPr/>
          <p:nvPr/>
        </p:nvSpPr>
        <p:spPr>
          <a:xfrm>
            <a:off x="731520" y="2148840"/>
            <a:ext cx="3611880" cy="2834640"/>
          </a:xfrm>
          <a:prstGeom prst="roundRect">
            <a:avLst>
              <a:gd name="adj" fmla="val 3871"/>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6" name="iconbg-116"/>
          <p:cNvSpPr/>
          <p:nvPr/>
        </p:nvSpPr>
        <p:spPr>
          <a:xfrm>
            <a:off x="1005840" y="2423160"/>
            <a:ext cx="685800" cy="685800"/>
          </a:xfrm>
          <a:prstGeom prst="ellipse">
            <a:avLst/>
          </a:prstGeom>
          <a:solidFill>
            <a:srgbClr val="E8F3F6"/>
          </a:solidFill>
          <a:ln w="15875">
            <a:solidFill>
              <a:srgbClr val="0E7490"/>
            </a:solidFill>
            <a:prstDash val="solid"/>
          </a:ln>
        </p:spPr>
      </p:sp>
      <p:pic>
        <p:nvPicPr>
          <p:cNvPr id="7" name="icon-117" descr="preencoded.png">    </p:cNvPr>
          <p:cNvPicPr>
            <a:picLocks noChangeAspect="1"/>
          </p:cNvPicPr>
          <p:nvPr/>
        </p:nvPicPr>
        <p:blipFill>
          <a:blip r:embed="rId1"/>
          <a:stretch>
            <a:fillRect/>
          </a:stretch>
        </p:blipFill>
        <p:spPr>
          <a:xfrm>
            <a:off x="1184148" y="2601468"/>
            <a:ext cx="329184" cy="329184"/>
          </a:xfrm>
          <a:prstGeom prst="rect">
            <a:avLst/>
          </a:prstGeom>
        </p:spPr>
      </p:pic>
      <p:sp>
        <p:nvSpPr>
          <p:cNvPr id="8" name="text-118"/>
          <p:cNvSpPr txBox="1"/>
          <p:nvPr/>
        </p:nvSpPr>
        <p:spPr>
          <a:xfrm>
            <a:off x="1874520" y="2496312"/>
            <a:ext cx="2377440" cy="548640"/>
          </a:xfrm>
          <a:prstGeom prst="rect">
            <a:avLst/>
          </a:prstGeom>
          <a:noFill/>
          <a:ln/>
        </p:spPr>
        <p:txBody>
          <a:bodyPr wrap="square" lIns="0" tIns="0" rIns="0" bIns="0" rtlCol="0" anchor="ctr"/>
          <a:lstStyle/>
          <a:p>
            <a:pPr algn="l" indent="0" marL="0">
              <a:lnSpc>
                <a:spcPct val="105000"/>
              </a:lnSpc>
              <a:buNone/>
            </a:pPr>
            <a:r>
              <a:rPr lang="en-US" sz="2000" b="1" dirty="0">
                <a:solidFill>
                  <a:srgbClr val="0D1B2A"/>
                </a:solidFill>
                <a:latin typeface="Cambria" pitchFamily="34" charset="0"/>
                <a:ea typeface="Cambria" pitchFamily="34" charset="-122"/>
                <a:cs typeface="Cambria" pitchFamily="34" charset="-120"/>
              </a:rPr>
              <a:t>ESP32</a:t>
            </a:r>
            <a:endParaRPr lang="en-US" sz="2000" dirty="0"/>
          </a:p>
        </p:txBody>
      </p:sp>
      <p:sp>
        <p:nvSpPr>
          <p:cNvPr id="9" name="text-119"/>
          <p:cNvSpPr txBox="1"/>
          <p:nvPr/>
        </p:nvSpPr>
        <p:spPr>
          <a:xfrm>
            <a:off x="1005840" y="3291840"/>
            <a:ext cx="3108960" cy="365760"/>
          </a:xfrm>
          <a:prstGeom prst="rect">
            <a:avLst/>
          </a:prstGeom>
          <a:noFill/>
          <a:ln/>
        </p:spPr>
        <p:txBody>
          <a:bodyPr wrap="square" lIns="0" tIns="0" rIns="0" bIns="0" rtlCol="0" anchor="t"/>
          <a:lstStyle/>
          <a:p>
            <a:pPr algn="l" indent="0" marL="0">
              <a:lnSpc>
                <a:spcPct val="105000"/>
              </a:lnSpc>
              <a:buNone/>
            </a:pPr>
            <a:r>
              <a:rPr lang="en-US" sz="1400" b="1" dirty="0">
                <a:solidFill>
                  <a:srgbClr val="33475B"/>
                </a:solidFill>
                <a:latin typeface="Calibri" pitchFamily="34" charset="0"/>
                <a:ea typeface="Calibri" pitchFamily="34" charset="-122"/>
                <a:cs typeface="Calibri" pitchFamily="34" charset="-120"/>
              </a:rPr>
              <a:t>Dual-core Xtensa LX6, 240 MHz</a:t>
            </a:r>
            <a:endParaRPr lang="en-US" sz="1400" dirty="0"/>
          </a:p>
        </p:txBody>
      </p:sp>
      <p:sp>
        <p:nvSpPr>
          <p:cNvPr id="10" name="text-120"/>
          <p:cNvSpPr txBox="1"/>
          <p:nvPr/>
        </p:nvSpPr>
        <p:spPr>
          <a:xfrm>
            <a:off x="1005840" y="3657600"/>
            <a:ext cx="3108960" cy="365760"/>
          </a:xfrm>
          <a:prstGeom prst="rect">
            <a:avLst/>
          </a:prstGeom>
          <a:noFill/>
          <a:ln/>
        </p:spPr>
        <p:txBody>
          <a:bodyPr wrap="square" lIns="0" tIns="0" rIns="0" bIns="0" rtlCol="0" anchor="t"/>
          <a:lstStyle/>
          <a:p>
            <a:pPr algn="l" indent="0" marL="0">
              <a:lnSpc>
                <a:spcPct val="105000"/>
              </a:lnSpc>
              <a:buNone/>
            </a:pPr>
            <a:r>
              <a:rPr lang="en-US" sz="1400" dirty="0">
                <a:solidFill>
                  <a:srgbClr val="33475B"/>
                </a:solidFill>
                <a:latin typeface="Calibri" pitchFamily="34" charset="0"/>
                <a:ea typeface="Calibri" pitchFamily="34" charset="-122"/>
                <a:cs typeface="Calibri" pitchFamily="34" charset="-120"/>
              </a:rPr>
              <a:t>520 KB SRAM  |  4 MB flash</a:t>
            </a:r>
            <a:endParaRPr lang="en-US" sz="1400" dirty="0"/>
          </a:p>
        </p:txBody>
      </p:sp>
      <p:sp>
        <p:nvSpPr>
          <p:cNvPr id="11" name="text-121"/>
          <p:cNvSpPr txBox="1"/>
          <p:nvPr/>
        </p:nvSpPr>
        <p:spPr>
          <a:xfrm>
            <a:off x="1005840" y="4114800"/>
            <a:ext cx="3108960" cy="731520"/>
          </a:xfrm>
          <a:prstGeom prst="rect">
            <a:avLst/>
          </a:prstGeom>
          <a:noFill/>
          <a:ln/>
        </p:spPr>
        <p:txBody>
          <a:bodyPr wrap="square" lIns="0" tIns="0" rIns="0" bIns="0" rtlCol="0" anchor="t"/>
          <a:lstStyle/>
          <a:p>
            <a:pPr algn="l" indent="0" marL="0">
              <a:lnSpc>
                <a:spcPct val="105000"/>
              </a:lnSpc>
              <a:buNone/>
            </a:pPr>
            <a:r>
              <a:rPr lang="en-US" sz="1300" i="1" dirty="0">
                <a:solidFill>
                  <a:srgbClr val="6B7D91"/>
                </a:solidFill>
                <a:latin typeface="Calibri" pitchFamily="34" charset="0"/>
                <a:ea typeface="Calibri" pitchFamily="34" charset="-122"/>
                <a:cs typeface="Calibri" pitchFamily="34" charset="-120"/>
              </a:rPr>
              <a:t>Full pipeline, dual OTA partitions; main demo board</a:t>
            </a:r>
            <a:endParaRPr lang="en-US" sz="1300" dirty="0"/>
          </a:p>
        </p:txBody>
      </p:sp>
      <p:sp>
        <p:nvSpPr>
          <p:cNvPr id="12" name="card-122"/>
          <p:cNvSpPr/>
          <p:nvPr/>
        </p:nvSpPr>
        <p:spPr>
          <a:xfrm>
            <a:off x="4526280" y="2148840"/>
            <a:ext cx="3611880" cy="2834640"/>
          </a:xfrm>
          <a:prstGeom prst="roundRect">
            <a:avLst>
              <a:gd name="adj" fmla="val 3871"/>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13" name="iconbg-123"/>
          <p:cNvSpPr/>
          <p:nvPr/>
        </p:nvSpPr>
        <p:spPr>
          <a:xfrm>
            <a:off x="4800600" y="2423160"/>
            <a:ext cx="685800" cy="685800"/>
          </a:xfrm>
          <a:prstGeom prst="ellipse">
            <a:avLst/>
          </a:prstGeom>
          <a:solidFill>
            <a:srgbClr val="E8F3F6"/>
          </a:solidFill>
          <a:ln w="15875">
            <a:solidFill>
              <a:srgbClr val="0E7490"/>
            </a:solidFill>
            <a:prstDash val="solid"/>
          </a:ln>
        </p:spPr>
      </p:sp>
      <p:pic>
        <p:nvPicPr>
          <p:cNvPr id="14" name="icon-124" descr="preencoded.png">    </p:cNvPr>
          <p:cNvPicPr>
            <a:picLocks noChangeAspect="1"/>
          </p:cNvPicPr>
          <p:nvPr/>
        </p:nvPicPr>
        <p:blipFill>
          <a:blip r:embed="rId2"/>
          <a:stretch>
            <a:fillRect/>
          </a:stretch>
        </p:blipFill>
        <p:spPr>
          <a:xfrm>
            <a:off x="4978908" y="2601468"/>
            <a:ext cx="329184" cy="329184"/>
          </a:xfrm>
          <a:prstGeom prst="rect">
            <a:avLst/>
          </a:prstGeom>
        </p:spPr>
      </p:pic>
      <p:sp>
        <p:nvSpPr>
          <p:cNvPr id="15" name="text-125"/>
          <p:cNvSpPr txBox="1"/>
          <p:nvPr/>
        </p:nvSpPr>
        <p:spPr>
          <a:xfrm>
            <a:off x="5669280" y="2496312"/>
            <a:ext cx="2377440" cy="548640"/>
          </a:xfrm>
          <a:prstGeom prst="rect">
            <a:avLst/>
          </a:prstGeom>
          <a:noFill/>
          <a:ln/>
        </p:spPr>
        <p:txBody>
          <a:bodyPr wrap="square" lIns="0" tIns="0" rIns="0" bIns="0" rtlCol="0" anchor="ctr"/>
          <a:lstStyle/>
          <a:p>
            <a:pPr algn="l" indent="0" marL="0">
              <a:lnSpc>
                <a:spcPct val="105000"/>
              </a:lnSpc>
              <a:buNone/>
            </a:pPr>
            <a:r>
              <a:rPr lang="en-US" sz="2000" b="1" dirty="0">
                <a:solidFill>
                  <a:srgbClr val="0D1B2A"/>
                </a:solidFill>
                <a:latin typeface="Cambria" pitchFamily="34" charset="0"/>
                <a:ea typeface="Cambria" pitchFamily="34" charset="-122"/>
                <a:cs typeface="Cambria" pitchFamily="34" charset="-120"/>
              </a:rPr>
              <a:t>ESP8266</a:t>
            </a:r>
            <a:endParaRPr lang="en-US" sz="2000" dirty="0"/>
          </a:p>
        </p:txBody>
      </p:sp>
      <p:sp>
        <p:nvSpPr>
          <p:cNvPr id="16" name="text-126"/>
          <p:cNvSpPr txBox="1"/>
          <p:nvPr/>
        </p:nvSpPr>
        <p:spPr>
          <a:xfrm>
            <a:off x="4800600" y="3291840"/>
            <a:ext cx="3108960" cy="365760"/>
          </a:xfrm>
          <a:prstGeom prst="rect">
            <a:avLst/>
          </a:prstGeom>
          <a:noFill/>
          <a:ln/>
        </p:spPr>
        <p:txBody>
          <a:bodyPr wrap="square" lIns="0" tIns="0" rIns="0" bIns="0" rtlCol="0" anchor="t"/>
          <a:lstStyle/>
          <a:p>
            <a:pPr algn="l" indent="0" marL="0">
              <a:lnSpc>
                <a:spcPct val="105000"/>
              </a:lnSpc>
              <a:buNone/>
            </a:pPr>
            <a:r>
              <a:rPr lang="en-US" sz="1400" b="1" dirty="0">
                <a:solidFill>
                  <a:srgbClr val="33475B"/>
                </a:solidFill>
                <a:latin typeface="Calibri" pitchFamily="34" charset="0"/>
                <a:ea typeface="Calibri" pitchFamily="34" charset="-122"/>
                <a:cs typeface="Calibri" pitchFamily="34" charset="-120"/>
              </a:rPr>
              <a:t>Xtensa L106, 80 MHz</a:t>
            </a:r>
            <a:endParaRPr lang="en-US" sz="1400" dirty="0"/>
          </a:p>
        </p:txBody>
      </p:sp>
      <p:sp>
        <p:nvSpPr>
          <p:cNvPr id="17" name="text-127"/>
          <p:cNvSpPr txBox="1"/>
          <p:nvPr/>
        </p:nvSpPr>
        <p:spPr>
          <a:xfrm>
            <a:off x="4800600" y="3657600"/>
            <a:ext cx="3108960" cy="365760"/>
          </a:xfrm>
          <a:prstGeom prst="rect">
            <a:avLst/>
          </a:prstGeom>
          <a:noFill/>
          <a:ln/>
        </p:spPr>
        <p:txBody>
          <a:bodyPr wrap="square" lIns="0" tIns="0" rIns="0" bIns="0" rtlCol="0" anchor="t"/>
          <a:lstStyle/>
          <a:p>
            <a:pPr algn="l" indent="0" marL="0">
              <a:lnSpc>
                <a:spcPct val="105000"/>
              </a:lnSpc>
              <a:buNone/>
            </a:pPr>
            <a:r>
              <a:rPr lang="en-US" sz="1400" dirty="0">
                <a:solidFill>
                  <a:srgbClr val="33475B"/>
                </a:solidFill>
                <a:latin typeface="Calibri" pitchFamily="34" charset="0"/>
                <a:ea typeface="Calibri" pitchFamily="34" charset="-122"/>
                <a:cs typeface="Calibri" pitchFamily="34" charset="-120"/>
              </a:rPr>
              <a:t>about 80 KB user RAM  |  up to 4 MB flash</a:t>
            </a:r>
            <a:endParaRPr lang="en-US" sz="1400" dirty="0"/>
          </a:p>
        </p:txBody>
      </p:sp>
      <p:sp>
        <p:nvSpPr>
          <p:cNvPr id="18" name="text-128"/>
          <p:cNvSpPr txBox="1"/>
          <p:nvPr/>
        </p:nvSpPr>
        <p:spPr>
          <a:xfrm>
            <a:off x="4800600" y="4114800"/>
            <a:ext cx="3108960" cy="731520"/>
          </a:xfrm>
          <a:prstGeom prst="rect">
            <a:avLst/>
          </a:prstGeom>
          <a:noFill/>
          <a:ln/>
        </p:spPr>
        <p:txBody>
          <a:bodyPr wrap="square" lIns="0" tIns="0" rIns="0" bIns="0" rtlCol="0" anchor="t"/>
          <a:lstStyle/>
          <a:p>
            <a:pPr algn="l" indent="0" marL="0">
              <a:lnSpc>
                <a:spcPct val="105000"/>
              </a:lnSpc>
              <a:buNone/>
            </a:pPr>
            <a:r>
              <a:rPr lang="en-US" sz="1300" i="1" dirty="0">
                <a:solidFill>
                  <a:srgbClr val="6B7D91"/>
                </a:solidFill>
                <a:latin typeface="Calibri" pitchFamily="34" charset="0"/>
                <a:ea typeface="Calibri" pitchFamily="34" charset="-122"/>
                <a:cs typeface="Calibri" pitchFamily="34" charset="-120"/>
              </a:rPr>
              <a:t>Full five-gate verification</a:t>
            </a:r>
            <a:endParaRPr lang="en-US" sz="1300" dirty="0"/>
          </a:p>
        </p:txBody>
      </p:sp>
      <p:sp>
        <p:nvSpPr>
          <p:cNvPr id="19" name="card-129"/>
          <p:cNvSpPr/>
          <p:nvPr/>
        </p:nvSpPr>
        <p:spPr>
          <a:xfrm>
            <a:off x="731520" y="5212080"/>
            <a:ext cx="3611880" cy="2834640"/>
          </a:xfrm>
          <a:prstGeom prst="roundRect">
            <a:avLst>
              <a:gd name="adj" fmla="val 3871"/>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20" name="iconbg-130"/>
          <p:cNvSpPr/>
          <p:nvPr/>
        </p:nvSpPr>
        <p:spPr>
          <a:xfrm>
            <a:off x="1005840" y="5486400"/>
            <a:ext cx="685800" cy="685800"/>
          </a:xfrm>
          <a:prstGeom prst="ellipse">
            <a:avLst/>
          </a:prstGeom>
          <a:solidFill>
            <a:srgbClr val="E8F3F6"/>
          </a:solidFill>
          <a:ln w="15875">
            <a:solidFill>
              <a:srgbClr val="0E7490"/>
            </a:solidFill>
            <a:prstDash val="solid"/>
          </a:ln>
        </p:spPr>
      </p:sp>
      <p:pic>
        <p:nvPicPr>
          <p:cNvPr id="21" name="icon-131" descr="preencoded.png">    </p:cNvPr>
          <p:cNvPicPr>
            <a:picLocks noChangeAspect="1"/>
          </p:cNvPicPr>
          <p:nvPr/>
        </p:nvPicPr>
        <p:blipFill>
          <a:blip r:embed="rId3"/>
          <a:stretch>
            <a:fillRect/>
          </a:stretch>
        </p:blipFill>
        <p:spPr>
          <a:xfrm>
            <a:off x="1184148" y="5664708"/>
            <a:ext cx="329184" cy="329184"/>
          </a:xfrm>
          <a:prstGeom prst="rect">
            <a:avLst/>
          </a:prstGeom>
        </p:spPr>
      </p:pic>
      <p:sp>
        <p:nvSpPr>
          <p:cNvPr id="22" name="text-132"/>
          <p:cNvSpPr txBox="1"/>
          <p:nvPr/>
        </p:nvSpPr>
        <p:spPr>
          <a:xfrm>
            <a:off x="1874520" y="5559552"/>
            <a:ext cx="2377440" cy="548640"/>
          </a:xfrm>
          <a:prstGeom prst="rect">
            <a:avLst/>
          </a:prstGeom>
          <a:noFill/>
          <a:ln/>
        </p:spPr>
        <p:txBody>
          <a:bodyPr wrap="square" lIns="0" tIns="0" rIns="0" bIns="0" rtlCol="0" anchor="ctr"/>
          <a:lstStyle/>
          <a:p>
            <a:pPr algn="l" indent="0" marL="0">
              <a:lnSpc>
                <a:spcPct val="105000"/>
              </a:lnSpc>
              <a:buNone/>
            </a:pPr>
            <a:r>
              <a:rPr lang="en-US" sz="2000" b="1" dirty="0">
                <a:solidFill>
                  <a:srgbClr val="0D1B2A"/>
                </a:solidFill>
                <a:latin typeface="Cambria" pitchFamily="34" charset="0"/>
                <a:ea typeface="Cambria" pitchFamily="34" charset="-122"/>
                <a:cs typeface="Cambria" pitchFamily="34" charset="-120"/>
              </a:rPr>
              <a:t>ATmega328P</a:t>
            </a:r>
            <a:endParaRPr lang="en-US" sz="2000" dirty="0"/>
          </a:p>
        </p:txBody>
      </p:sp>
      <p:sp>
        <p:nvSpPr>
          <p:cNvPr id="23" name="text-133"/>
          <p:cNvSpPr txBox="1"/>
          <p:nvPr/>
        </p:nvSpPr>
        <p:spPr>
          <a:xfrm>
            <a:off x="1005840" y="6355080"/>
            <a:ext cx="3108960" cy="365760"/>
          </a:xfrm>
          <a:prstGeom prst="rect">
            <a:avLst/>
          </a:prstGeom>
          <a:noFill/>
          <a:ln/>
        </p:spPr>
        <p:txBody>
          <a:bodyPr wrap="square" lIns="0" tIns="0" rIns="0" bIns="0" rtlCol="0" anchor="t"/>
          <a:lstStyle/>
          <a:p>
            <a:pPr algn="l" indent="0" marL="0">
              <a:lnSpc>
                <a:spcPct val="105000"/>
              </a:lnSpc>
              <a:buNone/>
            </a:pPr>
            <a:r>
              <a:rPr lang="en-US" sz="1400" b="1" dirty="0">
                <a:solidFill>
                  <a:srgbClr val="33475B"/>
                </a:solidFill>
                <a:latin typeface="Calibri" pitchFamily="34" charset="0"/>
                <a:ea typeface="Calibri" pitchFamily="34" charset="-122"/>
                <a:cs typeface="Calibri" pitchFamily="34" charset="-120"/>
              </a:rPr>
              <a:t>8-bit AVR, 16 MHz</a:t>
            </a:r>
            <a:endParaRPr lang="en-US" sz="1400" dirty="0"/>
          </a:p>
        </p:txBody>
      </p:sp>
      <p:sp>
        <p:nvSpPr>
          <p:cNvPr id="24" name="text-134"/>
          <p:cNvSpPr txBox="1"/>
          <p:nvPr/>
        </p:nvSpPr>
        <p:spPr>
          <a:xfrm>
            <a:off x="1005840" y="6720840"/>
            <a:ext cx="3108960" cy="365760"/>
          </a:xfrm>
          <a:prstGeom prst="rect">
            <a:avLst/>
          </a:prstGeom>
          <a:noFill/>
          <a:ln/>
        </p:spPr>
        <p:txBody>
          <a:bodyPr wrap="square" lIns="0" tIns="0" rIns="0" bIns="0" rtlCol="0" anchor="t"/>
          <a:lstStyle/>
          <a:p>
            <a:pPr algn="l" indent="0" marL="0">
              <a:lnSpc>
                <a:spcPct val="105000"/>
              </a:lnSpc>
              <a:buNone/>
            </a:pPr>
            <a:r>
              <a:rPr lang="en-US" sz="1400" dirty="0">
                <a:solidFill>
                  <a:srgbClr val="33475B"/>
                </a:solidFill>
                <a:latin typeface="Calibri" pitchFamily="34" charset="0"/>
                <a:ea typeface="Calibri" pitchFamily="34" charset="-122"/>
                <a:cs typeface="Calibri" pitchFamily="34" charset="-120"/>
              </a:rPr>
              <a:t>2 KB SRAM  |  32 KB flash</a:t>
            </a:r>
            <a:endParaRPr lang="en-US" sz="1400" dirty="0"/>
          </a:p>
        </p:txBody>
      </p:sp>
      <p:sp>
        <p:nvSpPr>
          <p:cNvPr id="25" name="text-135"/>
          <p:cNvSpPr txBox="1"/>
          <p:nvPr/>
        </p:nvSpPr>
        <p:spPr>
          <a:xfrm>
            <a:off x="1005840" y="7178040"/>
            <a:ext cx="3108960" cy="731520"/>
          </a:xfrm>
          <a:prstGeom prst="rect">
            <a:avLst/>
          </a:prstGeom>
          <a:noFill/>
          <a:ln/>
        </p:spPr>
        <p:txBody>
          <a:bodyPr wrap="square" lIns="0" tIns="0" rIns="0" bIns="0" rtlCol="0" anchor="t"/>
          <a:lstStyle/>
          <a:p>
            <a:pPr algn="l" indent="0" marL="0">
              <a:lnSpc>
                <a:spcPct val="105000"/>
              </a:lnSpc>
              <a:buNone/>
            </a:pPr>
            <a:r>
              <a:rPr lang="en-US" sz="1300" i="1" dirty="0">
                <a:solidFill>
                  <a:srgbClr val="6B7D91"/>
                </a:solidFill>
                <a:latin typeface="Calibri" pitchFamily="34" charset="0"/>
                <a:ea typeface="Calibri" pitchFamily="34" charset="-122"/>
                <a:cs typeface="Calibri" pitchFamily="34" charset="-120"/>
              </a:rPr>
              <a:t>Smallest target in the evaluation</a:t>
            </a:r>
            <a:endParaRPr lang="en-US" sz="1300" dirty="0"/>
          </a:p>
        </p:txBody>
      </p:sp>
      <p:sp>
        <p:nvSpPr>
          <p:cNvPr id="26" name="card-136"/>
          <p:cNvSpPr/>
          <p:nvPr/>
        </p:nvSpPr>
        <p:spPr>
          <a:xfrm>
            <a:off x="4526280" y="5212080"/>
            <a:ext cx="3611880" cy="2834640"/>
          </a:xfrm>
          <a:prstGeom prst="roundRect">
            <a:avLst>
              <a:gd name="adj" fmla="val 3871"/>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27" name="iconbg-137"/>
          <p:cNvSpPr/>
          <p:nvPr/>
        </p:nvSpPr>
        <p:spPr>
          <a:xfrm>
            <a:off x="4800600" y="5486400"/>
            <a:ext cx="685800" cy="685800"/>
          </a:xfrm>
          <a:prstGeom prst="ellipse">
            <a:avLst/>
          </a:prstGeom>
          <a:solidFill>
            <a:srgbClr val="E8F3F6"/>
          </a:solidFill>
          <a:ln w="15875">
            <a:solidFill>
              <a:srgbClr val="0E7490"/>
            </a:solidFill>
            <a:prstDash val="solid"/>
          </a:ln>
        </p:spPr>
      </p:sp>
      <p:pic>
        <p:nvPicPr>
          <p:cNvPr id="28" name="icon-138" descr="preencoded.png">    </p:cNvPr>
          <p:cNvPicPr>
            <a:picLocks noChangeAspect="1"/>
          </p:cNvPicPr>
          <p:nvPr/>
        </p:nvPicPr>
        <p:blipFill>
          <a:blip r:embed="rId4"/>
          <a:stretch>
            <a:fillRect/>
          </a:stretch>
        </p:blipFill>
        <p:spPr>
          <a:xfrm>
            <a:off x="4978908" y="5664708"/>
            <a:ext cx="329184" cy="329184"/>
          </a:xfrm>
          <a:prstGeom prst="rect">
            <a:avLst/>
          </a:prstGeom>
        </p:spPr>
      </p:pic>
      <p:sp>
        <p:nvSpPr>
          <p:cNvPr id="29" name="text-139"/>
          <p:cNvSpPr txBox="1"/>
          <p:nvPr/>
        </p:nvSpPr>
        <p:spPr>
          <a:xfrm>
            <a:off x="5669280" y="5559552"/>
            <a:ext cx="2377440" cy="548640"/>
          </a:xfrm>
          <a:prstGeom prst="rect">
            <a:avLst/>
          </a:prstGeom>
          <a:noFill/>
          <a:ln/>
        </p:spPr>
        <p:txBody>
          <a:bodyPr wrap="square" lIns="0" tIns="0" rIns="0" bIns="0" rtlCol="0" anchor="ctr"/>
          <a:lstStyle/>
          <a:p>
            <a:pPr algn="l" indent="0" marL="0">
              <a:lnSpc>
                <a:spcPct val="105000"/>
              </a:lnSpc>
              <a:buNone/>
            </a:pPr>
            <a:r>
              <a:rPr lang="en-US" sz="2000" b="1" dirty="0">
                <a:solidFill>
                  <a:srgbClr val="0D1B2A"/>
                </a:solidFill>
                <a:latin typeface="Cambria" pitchFamily="34" charset="0"/>
                <a:ea typeface="Cambria" pitchFamily="34" charset="-122"/>
                <a:cs typeface="Cambria" pitchFamily="34" charset="-120"/>
              </a:rPr>
              <a:t>STM32F103</a:t>
            </a:r>
            <a:endParaRPr lang="en-US" sz="2000" dirty="0"/>
          </a:p>
        </p:txBody>
      </p:sp>
      <p:sp>
        <p:nvSpPr>
          <p:cNvPr id="30" name="text-140"/>
          <p:cNvSpPr txBox="1"/>
          <p:nvPr/>
        </p:nvSpPr>
        <p:spPr>
          <a:xfrm>
            <a:off x="4800600" y="6355080"/>
            <a:ext cx="3108960" cy="365760"/>
          </a:xfrm>
          <a:prstGeom prst="rect">
            <a:avLst/>
          </a:prstGeom>
          <a:noFill/>
          <a:ln/>
        </p:spPr>
        <p:txBody>
          <a:bodyPr wrap="square" lIns="0" tIns="0" rIns="0" bIns="0" rtlCol="0" anchor="t"/>
          <a:lstStyle/>
          <a:p>
            <a:pPr algn="l" indent="0" marL="0">
              <a:lnSpc>
                <a:spcPct val="105000"/>
              </a:lnSpc>
              <a:buNone/>
            </a:pPr>
            <a:r>
              <a:rPr lang="en-US" sz="1400" b="1" dirty="0">
                <a:solidFill>
                  <a:srgbClr val="33475B"/>
                </a:solidFill>
                <a:latin typeface="Calibri" pitchFamily="34" charset="0"/>
                <a:ea typeface="Calibri" pitchFamily="34" charset="-122"/>
                <a:cs typeface="Calibri" pitchFamily="34" charset="-120"/>
              </a:rPr>
              <a:t>Cortex-M3, 72 MHz</a:t>
            </a:r>
            <a:endParaRPr lang="en-US" sz="1400" dirty="0"/>
          </a:p>
        </p:txBody>
      </p:sp>
      <p:sp>
        <p:nvSpPr>
          <p:cNvPr id="31" name="text-141"/>
          <p:cNvSpPr txBox="1"/>
          <p:nvPr/>
        </p:nvSpPr>
        <p:spPr>
          <a:xfrm>
            <a:off x="4800600" y="6720840"/>
            <a:ext cx="3108960" cy="365760"/>
          </a:xfrm>
          <a:prstGeom prst="rect">
            <a:avLst/>
          </a:prstGeom>
          <a:noFill/>
          <a:ln/>
        </p:spPr>
        <p:txBody>
          <a:bodyPr wrap="square" lIns="0" tIns="0" rIns="0" bIns="0" rtlCol="0" anchor="t"/>
          <a:lstStyle/>
          <a:p>
            <a:pPr algn="l" indent="0" marL="0">
              <a:lnSpc>
                <a:spcPct val="105000"/>
              </a:lnSpc>
              <a:buNone/>
            </a:pPr>
            <a:r>
              <a:rPr lang="en-US" sz="1400" dirty="0">
                <a:solidFill>
                  <a:srgbClr val="33475B"/>
                </a:solidFill>
                <a:latin typeface="Calibri" pitchFamily="34" charset="0"/>
                <a:ea typeface="Calibri" pitchFamily="34" charset="-122"/>
                <a:cs typeface="Calibri" pitchFamily="34" charset="-120"/>
              </a:rPr>
              <a:t>20 KB SRAM  |  64 to 128 KB flash</a:t>
            </a:r>
            <a:endParaRPr lang="en-US" sz="1400" dirty="0"/>
          </a:p>
        </p:txBody>
      </p:sp>
      <p:sp>
        <p:nvSpPr>
          <p:cNvPr id="32" name="text-142"/>
          <p:cNvSpPr txBox="1"/>
          <p:nvPr/>
        </p:nvSpPr>
        <p:spPr>
          <a:xfrm>
            <a:off x="4800600" y="7178040"/>
            <a:ext cx="3108960" cy="731520"/>
          </a:xfrm>
          <a:prstGeom prst="rect">
            <a:avLst/>
          </a:prstGeom>
          <a:noFill/>
          <a:ln/>
        </p:spPr>
        <p:txBody>
          <a:bodyPr wrap="square" lIns="0" tIns="0" rIns="0" bIns="0" rtlCol="0" anchor="t"/>
          <a:lstStyle/>
          <a:p>
            <a:pPr algn="l" indent="0" marL="0">
              <a:lnSpc>
                <a:spcPct val="105000"/>
              </a:lnSpc>
              <a:buNone/>
            </a:pPr>
            <a:r>
              <a:rPr lang="en-US" sz="1300" i="1" dirty="0">
                <a:solidFill>
                  <a:srgbClr val="6B7D91"/>
                </a:solidFill>
                <a:latin typeface="Calibri" pitchFamily="34" charset="0"/>
                <a:ea typeface="Calibri" pitchFamily="34" charset="-122"/>
                <a:cs typeface="Calibri" pitchFamily="34" charset="-120"/>
              </a:rPr>
              <a:t>Supported design; measurements planned</a:t>
            </a:r>
            <a:endParaRPr lang="en-US" sz="1300" dirty="0"/>
          </a:p>
        </p:txBody>
      </p:sp>
      <p:sp>
        <p:nvSpPr>
          <p:cNvPr id="33" name="text-143"/>
          <p:cNvSpPr txBox="1"/>
          <p:nvPr/>
        </p:nvSpPr>
        <p:spPr>
          <a:xfrm>
            <a:off x="8549640" y="1783080"/>
            <a:ext cx="5486400" cy="274320"/>
          </a:xfrm>
          <a:prstGeom prst="rect">
            <a:avLst/>
          </a:prstGeom>
          <a:noFill/>
          <a:ln/>
        </p:spPr>
        <p:txBody>
          <a:bodyPr wrap="square" lIns="0" tIns="0" rIns="0" bIns="0" rtlCol="0" anchor="t"/>
          <a:lstStyle/>
          <a:p>
            <a:pPr algn="l" indent="0" marL="0">
              <a:lnSpc>
                <a:spcPct val="100000"/>
              </a:lnSpc>
              <a:buNone/>
            </a:pPr>
            <a:r>
              <a:rPr lang="en-US" sz="1100" b="1" dirty="0">
                <a:solidFill>
                  <a:srgbClr val="0E7490"/>
                </a:solidFill>
                <a:latin typeface="Calibri" pitchFamily="34" charset="0"/>
                <a:ea typeface="Calibri" pitchFamily="34" charset="-122"/>
                <a:cs typeface="Calibri" pitchFamily="34" charset="-120"/>
              </a:rPr>
              <a:t>SOFTWARE STACK</a:t>
            </a:r>
            <a:endParaRPr lang="en-US" sz="1100" dirty="0"/>
          </a:p>
        </p:txBody>
      </p:sp>
      <p:graphicFrame>
        <p:nvGraphicFramePr>
          <p:cNvPr id="6" name="table-144"/>
          <p:cNvGraphicFramePr>
            <a:graphicFrameLocks noGrp="1"/>
          </p:cNvGraphicFramePr>
          <p:nvPr>
            <p:extLst>
              <p:ext uri="{D42A27DB-BD31-4B8C-83A1-F6EECF244321}">
                <p14:modId xmlns:p14="http://schemas.microsoft.com/office/powerpoint/2010/main" val="1579011935"/>
              </p:ext>
            </p:extLst>
          </p:nvPr>
        </p:nvGraphicFramePr>
        <p:xfrm>
          <a:off x="8549640" y="2148840"/>
          <a:ext cx="6976872" cy="914400"/>
        </p:xfrm>
        <a:graphic>
          <a:graphicData uri="http://schemas.openxmlformats.org/drawingml/2006/table">
            <a:tbl>
              <a:tblPr/>
              <a:tblGrid>
                <a:gridCol w="1965960"/>
                <a:gridCol w="5010912"/>
              </a:tblGrid>
              <a:tr h="841248">
                <a:tc>
                  <a:txBody>
                    <a:bodyPr/>
                    <a:lstStyle/>
                    <a:p>
                      <a:pPr indent="0" marL="0">
                        <a:buNone/>
                      </a:pPr>
                      <a:r>
                        <a:rPr lang="en-US" sz="1500" b="1" dirty="0">
                          <a:solidFill>
                            <a:srgbClr val="0D1B2A"/>
                          </a:solidFill>
                          <a:latin typeface="Calibri" pitchFamily="34" charset="0"/>
                          <a:ea typeface="Calibri" pitchFamily="34" charset="-122"/>
                          <a:cs typeface="Calibri" pitchFamily="34" charset="-120"/>
                        </a:rPr>
                        <a:t>Firmware</a:t>
                      </a:r>
                      <a:endParaRPr lang="en-US" sz="1500" dirty="0">
                        <a:latin typeface="Calibri" charset="0"/>
                        <a:ea typeface="Calibri" charset="0"/>
                        <a:cs typeface="Calibri" charset="0"/>
                      </a:endParaRPr>
                    </a:p>
                  </a:txBody>
                  <a:tcPr marL="109728" marR="109728" marT="54864" marB="54864"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500" dirty="0">
                          <a:solidFill>
                            <a:srgbClr val="33475B"/>
                          </a:solidFill>
                          <a:latin typeface="Calibri" pitchFamily="34" charset="0"/>
                          <a:ea typeface="Calibri" pitchFamily="34" charset="-122"/>
                          <a:cs typeface="Calibri" pitchFamily="34" charset="-120"/>
                        </a:rPr>
                        <a:t>Arduino-ESP32 2.0.17 (C++), PlatformIO or arduino-cli, mbedTLS, ArduinoJson</a:t>
                      </a:r>
                      <a:endParaRPr lang="en-US" sz="1500" dirty="0">
                        <a:latin typeface="Calibri" charset="0"/>
                        <a:ea typeface="Calibri" charset="0"/>
                        <a:cs typeface="Calibri" charset="0"/>
                      </a:endParaRPr>
                    </a:p>
                  </a:txBody>
                  <a:tcPr marL="109728" marR="109728" marT="54864" marB="54864"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r>
              <a:tr h="841248">
                <a:tc>
                  <a:txBody>
                    <a:bodyPr/>
                    <a:lstStyle/>
                    <a:p>
                      <a:pPr indent="0" marL="0">
                        <a:buNone/>
                      </a:pPr>
                      <a:r>
                        <a:rPr lang="en-US" sz="1500" b="1" dirty="0">
                          <a:solidFill>
                            <a:srgbClr val="0D1B2A"/>
                          </a:solidFill>
                          <a:latin typeface="Calibri" pitchFamily="34" charset="0"/>
                          <a:ea typeface="Calibri" pitchFamily="34" charset="-122"/>
                          <a:cs typeface="Calibri" pitchFamily="34" charset="-120"/>
                        </a:rPr>
                        <a:t>Gateway</a:t>
                      </a:r>
                      <a:endParaRPr lang="en-US" sz="1500" dirty="0">
                        <a:latin typeface="Calibri" charset="0"/>
                        <a:ea typeface="Calibri" charset="0"/>
                        <a:cs typeface="Calibri" charset="0"/>
                      </a:endParaRPr>
                    </a:p>
                  </a:txBody>
                  <a:tcPr marL="109728" marR="109728" marT="54864" marB="54864"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500" dirty="0">
                          <a:solidFill>
                            <a:srgbClr val="33475B"/>
                          </a:solidFill>
                          <a:latin typeface="Calibri" pitchFamily="34" charset="0"/>
                          <a:ea typeface="Calibri" pitchFamily="34" charset="-122"/>
                          <a:cs typeface="Calibri" pitchFamily="34" charset="-120"/>
                        </a:rPr>
                        <a:t>Python 3.11, FastAPI, Uvicorn, cryptography (Ed25519, RSA, AES)</a:t>
                      </a:r>
                      <a:endParaRPr lang="en-US" sz="1500" dirty="0">
                        <a:latin typeface="Calibri" charset="0"/>
                        <a:ea typeface="Calibri" charset="0"/>
                        <a:cs typeface="Calibri" charset="0"/>
                      </a:endParaRPr>
                    </a:p>
                  </a:txBody>
                  <a:tcPr marL="109728" marR="109728" marT="54864" marB="54864"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r>
              <a:tr h="841248">
                <a:tc>
                  <a:txBody>
                    <a:bodyPr/>
                    <a:lstStyle/>
                    <a:p>
                      <a:pPr indent="0" marL="0">
                        <a:buNone/>
                      </a:pPr>
                      <a:r>
                        <a:rPr lang="en-US" sz="1500" b="1" dirty="0">
                          <a:solidFill>
                            <a:srgbClr val="0D1B2A"/>
                          </a:solidFill>
                          <a:latin typeface="Calibri" pitchFamily="34" charset="0"/>
                          <a:ea typeface="Calibri" pitchFamily="34" charset="-122"/>
                          <a:cs typeface="Calibri" pitchFamily="34" charset="-120"/>
                        </a:rPr>
                        <a:t>Console</a:t>
                      </a:r>
                      <a:endParaRPr lang="en-US" sz="1500" dirty="0">
                        <a:latin typeface="Calibri" charset="0"/>
                        <a:ea typeface="Calibri" charset="0"/>
                        <a:cs typeface="Calibri" charset="0"/>
                      </a:endParaRPr>
                    </a:p>
                  </a:txBody>
                  <a:tcPr marL="109728" marR="109728" marT="54864" marB="54864"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500" dirty="0">
                          <a:solidFill>
                            <a:srgbClr val="33475B"/>
                          </a:solidFill>
                          <a:latin typeface="Calibri" pitchFamily="34" charset="0"/>
                          <a:ea typeface="Calibri" pitchFamily="34" charset="-122"/>
                          <a:cs typeface="Calibri" pitchFamily="34" charset="-120"/>
                        </a:rPr>
                        <a:t>Next.js 16, React 19, TypeScript, Tailwind CSS 4, Clerk sign-in</a:t>
                      </a:r>
                      <a:endParaRPr lang="en-US" sz="1500" dirty="0">
                        <a:latin typeface="Calibri" charset="0"/>
                        <a:ea typeface="Calibri" charset="0"/>
                        <a:cs typeface="Calibri" charset="0"/>
                      </a:endParaRPr>
                    </a:p>
                  </a:txBody>
                  <a:tcPr marL="109728" marR="109728" marT="54864" marB="54864"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r>
              <a:tr h="841248">
                <a:tc>
                  <a:txBody>
                    <a:bodyPr/>
                    <a:lstStyle/>
                    <a:p>
                      <a:pPr indent="0" marL="0">
                        <a:buNone/>
                      </a:pPr>
                      <a:r>
                        <a:rPr lang="en-US" sz="1500" b="1" dirty="0">
                          <a:solidFill>
                            <a:srgbClr val="0D1B2A"/>
                          </a:solidFill>
                          <a:latin typeface="Calibri" pitchFamily="34" charset="0"/>
                          <a:ea typeface="Calibri" pitchFamily="34" charset="-122"/>
                          <a:cs typeface="Calibri" pitchFamily="34" charset="-120"/>
                        </a:rPr>
                        <a:t>Data</a:t>
                      </a:r>
                      <a:endParaRPr lang="en-US" sz="1500" dirty="0">
                        <a:latin typeface="Calibri" charset="0"/>
                        <a:ea typeface="Calibri" charset="0"/>
                        <a:cs typeface="Calibri" charset="0"/>
                      </a:endParaRPr>
                    </a:p>
                  </a:txBody>
                  <a:tcPr marL="109728" marR="109728" marT="54864" marB="54864"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500" dirty="0">
                          <a:solidFill>
                            <a:srgbClr val="33475B"/>
                          </a:solidFill>
                          <a:latin typeface="Calibri" pitchFamily="34" charset="0"/>
                          <a:ea typeface="Calibri" pitchFamily="34" charset="-122"/>
                          <a:cs typeface="Calibri" pitchFamily="34" charset="-120"/>
                        </a:rPr>
                        <a:t>SQLite (telemetry, audit), JSON gateway state, NeDB, optional Supabase</a:t>
                      </a:r>
                      <a:endParaRPr lang="en-US" sz="1500" dirty="0">
                        <a:latin typeface="Calibri" charset="0"/>
                        <a:ea typeface="Calibri" charset="0"/>
                        <a:cs typeface="Calibri" charset="0"/>
                      </a:endParaRPr>
                    </a:p>
                  </a:txBody>
                  <a:tcPr marL="109728" marR="109728" marT="54864" marB="54864"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r>
              <a:tr h="841248">
                <a:tc>
                  <a:txBody>
                    <a:bodyPr/>
                    <a:lstStyle/>
                    <a:p>
                      <a:pPr indent="0" marL="0">
                        <a:buNone/>
                      </a:pPr>
                      <a:r>
                        <a:rPr lang="en-US" sz="1500" b="1" dirty="0">
                          <a:solidFill>
                            <a:srgbClr val="0D1B2A"/>
                          </a:solidFill>
                          <a:latin typeface="Calibri" pitchFamily="34" charset="0"/>
                          <a:ea typeface="Calibri" pitchFamily="34" charset="-122"/>
                          <a:cs typeface="Calibri" pitchFamily="34" charset="-120"/>
                        </a:rPr>
                        <a:t>Flashing</a:t>
                      </a:r>
                      <a:endParaRPr lang="en-US" sz="1500" dirty="0">
                        <a:latin typeface="Calibri" charset="0"/>
                        <a:ea typeface="Calibri" charset="0"/>
                        <a:cs typeface="Calibri" charset="0"/>
                      </a:endParaRPr>
                    </a:p>
                  </a:txBody>
                  <a:tcPr marL="109728" marR="109728" marT="54864" marB="54864"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500" dirty="0">
                          <a:solidFill>
                            <a:srgbClr val="33475B"/>
                          </a:solidFill>
                          <a:latin typeface="Calibri" pitchFamily="34" charset="0"/>
                          <a:ea typeface="Calibri" pitchFamily="34" charset="-122"/>
                          <a:cs typeface="Calibri" pitchFamily="34" charset="-120"/>
                        </a:rPr>
                        <a:t>esptool and esptool-js (Web Serial), local USB agent</a:t>
                      </a:r>
                      <a:endParaRPr lang="en-US" sz="1500" dirty="0">
                        <a:latin typeface="Calibri" charset="0"/>
                        <a:ea typeface="Calibri" charset="0"/>
                        <a:cs typeface="Calibri" charset="0"/>
                      </a:endParaRPr>
                    </a:p>
                  </a:txBody>
                  <a:tcPr marL="109728" marR="109728" marT="54864" marB="54864"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r>
              <a:tr h="841248">
                <a:tc>
                  <a:txBody>
                    <a:bodyPr/>
                    <a:lstStyle/>
                    <a:p>
                      <a:pPr indent="0" marL="0">
                        <a:buNone/>
                      </a:pPr>
                      <a:r>
                        <a:rPr lang="en-US" sz="1500" b="1" dirty="0">
                          <a:solidFill>
                            <a:srgbClr val="0D1B2A"/>
                          </a:solidFill>
                          <a:latin typeface="Calibri" pitchFamily="34" charset="0"/>
                          <a:ea typeface="Calibri" pitchFamily="34" charset="-122"/>
                          <a:cs typeface="Calibri" pitchFamily="34" charset="-120"/>
                        </a:rPr>
                        <a:t>Release and hosting</a:t>
                      </a:r>
                      <a:endParaRPr lang="en-US" sz="1500" dirty="0">
                        <a:latin typeface="Calibri" charset="0"/>
                        <a:ea typeface="Calibri" charset="0"/>
                        <a:cs typeface="Calibri" charset="0"/>
                      </a:endParaRPr>
                    </a:p>
                  </a:txBody>
                  <a:tcPr marL="109728" marR="109728" marT="54864" marB="54864"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500" dirty="0">
                          <a:solidFill>
                            <a:srgbClr val="33475B"/>
                          </a:solidFill>
                          <a:latin typeface="Calibri" pitchFamily="34" charset="0"/>
                          <a:ea typeface="Calibri" pitchFamily="34" charset="-122"/>
                          <a:cs typeface="Calibri" pitchFamily="34" charset="-120"/>
                        </a:rPr>
                        <a:t>GitHub Actions, GitHub Releases, Docker, Cloudflare Tunnel</a:t>
                      </a:r>
                      <a:endParaRPr lang="en-US" sz="1500" dirty="0">
                        <a:latin typeface="Calibri" charset="0"/>
                        <a:ea typeface="Calibri" charset="0"/>
                        <a:cs typeface="Calibri" charset="0"/>
                      </a:endParaRPr>
                    </a:p>
                  </a:txBody>
                  <a:tcPr marL="109728" marR="109728" marT="54864" marB="54864"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r>
              <a:tr h="841248">
                <a:tc>
                  <a:txBody>
                    <a:bodyPr/>
                    <a:lstStyle/>
                    <a:p>
                      <a:pPr indent="0" marL="0">
                        <a:buNone/>
                      </a:pPr>
                      <a:r>
                        <a:rPr lang="en-US" sz="1500" b="1" dirty="0">
                          <a:solidFill>
                            <a:srgbClr val="0D1B2A"/>
                          </a:solidFill>
                          <a:latin typeface="Calibri" pitchFamily="34" charset="0"/>
                          <a:ea typeface="Calibri" pitchFamily="34" charset="-122"/>
                          <a:cs typeface="Calibri" pitchFamily="34" charset="-120"/>
                        </a:rPr>
                        <a:t>Host machine</a:t>
                      </a:r>
                      <a:endParaRPr lang="en-US" sz="1500" dirty="0">
                        <a:latin typeface="Calibri" charset="0"/>
                        <a:ea typeface="Calibri" charset="0"/>
                        <a:cs typeface="Calibri" charset="0"/>
                      </a:endParaRPr>
                    </a:p>
                  </a:txBody>
                  <a:tcPr marL="109728" marR="109728" marT="54864" marB="54864"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500" dirty="0">
                          <a:solidFill>
                            <a:srgbClr val="33475B"/>
                          </a:solidFill>
                          <a:latin typeface="Calibri" pitchFamily="34" charset="0"/>
                          <a:ea typeface="Calibri" pitchFamily="34" charset="-122"/>
                          <a:cs typeface="Calibri" pitchFamily="34" charset="-120"/>
                        </a:rPr>
                        <a:t>Windows PC, USB data cable (CP210x or CH340 bridge), 2.4 GHz Wi-Fi</a:t>
                      </a:r>
                      <a:endParaRPr lang="en-US" sz="1500" dirty="0">
                        <a:latin typeface="Calibri" charset="0"/>
                        <a:ea typeface="Calibri" charset="0"/>
                        <a:cs typeface="Calibri" charset="0"/>
                      </a:endParaRPr>
                    </a:p>
                  </a:txBody>
                  <a:tcPr marL="109728" marR="109728" marT="54864" marB="54864"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6.1  Overall Design</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Four parts: release pipeline, gateway, devices and operator console</a:t>
            </a:r>
            <a:endParaRPr lang="en-US" sz="1600" dirty="0"/>
          </a:p>
        </p:txBody>
      </p:sp>
      <p:sp>
        <p:nvSpPr>
          <p:cNvPr id="4" name="card-145"/>
          <p:cNvSpPr/>
          <p:nvPr/>
        </p:nvSpPr>
        <p:spPr>
          <a:xfrm>
            <a:off x="731520" y="2011680"/>
            <a:ext cx="3840480" cy="3931920"/>
          </a:xfrm>
          <a:prstGeom prst="roundRect">
            <a:avLst>
              <a:gd name="adj" fmla="val 2857"/>
            </a:avLst>
          </a:prstGeom>
          <a:solidFill>
            <a:srgbClr val="FFFFFF"/>
          </a:solidFill>
          <a:ln w="15875">
            <a:solidFill>
              <a:srgbClr val="0E7490"/>
            </a:solidFill>
            <a:prstDash val="solid"/>
          </a:ln>
          <a:effectLst>
            <a:outerShdw sx="100000" sy="100000" kx="0" ky="0" algn="bl" rotWithShape="0" blurRad="76200" dist="25400" dir="5400000">
              <a:srgbClr val="9AAEC2">
                <a:alpha val="18000"/>
              </a:srgbClr>
            </a:outerShdw>
          </a:effectLst>
        </p:spPr>
      </p:sp>
      <p:sp>
        <p:nvSpPr>
          <p:cNvPr id="5" name="iconbg-146"/>
          <p:cNvSpPr/>
          <p:nvPr/>
        </p:nvSpPr>
        <p:spPr>
          <a:xfrm>
            <a:off x="1005840" y="2286000"/>
            <a:ext cx="685800" cy="685800"/>
          </a:xfrm>
          <a:prstGeom prst="ellipse">
            <a:avLst/>
          </a:prstGeom>
          <a:solidFill>
            <a:srgbClr val="E8F3F6"/>
          </a:solidFill>
          <a:ln w="15875">
            <a:solidFill>
              <a:srgbClr val="0E7490"/>
            </a:solidFill>
            <a:prstDash val="solid"/>
          </a:ln>
        </p:spPr>
      </p:sp>
      <p:pic>
        <p:nvPicPr>
          <p:cNvPr id="6" name="icon-147" descr="preencoded.png">    </p:cNvPr>
          <p:cNvPicPr>
            <a:picLocks noChangeAspect="1"/>
          </p:cNvPicPr>
          <p:nvPr/>
        </p:nvPicPr>
        <p:blipFill>
          <a:blip r:embed="rId1"/>
          <a:stretch>
            <a:fillRect/>
          </a:stretch>
        </p:blipFill>
        <p:spPr>
          <a:xfrm>
            <a:off x="1184148" y="2464308"/>
            <a:ext cx="329184" cy="329184"/>
          </a:xfrm>
          <a:prstGeom prst="rect">
            <a:avLst/>
          </a:prstGeom>
        </p:spPr>
      </p:pic>
      <p:sp>
        <p:nvSpPr>
          <p:cNvPr id="7" name="text-148"/>
          <p:cNvSpPr txBox="1"/>
          <p:nvPr/>
        </p:nvSpPr>
        <p:spPr>
          <a:xfrm>
            <a:off x="1828800" y="2331720"/>
            <a:ext cx="2560320" cy="594360"/>
          </a:xfrm>
          <a:prstGeom prst="rect">
            <a:avLst/>
          </a:prstGeom>
          <a:noFill/>
          <a:ln/>
        </p:spPr>
        <p:txBody>
          <a:bodyPr wrap="square" lIns="0" tIns="0" rIns="0" bIns="0" rtlCol="0" anchor="ctr"/>
          <a:lstStyle/>
          <a:p>
            <a:pPr algn="l" indent="0" marL="0">
              <a:lnSpc>
                <a:spcPct val="105000"/>
              </a:lnSpc>
              <a:buNone/>
            </a:pPr>
            <a:r>
              <a:rPr lang="en-US" sz="1800" b="1" dirty="0">
                <a:solidFill>
                  <a:srgbClr val="0D1B2A"/>
                </a:solidFill>
                <a:latin typeface="Cambria" pitchFamily="34" charset="0"/>
                <a:ea typeface="Cambria" pitchFamily="34" charset="-122"/>
                <a:cs typeface="Cambria" pitchFamily="34" charset="-120"/>
              </a:rPr>
              <a:t>Release pipeline</a:t>
            </a:r>
            <a:endParaRPr lang="en-US" sz="1800" dirty="0"/>
          </a:p>
        </p:txBody>
      </p:sp>
      <p:sp>
        <p:nvSpPr>
          <p:cNvPr id="8" name="list-149"/>
          <p:cNvSpPr txBox="1"/>
          <p:nvPr/>
        </p:nvSpPr>
        <p:spPr>
          <a:xfrm>
            <a:off x="1051560" y="3246120"/>
            <a:ext cx="329184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33475B"/>
                </a:solidFill>
                <a:latin typeface="Calibri" pitchFamily="34" charset="0"/>
                <a:ea typeface="Calibri" pitchFamily="34" charset="-122"/>
                <a:cs typeface="Calibri" pitchFamily="34" charset="-120"/>
              </a:rPr>
              <a:t>Version tag starts the build</a:t>
            </a:r>
            <a:endParaRPr lang="en-US" sz="1600" dirty="0"/>
          </a:p>
          <a:p>
            <a:pPr marL="342900" indent="-342900">
              <a:spcAft>
                <a:spcPts val="600"/>
              </a:spcAft>
              <a:buSzPct val="100000"/>
              <a:buChar char="•"/>
            </a:pPr>
            <a:r>
              <a:rPr lang="en-US" sz="1600" dirty="0">
                <a:solidFill>
                  <a:srgbClr val="33475B"/>
                </a:solidFill>
                <a:latin typeface="Calibri" pitchFamily="34" charset="0"/>
                <a:ea typeface="Calibri" pitchFamily="34" charset="-122"/>
                <a:cs typeface="Calibri" pitchFamily="34" charset="-120"/>
              </a:rPr>
              <a:t>SHA-256 digest of the image</a:t>
            </a:r>
            <a:endParaRPr lang="en-US" sz="1600" dirty="0"/>
          </a:p>
          <a:p>
            <a:pPr marL="342900" indent="-342900">
              <a:spcAft>
                <a:spcPts val="600"/>
              </a:spcAft>
              <a:buSzPct val="100000"/>
              <a:buChar char="•"/>
            </a:pPr>
            <a:r>
              <a:rPr lang="en-US" sz="1600" dirty="0">
                <a:solidFill>
                  <a:srgbClr val="33475B"/>
                </a:solidFill>
                <a:latin typeface="Calibri" pitchFamily="34" charset="0"/>
                <a:ea typeface="Calibri" pitchFamily="34" charset="-122"/>
                <a:cs typeface="Calibri" pitchFamily="34" charset="-120"/>
              </a:rPr>
              <a:t>Signed release bundle</a:t>
            </a:r>
            <a:endParaRPr lang="en-US" sz="1600" dirty="0"/>
          </a:p>
          <a:p>
            <a:pPr marL="342900" indent="-342900">
              <a:spcAft>
                <a:spcPts val="600"/>
              </a:spcAft>
              <a:buSzPct val="100000"/>
              <a:buChar char="•"/>
            </a:pPr>
            <a:r>
              <a:rPr lang="en-US" sz="1600" dirty="0">
                <a:solidFill>
                  <a:srgbClr val="33475B"/>
                </a:solidFill>
                <a:latin typeface="Calibri" pitchFamily="34" charset="0"/>
                <a:ea typeface="Calibri" pitchFamily="34" charset="-122"/>
                <a:cs typeface="Calibri" pitchFamily="34" charset="-120"/>
              </a:rPr>
              <a:t>GitHub Releases</a:t>
            </a:r>
            <a:endParaRPr lang="en-US" sz="1600" dirty="0"/>
          </a:p>
        </p:txBody>
      </p:sp>
      <p:sp>
        <p:nvSpPr>
          <p:cNvPr id="9" name="card-150"/>
          <p:cNvSpPr/>
          <p:nvPr/>
        </p:nvSpPr>
        <p:spPr>
          <a:xfrm>
            <a:off x="5989320" y="2011680"/>
            <a:ext cx="4297680" cy="3931920"/>
          </a:xfrm>
          <a:prstGeom prst="roundRect">
            <a:avLst>
              <a:gd name="adj" fmla="val 2791"/>
            </a:avLst>
          </a:prstGeom>
          <a:solidFill>
            <a:srgbClr val="FFFFFF"/>
          </a:solidFill>
          <a:ln w="15875">
            <a:solidFill>
              <a:srgbClr val="96650A"/>
            </a:solidFill>
            <a:prstDash val="solid"/>
          </a:ln>
          <a:effectLst>
            <a:outerShdw sx="100000" sy="100000" kx="0" ky="0" algn="bl" rotWithShape="0" blurRad="76200" dist="25400" dir="5400000">
              <a:srgbClr val="9AAEC2">
                <a:alpha val="18000"/>
              </a:srgbClr>
            </a:outerShdw>
          </a:effectLst>
        </p:spPr>
      </p:sp>
      <p:sp>
        <p:nvSpPr>
          <p:cNvPr id="10" name="iconbg-151"/>
          <p:cNvSpPr/>
          <p:nvPr/>
        </p:nvSpPr>
        <p:spPr>
          <a:xfrm>
            <a:off x="6263640" y="2286000"/>
            <a:ext cx="685800" cy="685800"/>
          </a:xfrm>
          <a:prstGeom prst="ellipse">
            <a:avLst/>
          </a:prstGeom>
          <a:solidFill>
            <a:srgbClr val="FBF4E6"/>
          </a:solidFill>
          <a:ln w="15875">
            <a:solidFill>
              <a:srgbClr val="96650A"/>
            </a:solidFill>
            <a:prstDash val="solid"/>
          </a:ln>
        </p:spPr>
      </p:sp>
      <p:pic>
        <p:nvPicPr>
          <p:cNvPr id="11" name="icon-152" descr="preencoded.png">    </p:cNvPr>
          <p:cNvPicPr>
            <a:picLocks noChangeAspect="1"/>
          </p:cNvPicPr>
          <p:nvPr/>
        </p:nvPicPr>
        <p:blipFill>
          <a:blip r:embed="rId2"/>
          <a:stretch>
            <a:fillRect/>
          </a:stretch>
        </p:blipFill>
        <p:spPr>
          <a:xfrm>
            <a:off x="6441948" y="2464308"/>
            <a:ext cx="329184" cy="329184"/>
          </a:xfrm>
          <a:prstGeom prst="rect">
            <a:avLst/>
          </a:prstGeom>
        </p:spPr>
      </p:pic>
      <p:sp>
        <p:nvSpPr>
          <p:cNvPr id="12" name="text-153"/>
          <p:cNvSpPr txBox="1"/>
          <p:nvPr/>
        </p:nvSpPr>
        <p:spPr>
          <a:xfrm>
            <a:off x="7086600" y="2331720"/>
            <a:ext cx="3017520" cy="594360"/>
          </a:xfrm>
          <a:prstGeom prst="rect">
            <a:avLst/>
          </a:prstGeom>
          <a:noFill/>
          <a:ln/>
        </p:spPr>
        <p:txBody>
          <a:bodyPr wrap="square" lIns="0" tIns="0" rIns="0" bIns="0" rtlCol="0" anchor="ctr"/>
          <a:lstStyle/>
          <a:p>
            <a:pPr algn="l" indent="0" marL="0">
              <a:lnSpc>
                <a:spcPct val="105000"/>
              </a:lnSpc>
              <a:buNone/>
            </a:pPr>
            <a:r>
              <a:rPr lang="en-US" sz="1800" b="1" dirty="0">
                <a:solidFill>
                  <a:srgbClr val="0D1B2A"/>
                </a:solidFill>
                <a:latin typeface="Cambria" pitchFamily="34" charset="0"/>
                <a:ea typeface="Cambria" pitchFamily="34" charset="-122"/>
                <a:cs typeface="Cambria" pitchFamily="34" charset="-120"/>
              </a:rPr>
              <a:t>OTA gateway (FastAPI)</a:t>
            </a:r>
            <a:endParaRPr lang="en-US" sz="1800" dirty="0"/>
          </a:p>
        </p:txBody>
      </p:sp>
      <p:sp>
        <p:nvSpPr>
          <p:cNvPr id="13" name="list-154"/>
          <p:cNvSpPr txBox="1"/>
          <p:nvPr/>
        </p:nvSpPr>
        <p:spPr>
          <a:xfrm>
            <a:off x="6309360" y="3246120"/>
            <a:ext cx="374904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33475B"/>
                </a:solidFill>
                <a:latin typeface="Calibri" pitchFamily="34" charset="0"/>
                <a:ea typeface="Calibri" pitchFamily="34" charset="-122"/>
                <a:cs typeface="Calibri" pitchFamily="34" charset="-120"/>
              </a:rPr>
              <a:t>Releases and signed manifests</a:t>
            </a:r>
            <a:endParaRPr lang="en-US" sz="1600" dirty="0"/>
          </a:p>
          <a:p>
            <a:pPr marL="342900" indent="-342900">
              <a:spcAft>
                <a:spcPts val="600"/>
              </a:spcAft>
              <a:buSzPct val="100000"/>
              <a:buChar char="•"/>
            </a:pPr>
            <a:r>
              <a:rPr lang="en-US" sz="1600" dirty="0">
                <a:solidFill>
                  <a:srgbClr val="33475B"/>
                </a:solidFill>
                <a:latin typeface="Calibri" pitchFamily="34" charset="0"/>
                <a:ea typeface="Calibri" pitchFamily="34" charset="-122"/>
                <a:cs typeface="Calibri" pitchFamily="34" charset="-120"/>
              </a:rPr>
              <a:t>Deployments per device</a:t>
            </a:r>
            <a:endParaRPr lang="en-US" sz="1600" dirty="0"/>
          </a:p>
          <a:p>
            <a:pPr marL="342900" indent="-342900">
              <a:spcAft>
                <a:spcPts val="600"/>
              </a:spcAft>
              <a:buSzPct val="100000"/>
              <a:buChar char="•"/>
            </a:pPr>
            <a:r>
              <a:rPr lang="en-US" sz="1600" dirty="0">
                <a:solidFill>
                  <a:srgbClr val="33475B"/>
                </a:solidFill>
                <a:latin typeface="Calibri" pitchFamily="34" charset="0"/>
                <a:ea typeface="Calibri" pitchFamily="34" charset="-122"/>
                <a:cs typeface="Calibri" pitchFamily="34" charset="-120"/>
              </a:rPr>
              <a:t>Device registry and tokens</a:t>
            </a:r>
            <a:endParaRPr lang="en-US" sz="1600" dirty="0"/>
          </a:p>
          <a:p>
            <a:pPr marL="342900" indent="-342900">
              <a:spcAft>
                <a:spcPts val="600"/>
              </a:spcAft>
              <a:buSzPct val="100000"/>
              <a:buChar char="•"/>
            </a:pPr>
            <a:r>
              <a:rPr lang="en-US" sz="1600" dirty="0">
                <a:solidFill>
                  <a:srgbClr val="33475B"/>
                </a:solidFill>
                <a:latin typeface="Calibri" pitchFamily="34" charset="0"/>
                <a:ea typeface="Calibri" pitchFamily="34" charset="-122"/>
                <a:cs typeface="Calibri" pitchFamily="34" charset="-120"/>
              </a:rPr>
              <a:t>Beacon check: HMAC, counter</a:t>
            </a:r>
            <a:endParaRPr lang="en-US" sz="1600" dirty="0"/>
          </a:p>
          <a:p>
            <a:pPr marL="342900" indent="-342900">
              <a:spcAft>
                <a:spcPts val="600"/>
              </a:spcAft>
              <a:buSzPct val="100000"/>
              <a:buChar char="•"/>
            </a:pPr>
            <a:r>
              <a:rPr lang="en-US" sz="1600" dirty="0">
                <a:solidFill>
                  <a:srgbClr val="33475B"/>
                </a:solidFill>
                <a:latin typeface="Calibri" pitchFamily="34" charset="0"/>
                <a:ea typeface="Calibri" pitchFamily="34" charset="-122"/>
                <a:cs typeface="Calibri" pitchFamily="34" charset="-120"/>
              </a:rPr>
              <a:t>Health score and audit log</a:t>
            </a:r>
            <a:endParaRPr lang="en-US" sz="1600" dirty="0"/>
          </a:p>
        </p:txBody>
      </p:sp>
      <p:sp>
        <p:nvSpPr>
          <p:cNvPr id="14" name="card-155"/>
          <p:cNvSpPr/>
          <p:nvPr/>
        </p:nvSpPr>
        <p:spPr>
          <a:xfrm>
            <a:off x="11521440" y="2011680"/>
            <a:ext cx="4005072" cy="3931920"/>
          </a:xfrm>
          <a:prstGeom prst="roundRect">
            <a:avLst>
              <a:gd name="adj" fmla="val 2791"/>
            </a:avLst>
          </a:prstGeom>
          <a:solidFill>
            <a:srgbClr val="FFFFFF"/>
          </a:solidFill>
          <a:ln w="15875">
            <a:solidFill>
              <a:srgbClr val="067A55"/>
            </a:solidFill>
            <a:prstDash val="solid"/>
          </a:ln>
          <a:effectLst>
            <a:outerShdw sx="100000" sy="100000" kx="0" ky="0" algn="bl" rotWithShape="0" blurRad="76200" dist="25400" dir="5400000">
              <a:srgbClr val="9AAEC2">
                <a:alpha val="18000"/>
              </a:srgbClr>
            </a:outerShdw>
          </a:effectLst>
        </p:spPr>
      </p:sp>
      <p:sp>
        <p:nvSpPr>
          <p:cNvPr id="15" name="iconbg-156"/>
          <p:cNvSpPr/>
          <p:nvPr/>
        </p:nvSpPr>
        <p:spPr>
          <a:xfrm>
            <a:off x="11795760" y="2286000"/>
            <a:ext cx="685800" cy="685800"/>
          </a:xfrm>
          <a:prstGeom prst="ellipse">
            <a:avLst/>
          </a:prstGeom>
          <a:solidFill>
            <a:srgbClr val="E8F5EF"/>
          </a:solidFill>
          <a:ln w="15875">
            <a:solidFill>
              <a:srgbClr val="067A55"/>
            </a:solidFill>
            <a:prstDash val="solid"/>
          </a:ln>
        </p:spPr>
      </p:sp>
      <p:pic>
        <p:nvPicPr>
          <p:cNvPr id="16" name="icon-157" descr="preencoded.png">    </p:cNvPr>
          <p:cNvPicPr>
            <a:picLocks noChangeAspect="1"/>
          </p:cNvPicPr>
          <p:nvPr/>
        </p:nvPicPr>
        <p:blipFill>
          <a:blip r:embed="rId3"/>
          <a:stretch>
            <a:fillRect/>
          </a:stretch>
        </p:blipFill>
        <p:spPr>
          <a:xfrm>
            <a:off x="11974068" y="2464308"/>
            <a:ext cx="329184" cy="329184"/>
          </a:xfrm>
          <a:prstGeom prst="rect">
            <a:avLst/>
          </a:prstGeom>
        </p:spPr>
      </p:pic>
      <p:sp>
        <p:nvSpPr>
          <p:cNvPr id="17" name="text-158"/>
          <p:cNvSpPr txBox="1"/>
          <p:nvPr/>
        </p:nvSpPr>
        <p:spPr>
          <a:xfrm>
            <a:off x="12618720" y="2331720"/>
            <a:ext cx="2724912" cy="594360"/>
          </a:xfrm>
          <a:prstGeom prst="rect">
            <a:avLst/>
          </a:prstGeom>
          <a:noFill/>
          <a:ln/>
        </p:spPr>
        <p:txBody>
          <a:bodyPr wrap="square" lIns="0" tIns="0" rIns="0" bIns="0" rtlCol="0" anchor="ctr"/>
          <a:lstStyle/>
          <a:p>
            <a:pPr algn="l" indent="0" marL="0">
              <a:lnSpc>
                <a:spcPct val="105000"/>
              </a:lnSpc>
              <a:buNone/>
            </a:pPr>
            <a:r>
              <a:rPr lang="en-US" sz="1800" b="1" dirty="0">
                <a:solidFill>
                  <a:srgbClr val="0D1B2A"/>
                </a:solidFill>
                <a:latin typeface="Cambria" pitchFamily="34" charset="0"/>
                <a:ea typeface="Cambria" pitchFamily="34" charset="-122"/>
                <a:cs typeface="Cambria" pitchFamily="34" charset="-120"/>
              </a:rPr>
              <a:t>Device fleet</a:t>
            </a:r>
            <a:endParaRPr lang="en-US" sz="1800" dirty="0"/>
          </a:p>
        </p:txBody>
      </p:sp>
      <p:sp>
        <p:nvSpPr>
          <p:cNvPr id="18" name="node-159"/>
          <p:cNvSpPr/>
          <p:nvPr/>
        </p:nvSpPr>
        <p:spPr>
          <a:xfrm>
            <a:off x="11795760" y="3200400"/>
            <a:ext cx="3456432" cy="548640"/>
          </a:xfrm>
          <a:prstGeom prst="roundRect">
            <a:avLst>
              <a:gd name="adj" fmla="val 13333"/>
            </a:avLst>
          </a:prstGeom>
          <a:solidFill>
            <a:srgbClr val="E8F5EF"/>
          </a:solidFill>
          <a:ln w="12700">
            <a:solidFill>
              <a:srgbClr val="067A55"/>
            </a:solidFill>
            <a:prstDash val="solid"/>
          </a:ln>
        </p:spPr>
      </p:sp>
      <p:sp>
        <p:nvSpPr>
          <p:cNvPr id="19" name="text-160"/>
          <p:cNvSpPr txBox="1"/>
          <p:nvPr/>
        </p:nvSpPr>
        <p:spPr>
          <a:xfrm>
            <a:off x="11795760" y="3200400"/>
            <a:ext cx="3456432" cy="548640"/>
          </a:xfrm>
          <a:prstGeom prst="rect">
            <a:avLst/>
          </a:prstGeom>
          <a:noFill/>
          <a:ln/>
        </p:spPr>
        <p:txBody>
          <a:bodyPr wrap="square" lIns="0" tIns="0" rIns="0" bIns="0" rtlCol="0" anchor="ctr"/>
          <a:lstStyle/>
          <a:p>
            <a:pPr algn="ctr" indent="0" marL="0">
              <a:lnSpc>
                <a:spcPct val="105000"/>
              </a:lnSpc>
              <a:buNone/>
            </a:pPr>
            <a:r>
              <a:rPr lang="en-US" sz="1500" b="1" dirty="0">
                <a:solidFill>
                  <a:srgbClr val="0D1B2A"/>
                </a:solidFill>
                <a:latin typeface="Calibri" pitchFamily="34" charset="0"/>
                <a:ea typeface="Calibri" pitchFamily="34" charset="-122"/>
                <a:cs typeface="Calibri" pitchFamily="34" charset="-120"/>
              </a:rPr>
              <a:t>ESP32 node</a:t>
            </a:r>
            <a:endParaRPr lang="en-US" sz="1500" dirty="0"/>
          </a:p>
        </p:txBody>
      </p:sp>
      <p:sp>
        <p:nvSpPr>
          <p:cNvPr id="20" name="node-161"/>
          <p:cNvSpPr/>
          <p:nvPr/>
        </p:nvSpPr>
        <p:spPr>
          <a:xfrm>
            <a:off x="11795760" y="3858768"/>
            <a:ext cx="3456432" cy="548640"/>
          </a:xfrm>
          <a:prstGeom prst="roundRect">
            <a:avLst>
              <a:gd name="adj" fmla="val 13333"/>
            </a:avLst>
          </a:prstGeom>
          <a:solidFill>
            <a:srgbClr val="E8F5EF"/>
          </a:solidFill>
          <a:ln w="12700">
            <a:solidFill>
              <a:srgbClr val="067A55"/>
            </a:solidFill>
            <a:prstDash val="solid"/>
          </a:ln>
        </p:spPr>
      </p:sp>
      <p:sp>
        <p:nvSpPr>
          <p:cNvPr id="21" name="text-162"/>
          <p:cNvSpPr txBox="1"/>
          <p:nvPr/>
        </p:nvSpPr>
        <p:spPr>
          <a:xfrm>
            <a:off x="11795760" y="3858768"/>
            <a:ext cx="3456432" cy="548640"/>
          </a:xfrm>
          <a:prstGeom prst="rect">
            <a:avLst/>
          </a:prstGeom>
          <a:noFill/>
          <a:ln/>
        </p:spPr>
        <p:txBody>
          <a:bodyPr wrap="square" lIns="0" tIns="0" rIns="0" bIns="0" rtlCol="0" anchor="ctr"/>
          <a:lstStyle/>
          <a:p>
            <a:pPr algn="ctr" indent="0" marL="0">
              <a:lnSpc>
                <a:spcPct val="105000"/>
              </a:lnSpc>
              <a:buNone/>
            </a:pPr>
            <a:r>
              <a:rPr lang="en-US" sz="1500" b="1" dirty="0">
                <a:solidFill>
                  <a:srgbClr val="0D1B2A"/>
                </a:solidFill>
                <a:latin typeface="Calibri" pitchFamily="34" charset="0"/>
                <a:ea typeface="Calibri" pitchFamily="34" charset="-122"/>
                <a:cs typeface="Calibri" pitchFamily="34" charset="-120"/>
              </a:rPr>
              <a:t>ESP8266 node</a:t>
            </a:r>
            <a:endParaRPr lang="en-US" sz="1500" dirty="0"/>
          </a:p>
        </p:txBody>
      </p:sp>
      <p:sp>
        <p:nvSpPr>
          <p:cNvPr id="22" name="node-163"/>
          <p:cNvSpPr/>
          <p:nvPr/>
        </p:nvSpPr>
        <p:spPr>
          <a:xfrm>
            <a:off x="11795760" y="4517136"/>
            <a:ext cx="3456432" cy="548640"/>
          </a:xfrm>
          <a:prstGeom prst="roundRect">
            <a:avLst>
              <a:gd name="adj" fmla="val 13333"/>
            </a:avLst>
          </a:prstGeom>
          <a:solidFill>
            <a:srgbClr val="E8F5EF"/>
          </a:solidFill>
          <a:ln w="12700">
            <a:solidFill>
              <a:srgbClr val="067A55"/>
            </a:solidFill>
            <a:prstDash val="solid"/>
          </a:ln>
        </p:spPr>
      </p:sp>
      <p:sp>
        <p:nvSpPr>
          <p:cNvPr id="23" name="text-164"/>
          <p:cNvSpPr txBox="1"/>
          <p:nvPr/>
        </p:nvSpPr>
        <p:spPr>
          <a:xfrm>
            <a:off x="11795760" y="4517136"/>
            <a:ext cx="3456432" cy="548640"/>
          </a:xfrm>
          <a:prstGeom prst="rect">
            <a:avLst/>
          </a:prstGeom>
          <a:noFill/>
          <a:ln/>
        </p:spPr>
        <p:txBody>
          <a:bodyPr wrap="square" lIns="0" tIns="0" rIns="0" bIns="0" rtlCol="0" anchor="ctr"/>
          <a:lstStyle/>
          <a:p>
            <a:pPr algn="ctr" indent="0" marL="0">
              <a:lnSpc>
                <a:spcPct val="105000"/>
              </a:lnSpc>
              <a:buNone/>
            </a:pPr>
            <a:r>
              <a:rPr lang="en-US" sz="1500" b="1" dirty="0">
                <a:solidFill>
                  <a:srgbClr val="0D1B2A"/>
                </a:solidFill>
                <a:latin typeface="Calibri" pitchFamily="34" charset="0"/>
                <a:ea typeface="Calibri" pitchFamily="34" charset="-122"/>
                <a:cs typeface="Calibri" pitchFamily="34" charset="-120"/>
              </a:rPr>
              <a:t>ATmega328P node</a:t>
            </a:r>
            <a:endParaRPr lang="en-US" sz="1500" dirty="0"/>
          </a:p>
        </p:txBody>
      </p:sp>
      <p:sp>
        <p:nvSpPr>
          <p:cNvPr id="24" name="node-165"/>
          <p:cNvSpPr/>
          <p:nvPr/>
        </p:nvSpPr>
        <p:spPr>
          <a:xfrm>
            <a:off x="11795760" y="5175504"/>
            <a:ext cx="3456432" cy="548640"/>
          </a:xfrm>
          <a:prstGeom prst="roundRect">
            <a:avLst>
              <a:gd name="adj" fmla="val 13333"/>
            </a:avLst>
          </a:prstGeom>
          <a:solidFill>
            <a:srgbClr val="E8F5EF"/>
          </a:solidFill>
          <a:ln w="12700">
            <a:solidFill>
              <a:srgbClr val="067A55"/>
            </a:solidFill>
            <a:prstDash val="solid"/>
          </a:ln>
        </p:spPr>
      </p:sp>
      <p:sp>
        <p:nvSpPr>
          <p:cNvPr id="25" name="text-166"/>
          <p:cNvSpPr txBox="1"/>
          <p:nvPr/>
        </p:nvSpPr>
        <p:spPr>
          <a:xfrm>
            <a:off x="11795760" y="5175504"/>
            <a:ext cx="3456432" cy="548640"/>
          </a:xfrm>
          <a:prstGeom prst="rect">
            <a:avLst/>
          </a:prstGeom>
          <a:noFill/>
          <a:ln/>
        </p:spPr>
        <p:txBody>
          <a:bodyPr wrap="square" lIns="0" tIns="0" rIns="0" bIns="0" rtlCol="0" anchor="ctr"/>
          <a:lstStyle/>
          <a:p>
            <a:pPr algn="ctr" indent="0" marL="0">
              <a:lnSpc>
                <a:spcPct val="105000"/>
              </a:lnSpc>
              <a:buNone/>
            </a:pPr>
            <a:r>
              <a:rPr lang="en-US" sz="1500" b="1" dirty="0">
                <a:solidFill>
                  <a:srgbClr val="0D1B2A"/>
                </a:solidFill>
                <a:latin typeface="Calibri" pitchFamily="34" charset="0"/>
                <a:ea typeface="Calibri" pitchFamily="34" charset="-122"/>
                <a:cs typeface="Calibri" pitchFamily="34" charset="-120"/>
              </a:rPr>
              <a:t>STM32F103 node</a:t>
            </a:r>
            <a:endParaRPr lang="en-US" sz="1500" dirty="0"/>
          </a:p>
        </p:txBody>
      </p:sp>
      <p:sp>
        <p:nvSpPr>
          <p:cNvPr id="26" name="arrow-167"/>
          <p:cNvSpPr/>
          <p:nvPr/>
        </p:nvSpPr>
        <p:spPr>
          <a:xfrm>
            <a:off x="4572000" y="3291840"/>
            <a:ext cx="1417320" cy="914"/>
          </a:xfrm>
          <a:prstGeom prst="line">
            <a:avLst/>
          </a:prstGeom>
          <a:noFill/>
          <a:ln w="25400">
            <a:solidFill>
              <a:srgbClr val="0E7490"/>
            </a:solidFill>
            <a:prstDash val="solid"/>
            <a:tailEnd type="triangle"/>
          </a:ln>
        </p:spPr>
      </p:sp>
      <p:sp>
        <p:nvSpPr>
          <p:cNvPr id="27" name="text-168"/>
          <p:cNvSpPr txBox="1"/>
          <p:nvPr/>
        </p:nvSpPr>
        <p:spPr>
          <a:xfrm>
            <a:off x="4617720" y="2880360"/>
            <a:ext cx="1325880" cy="365760"/>
          </a:xfrm>
          <a:prstGeom prst="rect">
            <a:avLst/>
          </a:prstGeom>
          <a:noFill/>
          <a:ln/>
        </p:spPr>
        <p:txBody>
          <a:bodyPr wrap="square" lIns="0" tIns="0" rIns="0" bIns="0" rtlCol="0" anchor="t"/>
          <a:lstStyle/>
          <a:p>
            <a:pPr algn="ctr" indent="0" marL="0">
              <a:lnSpc>
                <a:spcPct val="105000"/>
              </a:lnSpc>
              <a:buNone/>
            </a:pPr>
            <a:r>
              <a:rPr lang="en-US" sz="1300" dirty="0">
                <a:solidFill>
                  <a:srgbClr val="0E7490"/>
                </a:solidFill>
                <a:latin typeface="Calibri" pitchFamily="34" charset="0"/>
                <a:ea typeface="Calibri" pitchFamily="34" charset="-122"/>
                <a:cs typeface="Calibri" pitchFamily="34" charset="-120"/>
              </a:rPr>
              <a:t>publish</a:t>
            </a:r>
            <a:endParaRPr lang="en-US" sz="1300" dirty="0"/>
          </a:p>
        </p:txBody>
      </p:sp>
      <p:sp>
        <p:nvSpPr>
          <p:cNvPr id="28" name="arrow-169"/>
          <p:cNvSpPr/>
          <p:nvPr/>
        </p:nvSpPr>
        <p:spPr>
          <a:xfrm>
            <a:off x="10287000" y="3108960"/>
            <a:ext cx="1234440" cy="914"/>
          </a:xfrm>
          <a:prstGeom prst="line">
            <a:avLst/>
          </a:prstGeom>
          <a:noFill/>
          <a:ln w="25400">
            <a:solidFill>
              <a:srgbClr val="96650A"/>
            </a:solidFill>
            <a:prstDash val="solid"/>
            <a:tailEnd type="triangle"/>
          </a:ln>
        </p:spPr>
      </p:sp>
      <p:sp>
        <p:nvSpPr>
          <p:cNvPr id="29" name="text-170"/>
          <p:cNvSpPr txBox="1"/>
          <p:nvPr/>
        </p:nvSpPr>
        <p:spPr>
          <a:xfrm>
            <a:off x="10332720" y="2468880"/>
            <a:ext cx="1143000" cy="594360"/>
          </a:xfrm>
          <a:prstGeom prst="rect">
            <a:avLst/>
          </a:prstGeom>
          <a:noFill/>
          <a:ln/>
        </p:spPr>
        <p:txBody>
          <a:bodyPr wrap="square" lIns="0" tIns="0" rIns="0" bIns="0" rtlCol="0" anchor="t"/>
          <a:lstStyle/>
          <a:p>
            <a:pPr algn="ctr" indent="0" marL="0">
              <a:lnSpc>
                <a:spcPct val="105000"/>
              </a:lnSpc>
              <a:buNone/>
            </a:pPr>
            <a:r>
              <a:rPr lang="en-US" sz="1100" dirty="0">
                <a:solidFill>
                  <a:srgbClr val="96650A"/>
                </a:solidFill>
                <a:latin typeface="Calibri" pitchFamily="34" charset="0"/>
                <a:ea typeface="Calibri" pitchFamily="34" charset="-122"/>
                <a:cs typeface="Calibri" pitchFamily="34" charset="-120"/>
              </a:rPr>
              <a:t>manifest + package (HTTPS)</a:t>
            </a:r>
            <a:endParaRPr lang="en-US" sz="1100" dirty="0"/>
          </a:p>
        </p:txBody>
      </p:sp>
      <p:sp>
        <p:nvSpPr>
          <p:cNvPr id="30" name="arrow-171"/>
          <p:cNvSpPr/>
          <p:nvPr/>
        </p:nvSpPr>
        <p:spPr>
          <a:xfrm flipH="1">
            <a:off x="10287000" y="4754880"/>
            <a:ext cx="1234440" cy="914"/>
          </a:xfrm>
          <a:prstGeom prst="line">
            <a:avLst/>
          </a:prstGeom>
          <a:noFill/>
          <a:ln w="25400">
            <a:solidFill>
              <a:srgbClr val="067A55"/>
            </a:solidFill>
            <a:prstDash val="solid"/>
            <a:tailEnd type="triangle"/>
          </a:ln>
        </p:spPr>
      </p:sp>
      <p:sp>
        <p:nvSpPr>
          <p:cNvPr id="31" name="text-172"/>
          <p:cNvSpPr txBox="1"/>
          <p:nvPr/>
        </p:nvSpPr>
        <p:spPr>
          <a:xfrm>
            <a:off x="10332720" y="4846320"/>
            <a:ext cx="1143000" cy="594360"/>
          </a:xfrm>
          <a:prstGeom prst="rect">
            <a:avLst/>
          </a:prstGeom>
          <a:noFill/>
          <a:ln/>
        </p:spPr>
        <p:txBody>
          <a:bodyPr wrap="square" lIns="0" tIns="0" rIns="0" bIns="0" rtlCol="0" anchor="t"/>
          <a:lstStyle/>
          <a:p>
            <a:pPr algn="ctr" indent="0" marL="0">
              <a:lnSpc>
                <a:spcPct val="105000"/>
              </a:lnSpc>
              <a:buNone/>
            </a:pPr>
            <a:r>
              <a:rPr lang="en-US" sz="1100" dirty="0">
                <a:solidFill>
                  <a:srgbClr val="067A55"/>
                </a:solidFill>
                <a:latin typeface="Calibri" pitchFamily="34" charset="0"/>
                <a:ea typeface="Calibri" pitchFamily="34" charset="-122"/>
                <a:cs typeface="Calibri" pitchFamily="34" charset="-120"/>
              </a:rPr>
              <a:t>sealed beacons</a:t>
            </a:r>
            <a:endParaRPr lang="en-US" sz="1100" dirty="0"/>
          </a:p>
        </p:txBody>
      </p:sp>
      <p:sp>
        <p:nvSpPr>
          <p:cNvPr id="32" name="card-173"/>
          <p:cNvSpPr/>
          <p:nvPr/>
        </p:nvSpPr>
        <p:spPr>
          <a:xfrm>
            <a:off x="5989320" y="6629400"/>
            <a:ext cx="4297680" cy="1600200"/>
          </a:xfrm>
          <a:prstGeom prst="roundRect">
            <a:avLst>
              <a:gd name="adj" fmla="val 6857"/>
            </a:avLst>
          </a:prstGeom>
          <a:solidFill>
            <a:srgbClr val="FFFFFF"/>
          </a:solidFill>
          <a:ln w="15875">
            <a:solidFill>
              <a:srgbClr val="0D1B2A"/>
            </a:solidFill>
            <a:prstDash val="solid"/>
          </a:ln>
          <a:effectLst>
            <a:outerShdw sx="100000" sy="100000" kx="0" ky="0" algn="bl" rotWithShape="0" blurRad="76200" dist="25400" dir="5400000">
              <a:srgbClr val="9AAEC2">
                <a:alpha val="18000"/>
              </a:srgbClr>
            </a:outerShdw>
          </a:effectLst>
        </p:spPr>
      </p:sp>
      <p:sp>
        <p:nvSpPr>
          <p:cNvPr id="33" name="iconbg-174"/>
          <p:cNvSpPr/>
          <p:nvPr/>
        </p:nvSpPr>
        <p:spPr>
          <a:xfrm>
            <a:off x="6263640" y="6903720"/>
            <a:ext cx="685800" cy="685800"/>
          </a:xfrm>
          <a:prstGeom prst="ellipse">
            <a:avLst/>
          </a:prstGeom>
          <a:solidFill>
            <a:srgbClr val="F3F6F9"/>
          </a:solidFill>
          <a:ln w="15875">
            <a:solidFill>
              <a:srgbClr val="0D1B2A"/>
            </a:solidFill>
            <a:prstDash val="solid"/>
          </a:ln>
        </p:spPr>
      </p:sp>
      <p:pic>
        <p:nvPicPr>
          <p:cNvPr id="34" name="icon-175" descr="preencoded.png">    </p:cNvPr>
          <p:cNvPicPr>
            <a:picLocks noChangeAspect="1"/>
          </p:cNvPicPr>
          <p:nvPr/>
        </p:nvPicPr>
        <p:blipFill>
          <a:blip r:embed="rId4"/>
          <a:stretch>
            <a:fillRect/>
          </a:stretch>
        </p:blipFill>
        <p:spPr>
          <a:xfrm>
            <a:off x="6441948" y="7082028"/>
            <a:ext cx="329184" cy="329184"/>
          </a:xfrm>
          <a:prstGeom prst="rect">
            <a:avLst/>
          </a:prstGeom>
        </p:spPr>
      </p:pic>
      <p:sp>
        <p:nvSpPr>
          <p:cNvPr id="35" name="text-176"/>
          <p:cNvSpPr txBox="1"/>
          <p:nvPr/>
        </p:nvSpPr>
        <p:spPr>
          <a:xfrm>
            <a:off x="7086600" y="6812280"/>
            <a:ext cx="3108960" cy="457200"/>
          </a:xfrm>
          <a:prstGeom prst="rect">
            <a:avLst/>
          </a:prstGeom>
          <a:noFill/>
          <a:ln/>
        </p:spPr>
        <p:txBody>
          <a:bodyPr wrap="square" lIns="0" tIns="0" rIns="0" bIns="0" rtlCol="0" anchor="t"/>
          <a:lstStyle/>
          <a:p>
            <a:pPr algn="l" indent="0" marL="0">
              <a:lnSpc>
                <a:spcPct val="105000"/>
              </a:lnSpc>
              <a:buNone/>
            </a:pPr>
            <a:r>
              <a:rPr lang="en-US" sz="1700" b="1" dirty="0">
                <a:solidFill>
                  <a:srgbClr val="0D1B2A"/>
                </a:solidFill>
                <a:latin typeface="Cambria" pitchFamily="34" charset="0"/>
                <a:ea typeface="Cambria" pitchFamily="34" charset="-122"/>
                <a:cs typeface="Cambria" pitchFamily="34" charset="-120"/>
              </a:rPr>
              <a:t>Operator console (Next.js)</a:t>
            </a:r>
            <a:endParaRPr lang="en-US" sz="1700" dirty="0"/>
          </a:p>
        </p:txBody>
      </p:sp>
      <p:sp>
        <p:nvSpPr>
          <p:cNvPr id="36" name="text-177"/>
          <p:cNvSpPr txBox="1"/>
          <p:nvPr/>
        </p:nvSpPr>
        <p:spPr>
          <a:xfrm>
            <a:off x="7086600" y="7269480"/>
            <a:ext cx="3108960" cy="868680"/>
          </a:xfrm>
          <a:prstGeom prst="rect">
            <a:avLst/>
          </a:prstGeom>
          <a:noFill/>
          <a:ln/>
        </p:spPr>
        <p:txBody>
          <a:bodyPr wrap="square" lIns="0" tIns="0" rIns="0" bIns="0" rtlCol="0" anchor="t"/>
          <a:lstStyle/>
          <a:p>
            <a:pPr algn="l" indent="0" marL="0">
              <a:lnSpc>
                <a:spcPct val="105000"/>
              </a:lnSpc>
              <a:buNone/>
            </a:pPr>
            <a:r>
              <a:rPr lang="en-US" sz="1300" dirty="0">
                <a:solidFill>
                  <a:srgbClr val="33475B"/>
                </a:solidFill>
                <a:latin typeface="Calibri" pitchFamily="34" charset="0"/>
                <a:ea typeface="Calibri" pitchFamily="34" charset="-122"/>
                <a:cs typeface="Calibri" pitchFamily="34" charset="-120"/>
              </a:rPr>
              <a:t>Live fleet view, releases, deployments, USB flashing and provisioning</a:t>
            </a:r>
            <a:endParaRPr lang="en-US" sz="1300" dirty="0"/>
          </a:p>
        </p:txBody>
      </p:sp>
      <p:sp>
        <p:nvSpPr>
          <p:cNvPr id="37" name="arrow-178"/>
          <p:cNvSpPr/>
          <p:nvPr/>
        </p:nvSpPr>
        <p:spPr>
          <a:xfrm flipV="1">
            <a:off x="8138160" y="5943600"/>
            <a:ext cx="914" cy="685800"/>
          </a:xfrm>
          <a:prstGeom prst="line">
            <a:avLst/>
          </a:prstGeom>
          <a:noFill/>
          <a:ln w="25400">
            <a:solidFill>
              <a:srgbClr val="0D1B2A"/>
            </a:solidFill>
            <a:prstDash val="solid"/>
            <a:headEnd type="triangle"/>
            <a:tailEnd type="triangle"/>
          </a:ln>
        </p:spPr>
      </p:sp>
      <p:sp>
        <p:nvSpPr>
          <p:cNvPr id="38" name="text-179"/>
          <p:cNvSpPr txBox="1"/>
          <p:nvPr/>
        </p:nvSpPr>
        <p:spPr>
          <a:xfrm>
            <a:off x="8275320" y="6126480"/>
            <a:ext cx="2011680" cy="365760"/>
          </a:xfrm>
          <a:prstGeom prst="rect">
            <a:avLst/>
          </a:prstGeom>
          <a:noFill/>
          <a:ln/>
        </p:spPr>
        <p:txBody>
          <a:bodyPr wrap="square" lIns="0" tIns="0" rIns="0" bIns="0" rtlCol="0" anchor="t"/>
          <a:lstStyle/>
          <a:p>
            <a:pPr algn="l" indent="0" marL="0">
              <a:lnSpc>
                <a:spcPct val="105000"/>
              </a:lnSpc>
              <a:buNone/>
            </a:pPr>
            <a:r>
              <a:rPr lang="en-US" sz="1200" dirty="0">
                <a:solidFill>
                  <a:srgbClr val="0D1B2A"/>
                </a:solidFill>
                <a:latin typeface="Calibri" pitchFamily="34" charset="0"/>
                <a:ea typeface="Calibri" pitchFamily="34" charset="-122"/>
                <a:cs typeface="Calibri" pitchFamily="34" charset="-120"/>
              </a:rPr>
              <a:t>REST + live stream</a:t>
            </a:r>
            <a:endParaRPr lang="en-US" sz="1200" dirty="0"/>
          </a:p>
        </p:txBody>
      </p:sp>
      <p:sp>
        <p:nvSpPr>
          <p:cNvPr id="39" name="arrow-180"/>
          <p:cNvSpPr/>
          <p:nvPr/>
        </p:nvSpPr>
        <p:spPr>
          <a:xfrm>
            <a:off x="10287000" y="7406640"/>
            <a:ext cx="3246120" cy="914"/>
          </a:xfrm>
          <a:prstGeom prst="line">
            <a:avLst/>
          </a:prstGeom>
          <a:noFill/>
          <a:ln w="19050">
            <a:solidFill>
              <a:srgbClr val="6B7D91"/>
            </a:solidFill>
            <a:prstDash val="dash"/>
          </a:ln>
        </p:spPr>
      </p:sp>
      <p:sp>
        <p:nvSpPr>
          <p:cNvPr id="40" name="arrow-181"/>
          <p:cNvSpPr/>
          <p:nvPr/>
        </p:nvSpPr>
        <p:spPr>
          <a:xfrm flipV="1">
            <a:off x="13533120" y="5943600"/>
            <a:ext cx="914" cy="1463040"/>
          </a:xfrm>
          <a:prstGeom prst="line">
            <a:avLst/>
          </a:prstGeom>
          <a:noFill/>
          <a:ln w="19050">
            <a:solidFill>
              <a:srgbClr val="6B7D91"/>
            </a:solidFill>
            <a:prstDash val="dash"/>
            <a:tailEnd type="triangle"/>
          </a:ln>
        </p:spPr>
      </p:sp>
      <p:sp>
        <p:nvSpPr>
          <p:cNvPr id="41" name="text-182"/>
          <p:cNvSpPr txBox="1"/>
          <p:nvPr/>
        </p:nvSpPr>
        <p:spPr>
          <a:xfrm>
            <a:off x="10424160" y="7498080"/>
            <a:ext cx="4206240" cy="411480"/>
          </a:xfrm>
          <a:prstGeom prst="rect">
            <a:avLst/>
          </a:prstGeom>
          <a:noFill/>
          <a:ln/>
        </p:spPr>
        <p:txBody>
          <a:bodyPr wrap="square" lIns="0" tIns="0" rIns="0" bIns="0" rtlCol="0" anchor="t"/>
          <a:lstStyle/>
          <a:p>
            <a:pPr algn="l" indent="0" marL="0">
              <a:lnSpc>
                <a:spcPct val="105000"/>
              </a:lnSpc>
              <a:buNone/>
            </a:pPr>
            <a:r>
              <a:rPr lang="en-US" sz="1200" dirty="0">
                <a:solidFill>
                  <a:srgbClr val="6B7D91"/>
                </a:solidFill>
                <a:latin typeface="Calibri" pitchFamily="34" charset="0"/>
                <a:ea typeface="Calibri" pitchFamily="34" charset="-122"/>
                <a:cs typeface="Calibri" pitchFamily="34" charset="-120"/>
              </a:rPr>
              <a:t>USB flash and provisioning (first install)</a:t>
            </a:r>
            <a:endParaRPr lang="en-US" sz="12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6.2  Detailed Design</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Complete firmware lifecycle, from tagged build to rollback recovery (paper, Fig. 1)</a:t>
            </a:r>
            <a:endParaRPr lang="en-US" sz="1600" dirty="0"/>
          </a:p>
        </p:txBody>
      </p:sp>
      <p:sp>
        <p:nvSpPr>
          <p:cNvPr id="4" name="card-183"/>
          <p:cNvSpPr/>
          <p:nvPr/>
        </p:nvSpPr>
        <p:spPr>
          <a:xfrm>
            <a:off x="731520" y="1828800"/>
            <a:ext cx="8778240" cy="6400800"/>
          </a:xfrm>
          <a:prstGeom prst="roundRect">
            <a:avLst>
              <a:gd name="adj" fmla="val 1714"/>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pic>
        <p:nvPicPr>
          <p:cNvPr id="5" name="fig1-184" descr="/tmp/claude-0/pres/build/assets/fig1_lifecycle.png">    </p:cNvPr>
          <p:cNvPicPr>
            <a:picLocks noChangeAspect="1"/>
          </p:cNvPicPr>
          <p:nvPr/>
        </p:nvPicPr>
        <p:blipFill>
          <a:blip r:embed="rId1"/>
          <a:srcRect l="0" r="0" t="0" b="0"/>
          <a:stretch/>
        </p:blipFill>
        <p:spPr>
          <a:xfrm>
            <a:off x="960120" y="2011680"/>
            <a:ext cx="8321040" cy="6035040"/>
          </a:xfrm>
          <a:prstGeom prst="rect">
            <a:avLst/>
          </a:prstGeom>
        </p:spPr>
      </p:pic>
      <p:sp>
        <p:nvSpPr>
          <p:cNvPr id="6" name="card-185"/>
          <p:cNvSpPr/>
          <p:nvPr/>
        </p:nvSpPr>
        <p:spPr>
          <a:xfrm>
            <a:off x="9784080" y="1828800"/>
            <a:ext cx="5742432" cy="932688"/>
          </a:xfrm>
          <a:prstGeom prst="roundRect">
            <a:avLst>
              <a:gd name="adj" fmla="val 11765"/>
            </a:avLst>
          </a:prstGeom>
          <a:solidFill>
            <a:srgbClr val="F3F6F9"/>
          </a:solidFill>
          <a:ln w="15875">
            <a:solidFill>
              <a:srgbClr val="C9D4DE"/>
            </a:solidFill>
            <a:prstDash val="solid"/>
          </a:ln>
        </p:spPr>
      </p:sp>
      <p:sp>
        <p:nvSpPr>
          <p:cNvPr id="7" name="text-186"/>
          <p:cNvSpPr txBox="1"/>
          <p:nvPr/>
        </p:nvSpPr>
        <p:spPr>
          <a:xfrm>
            <a:off x="9966960" y="1828800"/>
            <a:ext cx="731520" cy="932688"/>
          </a:xfrm>
          <a:prstGeom prst="rect">
            <a:avLst/>
          </a:prstGeom>
          <a:noFill/>
          <a:ln/>
        </p:spPr>
        <p:txBody>
          <a:bodyPr wrap="square" lIns="0" tIns="0" rIns="0" bIns="0" rtlCol="0" anchor="ctr"/>
          <a:lstStyle/>
          <a:p>
            <a:pPr algn="l" indent="0" marL="0">
              <a:lnSpc>
                <a:spcPct val="105000"/>
              </a:lnSpc>
              <a:buNone/>
            </a:pPr>
            <a:r>
              <a:rPr lang="en-US" sz="1800" b="1" dirty="0">
                <a:solidFill>
                  <a:srgbClr val="0E7490"/>
                </a:solidFill>
                <a:latin typeface="Cambria" pitchFamily="34" charset="0"/>
                <a:ea typeface="Cambria" pitchFamily="34" charset="-122"/>
                <a:cs typeface="Cambria" pitchFamily="34" charset="-120"/>
              </a:rPr>
              <a:t>M1</a:t>
            </a:r>
            <a:endParaRPr lang="en-US" sz="1800" dirty="0"/>
          </a:p>
        </p:txBody>
      </p:sp>
      <p:sp>
        <p:nvSpPr>
          <p:cNvPr id="8" name="text-187"/>
          <p:cNvSpPr txBox="1"/>
          <p:nvPr/>
        </p:nvSpPr>
        <p:spPr>
          <a:xfrm>
            <a:off x="10698480" y="1920240"/>
            <a:ext cx="4663440" cy="384048"/>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Tiered Crypto Verification</a:t>
            </a:r>
            <a:endParaRPr lang="en-US" sz="1500" dirty="0"/>
          </a:p>
        </p:txBody>
      </p:sp>
      <p:sp>
        <p:nvSpPr>
          <p:cNvPr id="9" name="text-188"/>
          <p:cNvSpPr txBox="1"/>
          <p:nvPr/>
        </p:nvSpPr>
        <p:spPr>
          <a:xfrm>
            <a:off x="10698480" y="2286000"/>
            <a:ext cx="4663440" cy="411480"/>
          </a:xfrm>
          <a:prstGeom prst="rect">
            <a:avLst/>
          </a:prstGeom>
          <a:noFill/>
          <a:ln/>
        </p:spPr>
        <p:txBody>
          <a:bodyPr wrap="square" lIns="0" tIns="0" rIns="0" bIns="0" rtlCol="0" anchor="t"/>
          <a:lstStyle/>
          <a:p>
            <a:pPr algn="l" indent="0" marL="0">
              <a:lnSpc>
                <a:spcPct val="105000"/>
              </a:lnSpc>
              <a:buNone/>
            </a:pPr>
            <a:r>
              <a:rPr lang="en-US" sz="1300" dirty="0">
                <a:solidFill>
                  <a:srgbClr val="33475B"/>
                </a:solidFill>
                <a:latin typeface="Calibri" pitchFamily="34" charset="0"/>
                <a:ea typeface="Calibri" pitchFamily="34" charset="-122"/>
                <a:cs typeface="Calibri" pitchFamily="34" charset="-120"/>
              </a:rPr>
              <a:t>Five gates check every candidate image, cheapest first</a:t>
            </a:r>
            <a:endParaRPr lang="en-US" sz="1300" dirty="0"/>
          </a:p>
        </p:txBody>
      </p:sp>
      <p:sp>
        <p:nvSpPr>
          <p:cNvPr id="10" name="card-189"/>
          <p:cNvSpPr/>
          <p:nvPr/>
        </p:nvSpPr>
        <p:spPr>
          <a:xfrm>
            <a:off x="9784080" y="2907792"/>
            <a:ext cx="5742432" cy="932688"/>
          </a:xfrm>
          <a:prstGeom prst="roundRect">
            <a:avLst>
              <a:gd name="adj" fmla="val 11765"/>
            </a:avLst>
          </a:prstGeom>
          <a:solidFill>
            <a:srgbClr val="FFFFFF"/>
          </a:solidFill>
          <a:ln w="15875">
            <a:solidFill>
              <a:srgbClr val="C9D4DE"/>
            </a:solidFill>
            <a:prstDash val="solid"/>
          </a:ln>
        </p:spPr>
      </p:sp>
      <p:sp>
        <p:nvSpPr>
          <p:cNvPr id="11" name="text-190"/>
          <p:cNvSpPr txBox="1"/>
          <p:nvPr/>
        </p:nvSpPr>
        <p:spPr>
          <a:xfrm>
            <a:off x="9966960" y="2907792"/>
            <a:ext cx="731520" cy="932688"/>
          </a:xfrm>
          <a:prstGeom prst="rect">
            <a:avLst/>
          </a:prstGeom>
          <a:noFill/>
          <a:ln/>
        </p:spPr>
        <p:txBody>
          <a:bodyPr wrap="square" lIns="0" tIns="0" rIns="0" bIns="0" rtlCol="0" anchor="ctr"/>
          <a:lstStyle/>
          <a:p>
            <a:pPr algn="l" indent="0" marL="0">
              <a:lnSpc>
                <a:spcPct val="105000"/>
              </a:lnSpc>
              <a:buNone/>
            </a:pPr>
            <a:r>
              <a:rPr lang="en-US" sz="1800" b="1" dirty="0">
                <a:solidFill>
                  <a:srgbClr val="0E7490"/>
                </a:solidFill>
                <a:latin typeface="Cambria" pitchFamily="34" charset="0"/>
                <a:ea typeface="Cambria" pitchFamily="34" charset="-122"/>
                <a:cs typeface="Cambria" pitchFamily="34" charset="-120"/>
              </a:rPr>
              <a:t>M2</a:t>
            </a:r>
            <a:endParaRPr lang="en-US" sz="1800" dirty="0"/>
          </a:p>
        </p:txBody>
      </p:sp>
      <p:sp>
        <p:nvSpPr>
          <p:cNvPr id="12" name="text-191"/>
          <p:cNvSpPr txBox="1"/>
          <p:nvPr/>
        </p:nvSpPr>
        <p:spPr>
          <a:xfrm>
            <a:off x="10698480" y="2999232"/>
            <a:ext cx="4663440" cy="384048"/>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Version-aware policy</a:t>
            </a:r>
            <a:endParaRPr lang="en-US" sz="1500" dirty="0"/>
          </a:p>
        </p:txBody>
      </p:sp>
      <p:sp>
        <p:nvSpPr>
          <p:cNvPr id="13" name="text-192"/>
          <p:cNvSpPr txBox="1"/>
          <p:nvPr/>
        </p:nvSpPr>
        <p:spPr>
          <a:xfrm>
            <a:off x="10698480" y="3364992"/>
            <a:ext cx="4663440" cy="411480"/>
          </a:xfrm>
          <a:prstGeom prst="rect">
            <a:avLst/>
          </a:prstGeom>
          <a:noFill/>
          <a:ln/>
        </p:spPr>
        <p:txBody>
          <a:bodyPr wrap="square" lIns="0" tIns="0" rIns="0" bIns="0" rtlCol="0" anchor="t"/>
          <a:lstStyle/>
          <a:p>
            <a:pPr algn="l" indent="0" marL="0">
              <a:lnSpc>
                <a:spcPct val="105000"/>
              </a:lnSpc>
              <a:buNone/>
            </a:pPr>
            <a:r>
              <a:rPr lang="en-US" sz="1300" dirty="0">
                <a:solidFill>
                  <a:srgbClr val="33475B"/>
                </a:solidFill>
                <a:latin typeface="Calibri" pitchFamily="34" charset="0"/>
                <a:ea typeface="Calibri" pitchFamily="34" charset="-122"/>
                <a:cs typeface="Calibri" pitchFamily="34" charset="-120"/>
              </a:rPr>
              <a:t>Version check and relevance score R before release</a:t>
            </a:r>
            <a:endParaRPr lang="en-US" sz="1300" dirty="0"/>
          </a:p>
        </p:txBody>
      </p:sp>
      <p:sp>
        <p:nvSpPr>
          <p:cNvPr id="14" name="card-193"/>
          <p:cNvSpPr/>
          <p:nvPr/>
        </p:nvSpPr>
        <p:spPr>
          <a:xfrm>
            <a:off x="9784080" y="3986784"/>
            <a:ext cx="5742432" cy="932688"/>
          </a:xfrm>
          <a:prstGeom prst="roundRect">
            <a:avLst>
              <a:gd name="adj" fmla="val 11765"/>
            </a:avLst>
          </a:prstGeom>
          <a:solidFill>
            <a:srgbClr val="F3F6F9"/>
          </a:solidFill>
          <a:ln w="15875">
            <a:solidFill>
              <a:srgbClr val="C9D4DE"/>
            </a:solidFill>
            <a:prstDash val="solid"/>
          </a:ln>
        </p:spPr>
      </p:sp>
      <p:sp>
        <p:nvSpPr>
          <p:cNvPr id="15" name="text-194"/>
          <p:cNvSpPr txBox="1"/>
          <p:nvPr/>
        </p:nvSpPr>
        <p:spPr>
          <a:xfrm>
            <a:off x="9966960" y="3986784"/>
            <a:ext cx="731520" cy="932688"/>
          </a:xfrm>
          <a:prstGeom prst="rect">
            <a:avLst/>
          </a:prstGeom>
          <a:noFill/>
          <a:ln/>
        </p:spPr>
        <p:txBody>
          <a:bodyPr wrap="square" lIns="0" tIns="0" rIns="0" bIns="0" rtlCol="0" anchor="ctr"/>
          <a:lstStyle/>
          <a:p>
            <a:pPr algn="l" indent="0" marL="0">
              <a:lnSpc>
                <a:spcPct val="105000"/>
              </a:lnSpc>
              <a:buNone/>
            </a:pPr>
            <a:r>
              <a:rPr lang="en-US" sz="1800" b="1" dirty="0">
                <a:solidFill>
                  <a:srgbClr val="0E7490"/>
                </a:solidFill>
                <a:latin typeface="Cambria" pitchFamily="34" charset="0"/>
                <a:ea typeface="Cambria" pitchFamily="34" charset="-122"/>
                <a:cs typeface="Cambria" pitchFamily="34" charset="-120"/>
              </a:rPr>
              <a:t>M3</a:t>
            </a:r>
            <a:endParaRPr lang="en-US" sz="1800" dirty="0"/>
          </a:p>
        </p:txBody>
      </p:sp>
      <p:sp>
        <p:nvSpPr>
          <p:cNvPr id="16" name="text-195"/>
          <p:cNvSpPr txBox="1"/>
          <p:nvPr/>
        </p:nvSpPr>
        <p:spPr>
          <a:xfrm>
            <a:off x="10698480" y="4078224"/>
            <a:ext cx="4663440" cy="384048"/>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Distribution and install</a:t>
            </a:r>
            <a:endParaRPr lang="en-US" sz="1500" dirty="0"/>
          </a:p>
        </p:txBody>
      </p:sp>
      <p:sp>
        <p:nvSpPr>
          <p:cNvPr id="17" name="text-196"/>
          <p:cNvSpPr txBox="1"/>
          <p:nvPr/>
        </p:nvSpPr>
        <p:spPr>
          <a:xfrm>
            <a:off x="10698480" y="4443984"/>
            <a:ext cx="4663440" cy="411480"/>
          </a:xfrm>
          <a:prstGeom prst="rect">
            <a:avLst/>
          </a:prstGeom>
          <a:noFill/>
          <a:ln/>
        </p:spPr>
        <p:txBody>
          <a:bodyPr wrap="square" lIns="0" tIns="0" rIns="0" bIns="0" rtlCol="0" anchor="t"/>
          <a:lstStyle/>
          <a:p>
            <a:pPr algn="l" indent="0" marL="0">
              <a:lnSpc>
                <a:spcPct val="105000"/>
              </a:lnSpc>
              <a:buNone/>
            </a:pPr>
            <a:r>
              <a:rPr lang="en-US" sz="1300" dirty="0">
                <a:solidFill>
                  <a:srgbClr val="33475B"/>
                </a:solidFill>
                <a:latin typeface="Calibri" pitchFamily="34" charset="0"/>
                <a:ea typeface="Calibri" pitchFamily="34" charset="-122"/>
                <a:cs typeface="Calibri" pitchFamily="34" charset="-120"/>
              </a:rPr>
              <a:t>Release delivery and write to the OTA partition</a:t>
            </a:r>
            <a:endParaRPr lang="en-US" sz="1300" dirty="0"/>
          </a:p>
        </p:txBody>
      </p:sp>
      <p:sp>
        <p:nvSpPr>
          <p:cNvPr id="18" name="card-197"/>
          <p:cNvSpPr/>
          <p:nvPr/>
        </p:nvSpPr>
        <p:spPr>
          <a:xfrm>
            <a:off x="9784080" y="5065776"/>
            <a:ext cx="5742432" cy="932688"/>
          </a:xfrm>
          <a:prstGeom prst="roundRect">
            <a:avLst>
              <a:gd name="adj" fmla="val 11765"/>
            </a:avLst>
          </a:prstGeom>
          <a:solidFill>
            <a:srgbClr val="FFFFFF"/>
          </a:solidFill>
          <a:ln w="15875">
            <a:solidFill>
              <a:srgbClr val="C9D4DE"/>
            </a:solidFill>
            <a:prstDash val="solid"/>
          </a:ln>
        </p:spPr>
      </p:sp>
      <p:sp>
        <p:nvSpPr>
          <p:cNvPr id="19" name="text-198"/>
          <p:cNvSpPr txBox="1"/>
          <p:nvPr/>
        </p:nvSpPr>
        <p:spPr>
          <a:xfrm>
            <a:off x="9966960" y="5065776"/>
            <a:ext cx="731520" cy="932688"/>
          </a:xfrm>
          <a:prstGeom prst="rect">
            <a:avLst/>
          </a:prstGeom>
          <a:noFill/>
          <a:ln/>
        </p:spPr>
        <p:txBody>
          <a:bodyPr wrap="square" lIns="0" tIns="0" rIns="0" bIns="0" rtlCol="0" anchor="ctr"/>
          <a:lstStyle/>
          <a:p>
            <a:pPr algn="l" indent="0" marL="0">
              <a:lnSpc>
                <a:spcPct val="105000"/>
              </a:lnSpc>
              <a:buNone/>
            </a:pPr>
            <a:r>
              <a:rPr lang="en-US" sz="1800" b="1" dirty="0">
                <a:solidFill>
                  <a:srgbClr val="0E7490"/>
                </a:solidFill>
                <a:latin typeface="Cambria" pitchFamily="34" charset="0"/>
                <a:ea typeface="Cambria" pitchFamily="34" charset="-122"/>
                <a:cs typeface="Cambria" pitchFamily="34" charset="-120"/>
              </a:rPr>
              <a:t>M4</a:t>
            </a:r>
            <a:endParaRPr lang="en-US" sz="1800" dirty="0"/>
          </a:p>
        </p:txBody>
      </p:sp>
      <p:sp>
        <p:nvSpPr>
          <p:cNvPr id="20" name="text-199"/>
          <p:cNvSpPr txBox="1"/>
          <p:nvPr/>
        </p:nvSpPr>
        <p:spPr>
          <a:xfrm>
            <a:off x="10698480" y="5157216"/>
            <a:ext cx="4663440" cy="384048"/>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Rollback recovery</a:t>
            </a:r>
            <a:endParaRPr lang="en-US" sz="1500" dirty="0"/>
          </a:p>
        </p:txBody>
      </p:sp>
      <p:sp>
        <p:nvSpPr>
          <p:cNvPr id="21" name="text-200"/>
          <p:cNvSpPr txBox="1"/>
          <p:nvPr/>
        </p:nvSpPr>
        <p:spPr>
          <a:xfrm>
            <a:off x="10698480" y="5522976"/>
            <a:ext cx="4663440" cy="411480"/>
          </a:xfrm>
          <a:prstGeom prst="rect">
            <a:avLst/>
          </a:prstGeom>
          <a:noFill/>
          <a:ln/>
        </p:spPr>
        <p:txBody>
          <a:bodyPr wrap="square" lIns="0" tIns="0" rIns="0" bIns="0" rtlCol="0" anchor="t"/>
          <a:lstStyle/>
          <a:p>
            <a:pPr algn="l" indent="0" marL="0">
              <a:lnSpc>
                <a:spcPct val="105000"/>
              </a:lnSpc>
              <a:buNone/>
            </a:pPr>
            <a:r>
              <a:rPr lang="en-US" sz="1300" dirty="0">
                <a:solidFill>
                  <a:srgbClr val="33475B"/>
                </a:solidFill>
                <a:latin typeface="Calibri" pitchFamily="34" charset="0"/>
                <a:ea typeface="Calibri" pitchFamily="34" charset="-122"/>
                <a:cs typeface="Calibri" pitchFamily="34" charset="-120"/>
              </a:rPr>
              <a:t>Failed post-boot self-test returns to the old image</a:t>
            </a:r>
            <a:endParaRPr lang="en-US" sz="1300" dirty="0"/>
          </a:p>
        </p:txBody>
      </p:sp>
      <p:sp>
        <p:nvSpPr>
          <p:cNvPr id="22" name="card-201"/>
          <p:cNvSpPr/>
          <p:nvPr/>
        </p:nvSpPr>
        <p:spPr>
          <a:xfrm>
            <a:off x="9784080" y="6144768"/>
            <a:ext cx="5742432" cy="932688"/>
          </a:xfrm>
          <a:prstGeom prst="roundRect">
            <a:avLst>
              <a:gd name="adj" fmla="val 11765"/>
            </a:avLst>
          </a:prstGeom>
          <a:solidFill>
            <a:srgbClr val="F3F6F9"/>
          </a:solidFill>
          <a:ln w="15875">
            <a:solidFill>
              <a:srgbClr val="C9D4DE"/>
            </a:solidFill>
            <a:prstDash val="solid"/>
          </a:ln>
        </p:spPr>
      </p:sp>
      <p:sp>
        <p:nvSpPr>
          <p:cNvPr id="23" name="text-202"/>
          <p:cNvSpPr txBox="1"/>
          <p:nvPr/>
        </p:nvSpPr>
        <p:spPr>
          <a:xfrm>
            <a:off x="9966960" y="6144768"/>
            <a:ext cx="731520" cy="932688"/>
          </a:xfrm>
          <a:prstGeom prst="rect">
            <a:avLst/>
          </a:prstGeom>
          <a:noFill/>
          <a:ln/>
        </p:spPr>
        <p:txBody>
          <a:bodyPr wrap="square" lIns="0" tIns="0" rIns="0" bIns="0" rtlCol="0" anchor="ctr"/>
          <a:lstStyle/>
          <a:p>
            <a:pPr algn="l" indent="0" marL="0">
              <a:lnSpc>
                <a:spcPct val="105000"/>
              </a:lnSpc>
              <a:buNone/>
            </a:pPr>
            <a:r>
              <a:rPr lang="en-US" sz="1800" b="1" dirty="0">
                <a:solidFill>
                  <a:srgbClr val="0E7490"/>
                </a:solidFill>
                <a:latin typeface="Cambria" pitchFamily="34" charset="0"/>
                <a:ea typeface="Cambria" pitchFamily="34" charset="-122"/>
                <a:cs typeface="Cambria" pitchFamily="34" charset="-120"/>
              </a:rPr>
              <a:t>M5</a:t>
            </a:r>
            <a:endParaRPr lang="en-US" sz="1800" dirty="0"/>
          </a:p>
        </p:txBody>
      </p:sp>
      <p:sp>
        <p:nvSpPr>
          <p:cNvPr id="24" name="text-203"/>
          <p:cNvSpPr txBox="1"/>
          <p:nvPr/>
        </p:nvSpPr>
        <p:spPr>
          <a:xfrm>
            <a:off x="10698480" y="6236208"/>
            <a:ext cx="4663440" cy="384048"/>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Health-score quarantine</a:t>
            </a:r>
            <a:endParaRPr lang="en-US" sz="1500" dirty="0"/>
          </a:p>
        </p:txBody>
      </p:sp>
      <p:sp>
        <p:nvSpPr>
          <p:cNvPr id="25" name="text-204"/>
          <p:cNvSpPr txBox="1"/>
          <p:nvPr/>
        </p:nvSpPr>
        <p:spPr>
          <a:xfrm>
            <a:off x="10698480" y="6601968"/>
            <a:ext cx="4663440" cy="411480"/>
          </a:xfrm>
          <a:prstGeom prst="rect">
            <a:avLst/>
          </a:prstGeom>
          <a:noFill/>
          <a:ln/>
        </p:spPr>
        <p:txBody>
          <a:bodyPr wrap="square" lIns="0" tIns="0" rIns="0" bIns="0" rtlCol="0" anchor="t"/>
          <a:lstStyle/>
          <a:p>
            <a:pPr algn="l" indent="0" marL="0">
              <a:lnSpc>
                <a:spcPct val="105000"/>
              </a:lnSpc>
              <a:buNone/>
            </a:pPr>
            <a:r>
              <a:rPr lang="en-US" sz="1300" dirty="0">
                <a:solidFill>
                  <a:srgbClr val="33475B"/>
                </a:solidFill>
                <a:latin typeface="Calibri" pitchFamily="34" charset="0"/>
                <a:ea typeface="Calibri" pitchFamily="34" charset="-122"/>
                <a:cs typeface="Calibri" pitchFamily="34" charset="-120"/>
              </a:rPr>
              <a:t>Low score H stops a device from taking updates</a:t>
            </a:r>
            <a:endParaRPr lang="en-US" sz="1300" dirty="0"/>
          </a:p>
        </p:txBody>
      </p:sp>
      <p:sp>
        <p:nvSpPr>
          <p:cNvPr id="26" name="card-205"/>
          <p:cNvSpPr/>
          <p:nvPr/>
        </p:nvSpPr>
        <p:spPr>
          <a:xfrm>
            <a:off x="9784080" y="7223760"/>
            <a:ext cx="5742432" cy="932688"/>
          </a:xfrm>
          <a:prstGeom prst="roundRect">
            <a:avLst>
              <a:gd name="adj" fmla="val 11765"/>
            </a:avLst>
          </a:prstGeom>
          <a:solidFill>
            <a:srgbClr val="FFFFFF"/>
          </a:solidFill>
          <a:ln w="15875">
            <a:solidFill>
              <a:srgbClr val="C9D4DE"/>
            </a:solidFill>
            <a:prstDash val="solid"/>
          </a:ln>
        </p:spPr>
      </p:sp>
      <p:sp>
        <p:nvSpPr>
          <p:cNvPr id="27" name="text-206"/>
          <p:cNvSpPr txBox="1"/>
          <p:nvPr/>
        </p:nvSpPr>
        <p:spPr>
          <a:xfrm>
            <a:off x="9966960" y="7223760"/>
            <a:ext cx="731520" cy="932688"/>
          </a:xfrm>
          <a:prstGeom prst="rect">
            <a:avLst/>
          </a:prstGeom>
          <a:noFill/>
          <a:ln/>
        </p:spPr>
        <p:txBody>
          <a:bodyPr wrap="square" lIns="0" tIns="0" rIns="0" bIns="0" rtlCol="0" anchor="ctr"/>
          <a:lstStyle/>
          <a:p>
            <a:pPr algn="l" indent="0" marL="0">
              <a:lnSpc>
                <a:spcPct val="105000"/>
              </a:lnSpc>
              <a:buNone/>
            </a:pPr>
            <a:r>
              <a:rPr lang="en-US" sz="1800" b="1" dirty="0">
                <a:solidFill>
                  <a:srgbClr val="0E7490"/>
                </a:solidFill>
                <a:latin typeface="Cambria" pitchFamily="34" charset="0"/>
                <a:ea typeface="Cambria" pitchFamily="34" charset="-122"/>
                <a:cs typeface="Cambria" pitchFamily="34" charset="-120"/>
              </a:rPr>
              <a:t>M6</a:t>
            </a:r>
            <a:endParaRPr lang="en-US" sz="1800" dirty="0"/>
          </a:p>
        </p:txBody>
      </p:sp>
      <p:sp>
        <p:nvSpPr>
          <p:cNvPr id="28" name="text-207"/>
          <p:cNvSpPr txBox="1"/>
          <p:nvPr/>
        </p:nvSpPr>
        <p:spPr>
          <a:xfrm>
            <a:off x="10698480" y="7315200"/>
            <a:ext cx="4663440" cy="384048"/>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Bundle packaging</a:t>
            </a:r>
            <a:endParaRPr lang="en-US" sz="1500" dirty="0"/>
          </a:p>
        </p:txBody>
      </p:sp>
      <p:sp>
        <p:nvSpPr>
          <p:cNvPr id="29" name="text-208"/>
          <p:cNvSpPr txBox="1"/>
          <p:nvPr/>
        </p:nvSpPr>
        <p:spPr>
          <a:xfrm>
            <a:off x="10698480" y="7680960"/>
            <a:ext cx="4663440" cy="411480"/>
          </a:xfrm>
          <a:prstGeom prst="rect">
            <a:avLst/>
          </a:prstGeom>
          <a:noFill/>
          <a:ln/>
        </p:spPr>
        <p:txBody>
          <a:bodyPr wrap="square" lIns="0" tIns="0" rIns="0" bIns="0" rtlCol="0" anchor="t"/>
          <a:lstStyle/>
          <a:p>
            <a:pPr algn="l" indent="0" marL="0">
              <a:lnSpc>
                <a:spcPct val="105000"/>
              </a:lnSpc>
              <a:buNone/>
            </a:pPr>
            <a:r>
              <a:rPr lang="en-US" sz="1300" dirty="0">
                <a:solidFill>
                  <a:srgbClr val="33475B"/>
                </a:solidFill>
                <a:latin typeface="Calibri" pitchFamily="34" charset="0"/>
                <a:ea typeface="Calibri" pitchFamily="34" charset="-122"/>
                <a:cs typeface="Calibri" pitchFamily="34" charset="-120"/>
              </a:rPr>
              <a:t>Binary, digest, signature, HMAC tag and manifest</a:t>
            </a:r>
            <a:endParaRPr lang="en-US" sz="13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6.3  Database Design</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Entities kept by the gateway and the console</a:t>
            </a:r>
            <a:endParaRPr lang="en-US" sz="1600" dirty="0"/>
          </a:p>
        </p:txBody>
      </p:sp>
      <p:sp>
        <p:nvSpPr>
          <p:cNvPr id="4" name="card-209"/>
          <p:cNvSpPr/>
          <p:nvPr/>
        </p:nvSpPr>
        <p:spPr>
          <a:xfrm>
            <a:off x="731520" y="1828800"/>
            <a:ext cx="3383280" cy="2743200"/>
          </a:xfrm>
          <a:prstGeom prst="roundRect">
            <a:avLst>
              <a:gd name="adj" fmla="val 4000"/>
            </a:avLst>
          </a:prstGeom>
          <a:solidFill>
            <a:srgbClr val="FFFFFF"/>
          </a:solidFill>
          <a:ln w="15875">
            <a:solidFill>
              <a:srgbClr val="0E7490"/>
            </a:solidFill>
            <a:prstDash val="solid"/>
          </a:ln>
          <a:effectLst>
            <a:outerShdw sx="100000" sy="100000" kx="0" ky="0" algn="bl" rotWithShape="0" blurRad="76200" dist="25400" dir="5400000">
              <a:srgbClr val="9AAEC2">
                <a:alpha val="18000"/>
              </a:srgbClr>
            </a:outerShdw>
          </a:effectLst>
        </p:spPr>
      </p:sp>
      <p:sp>
        <p:nvSpPr>
          <p:cNvPr id="5" name="enthead-210"/>
          <p:cNvSpPr/>
          <p:nvPr/>
        </p:nvSpPr>
        <p:spPr>
          <a:xfrm>
            <a:off x="731520" y="1828800"/>
            <a:ext cx="3383280" cy="685800"/>
          </a:xfrm>
          <a:prstGeom prst="roundRect">
            <a:avLst>
              <a:gd name="adj" fmla="val 16000"/>
            </a:avLst>
          </a:prstGeom>
          <a:solidFill>
            <a:srgbClr val="0E7490"/>
          </a:solidFill>
          <a:ln w="12700">
            <a:solidFill>
              <a:srgbClr val="0E7490"/>
            </a:solidFill>
            <a:prstDash val="solid"/>
          </a:ln>
        </p:spPr>
      </p:sp>
      <p:sp>
        <p:nvSpPr>
          <p:cNvPr id="6" name="text-211"/>
          <p:cNvSpPr txBox="1"/>
          <p:nvPr/>
        </p:nvSpPr>
        <p:spPr>
          <a:xfrm>
            <a:off x="914400" y="1874520"/>
            <a:ext cx="3017520" cy="365760"/>
          </a:xfrm>
          <a:prstGeom prst="rect">
            <a:avLst/>
          </a:prstGeom>
          <a:noFill/>
          <a:ln/>
        </p:spPr>
        <p:txBody>
          <a:bodyPr wrap="square" lIns="0" tIns="0" rIns="0" bIns="0" rtlCol="0" anchor="t"/>
          <a:lstStyle/>
          <a:p>
            <a:pPr algn="l" indent="0" marL="0">
              <a:lnSpc>
                <a:spcPct val="105000"/>
              </a:lnSpc>
              <a:buNone/>
            </a:pPr>
            <a:r>
              <a:rPr lang="en-US" sz="1600" b="1" dirty="0">
                <a:solidFill>
                  <a:srgbClr val="FFFFFF"/>
                </a:solidFill>
                <a:latin typeface="Cambria" pitchFamily="34" charset="0"/>
                <a:ea typeface="Cambria" pitchFamily="34" charset="-122"/>
                <a:cs typeface="Cambria" pitchFamily="34" charset="-120"/>
              </a:rPr>
              <a:t>DEVICE</a:t>
            </a:r>
            <a:endParaRPr lang="en-US" sz="1600" dirty="0"/>
          </a:p>
        </p:txBody>
      </p:sp>
      <p:sp>
        <p:nvSpPr>
          <p:cNvPr id="7" name="text-212"/>
          <p:cNvSpPr txBox="1"/>
          <p:nvPr/>
        </p:nvSpPr>
        <p:spPr>
          <a:xfrm>
            <a:off x="914400" y="2212848"/>
            <a:ext cx="3017520" cy="274320"/>
          </a:xfrm>
          <a:prstGeom prst="rect">
            <a:avLst/>
          </a:prstGeom>
          <a:noFill/>
          <a:ln/>
        </p:spPr>
        <p:txBody>
          <a:bodyPr wrap="square" lIns="0" tIns="0" rIns="0" bIns="0" rtlCol="0" anchor="t"/>
          <a:lstStyle/>
          <a:p>
            <a:pPr algn="l" indent="0" marL="0">
              <a:lnSpc>
                <a:spcPct val="105000"/>
              </a:lnSpc>
              <a:buNone/>
            </a:pPr>
            <a:r>
              <a:rPr lang="en-US" sz="1100" i="1" dirty="0">
                <a:solidFill>
                  <a:srgbClr val="FFFFFF"/>
                </a:solidFill>
                <a:latin typeface="Calibri" pitchFamily="34" charset="0"/>
                <a:ea typeface="Calibri" pitchFamily="34" charset="-122"/>
                <a:cs typeface="Calibri" pitchFamily="34" charset="-120"/>
              </a:rPr>
              <a:t>gateway state</a:t>
            </a:r>
            <a:endParaRPr lang="en-US" sz="1100" dirty="0"/>
          </a:p>
        </p:txBody>
      </p:sp>
      <p:sp>
        <p:nvSpPr>
          <p:cNvPr id="8" name="fields-213"/>
          <p:cNvSpPr txBox="1"/>
          <p:nvPr/>
        </p:nvSpPr>
        <p:spPr>
          <a:xfrm>
            <a:off x="960120" y="2670048"/>
            <a:ext cx="2926080" cy="1783080"/>
          </a:xfrm>
          <a:prstGeom prst="rect">
            <a:avLst/>
          </a:prstGeom>
          <a:noFill/>
          <a:ln/>
        </p:spPr>
        <p:txBody>
          <a:bodyPr wrap="square" lIns="0" tIns="0" rIns="0" bIns="0" rtlCol="0" anchor="t"/>
          <a:lstStyle/>
          <a:p>
            <a:pPr indent="0" marL="0">
              <a:spcAft>
                <a:spcPts val="300"/>
              </a:spcAft>
              <a:buNone/>
            </a:pPr>
            <a:r>
              <a:rPr lang="en-US" sz="1300" b="1" dirty="0">
                <a:solidFill>
                  <a:srgbClr val="33475B"/>
                </a:solidFill>
                <a:latin typeface="Calibri" pitchFamily="34" charset="0"/>
                <a:ea typeface="Calibri" pitchFamily="34" charset="-122"/>
                <a:cs typeface="Calibri" pitchFamily="34" charset="-120"/>
              </a:rPr>
              <a:t>PK  id</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arch</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fw (running version)</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ash (health score)</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status, last_seen, ip</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authMode, rollbackPending</a:t>
            </a:r>
            <a:endParaRPr lang="en-US" sz="1300" dirty="0"/>
          </a:p>
        </p:txBody>
      </p:sp>
      <p:sp>
        <p:nvSpPr>
          <p:cNvPr id="9" name="card-214"/>
          <p:cNvSpPr/>
          <p:nvPr/>
        </p:nvSpPr>
        <p:spPr>
          <a:xfrm>
            <a:off x="4572000" y="1828800"/>
            <a:ext cx="3383280" cy="2743200"/>
          </a:xfrm>
          <a:prstGeom prst="roundRect">
            <a:avLst>
              <a:gd name="adj" fmla="val 4000"/>
            </a:avLst>
          </a:prstGeom>
          <a:solidFill>
            <a:srgbClr val="FFFFFF"/>
          </a:solidFill>
          <a:ln w="15875">
            <a:solidFill>
              <a:srgbClr val="96650A"/>
            </a:solidFill>
            <a:prstDash val="solid"/>
          </a:ln>
          <a:effectLst>
            <a:outerShdw sx="100000" sy="100000" kx="0" ky="0" algn="bl" rotWithShape="0" blurRad="76200" dist="25400" dir="5400000">
              <a:srgbClr val="9AAEC2">
                <a:alpha val="18000"/>
              </a:srgbClr>
            </a:outerShdw>
          </a:effectLst>
        </p:spPr>
      </p:sp>
      <p:sp>
        <p:nvSpPr>
          <p:cNvPr id="10" name="enthead-215"/>
          <p:cNvSpPr/>
          <p:nvPr/>
        </p:nvSpPr>
        <p:spPr>
          <a:xfrm>
            <a:off x="4572000" y="1828800"/>
            <a:ext cx="3383280" cy="685800"/>
          </a:xfrm>
          <a:prstGeom prst="roundRect">
            <a:avLst>
              <a:gd name="adj" fmla="val 16000"/>
            </a:avLst>
          </a:prstGeom>
          <a:solidFill>
            <a:srgbClr val="96650A"/>
          </a:solidFill>
          <a:ln w="12700">
            <a:solidFill>
              <a:srgbClr val="96650A"/>
            </a:solidFill>
            <a:prstDash val="solid"/>
          </a:ln>
        </p:spPr>
      </p:sp>
      <p:sp>
        <p:nvSpPr>
          <p:cNvPr id="11" name="text-216"/>
          <p:cNvSpPr txBox="1"/>
          <p:nvPr/>
        </p:nvSpPr>
        <p:spPr>
          <a:xfrm>
            <a:off x="4754880" y="1874520"/>
            <a:ext cx="3017520" cy="365760"/>
          </a:xfrm>
          <a:prstGeom prst="rect">
            <a:avLst/>
          </a:prstGeom>
          <a:noFill/>
          <a:ln/>
        </p:spPr>
        <p:txBody>
          <a:bodyPr wrap="square" lIns="0" tIns="0" rIns="0" bIns="0" rtlCol="0" anchor="t"/>
          <a:lstStyle/>
          <a:p>
            <a:pPr algn="l" indent="0" marL="0">
              <a:lnSpc>
                <a:spcPct val="105000"/>
              </a:lnSpc>
              <a:buNone/>
            </a:pPr>
            <a:r>
              <a:rPr lang="en-US" sz="1600" b="1" dirty="0">
                <a:solidFill>
                  <a:srgbClr val="FFFFFF"/>
                </a:solidFill>
                <a:latin typeface="Cambria" pitchFamily="34" charset="0"/>
                <a:ea typeface="Cambria" pitchFamily="34" charset="-122"/>
                <a:cs typeface="Cambria" pitchFamily="34" charset="-120"/>
              </a:rPr>
              <a:t>RELEASE</a:t>
            </a:r>
            <a:endParaRPr lang="en-US" sz="1600" dirty="0"/>
          </a:p>
        </p:txBody>
      </p:sp>
      <p:sp>
        <p:nvSpPr>
          <p:cNvPr id="12" name="text-217"/>
          <p:cNvSpPr txBox="1"/>
          <p:nvPr/>
        </p:nvSpPr>
        <p:spPr>
          <a:xfrm>
            <a:off x="4754880" y="2212848"/>
            <a:ext cx="3017520" cy="274320"/>
          </a:xfrm>
          <a:prstGeom prst="rect">
            <a:avLst/>
          </a:prstGeom>
          <a:noFill/>
          <a:ln/>
        </p:spPr>
        <p:txBody>
          <a:bodyPr wrap="square" lIns="0" tIns="0" rIns="0" bIns="0" rtlCol="0" anchor="t"/>
          <a:lstStyle/>
          <a:p>
            <a:pPr algn="l" indent="0" marL="0">
              <a:lnSpc>
                <a:spcPct val="105000"/>
              </a:lnSpc>
              <a:buNone/>
            </a:pPr>
            <a:r>
              <a:rPr lang="en-US" sz="1100" i="1" dirty="0">
                <a:solidFill>
                  <a:srgbClr val="FFFFFF"/>
                </a:solidFill>
                <a:latin typeface="Calibri" pitchFamily="34" charset="0"/>
                <a:ea typeface="Calibri" pitchFamily="34" charset="-122"/>
                <a:cs typeface="Calibri" pitchFamily="34" charset="-120"/>
              </a:rPr>
              <a:t>gateway state</a:t>
            </a:r>
            <a:endParaRPr lang="en-US" sz="1100" dirty="0"/>
          </a:p>
        </p:txBody>
      </p:sp>
      <p:sp>
        <p:nvSpPr>
          <p:cNvPr id="13" name="fields-218"/>
          <p:cNvSpPr txBox="1"/>
          <p:nvPr/>
        </p:nvSpPr>
        <p:spPr>
          <a:xfrm>
            <a:off x="4800600" y="2670048"/>
            <a:ext cx="2926080" cy="1783080"/>
          </a:xfrm>
          <a:prstGeom prst="rect">
            <a:avLst/>
          </a:prstGeom>
          <a:noFill/>
          <a:ln/>
        </p:spPr>
        <p:txBody>
          <a:bodyPr wrap="square" lIns="0" tIns="0" rIns="0" bIns="0" rtlCol="0" anchor="t"/>
          <a:lstStyle/>
          <a:p>
            <a:pPr indent="0" marL="0">
              <a:spcAft>
                <a:spcPts val="300"/>
              </a:spcAft>
              <a:buNone/>
            </a:pPr>
            <a:r>
              <a:rPr lang="en-US" sz="1300" b="1" dirty="0">
                <a:solidFill>
                  <a:srgbClr val="33475B"/>
                </a:solidFill>
                <a:latin typeface="Calibri" pitchFamily="34" charset="0"/>
                <a:ea typeface="Calibri" pitchFamily="34" charset="-122"/>
                <a:cs typeface="Calibri" pitchFamily="34" charset="-120"/>
              </a:rPr>
              <a:t>PK  id</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version</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compatible[]</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assets: name, size, checksum</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imageSha256, securePackage</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status, downloadCount</a:t>
            </a:r>
            <a:endParaRPr lang="en-US" sz="1300" dirty="0"/>
          </a:p>
        </p:txBody>
      </p:sp>
      <p:sp>
        <p:nvSpPr>
          <p:cNvPr id="14" name="card-219"/>
          <p:cNvSpPr/>
          <p:nvPr/>
        </p:nvSpPr>
        <p:spPr>
          <a:xfrm>
            <a:off x="8412480" y="1828800"/>
            <a:ext cx="3383280" cy="2743200"/>
          </a:xfrm>
          <a:prstGeom prst="roundRect">
            <a:avLst>
              <a:gd name="adj" fmla="val 4000"/>
            </a:avLst>
          </a:prstGeom>
          <a:solidFill>
            <a:srgbClr val="FFFFFF"/>
          </a:solidFill>
          <a:ln w="15875">
            <a:solidFill>
              <a:srgbClr val="96650A"/>
            </a:solidFill>
            <a:prstDash val="solid"/>
          </a:ln>
          <a:effectLst>
            <a:outerShdw sx="100000" sy="100000" kx="0" ky="0" algn="bl" rotWithShape="0" blurRad="76200" dist="25400" dir="5400000">
              <a:srgbClr val="9AAEC2">
                <a:alpha val="18000"/>
              </a:srgbClr>
            </a:outerShdw>
          </a:effectLst>
        </p:spPr>
      </p:sp>
      <p:sp>
        <p:nvSpPr>
          <p:cNvPr id="15" name="enthead-220"/>
          <p:cNvSpPr/>
          <p:nvPr/>
        </p:nvSpPr>
        <p:spPr>
          <a:xfrm>
            <a:off x="8412480" y="1828800"/>
            <a:ext cx="3383280" cy="685800"/>
          </a:xfrm>
          <a:prstGeom prst="roundRect">
            <a:avLst>
              <a:gd name="adj" fmla="val 16000"/>
            </a:avLst>
          </a:prstGeom>
          <a:solidFill>
            <a:srgbClr val="96650A"/>
          </a:solidFill>
          <a:ln w="12700">
            <a:solidFill>
              <a:srgbClr val="96650A"/>
            </a:solidFill>
            <a:prstDash val="solid"/>
          </a:ln>
        </p:spPr>
      </p:sp>
      <p:sp>
        <p:nvSpPr>
          <p:cNvPr id="16" name="text-221"/>
          <p:cNvSpPr txBox="1"/>
          <p:nvPr/>
        </p:nvSpPr>
        <p:spPr>
          <a:xfrm>
            <a:off x="8595360" y="1874520"/>
            <a:ext cx="3017520" cy="365760"/>
          </a:xfrm>
          <a:prstGeom prst="rect">
            <a:avLst/>
          </a:prstGeom>
          <a:noFill/>
          <a:ln/>
        </p:spPr>
        <p:txBody>
          <a:bodyPr wrap="square" lIns="0" tIns="0" rIns="0" bIns="0" rtlCol="0" anchor="t"/>
          <a:lstStyle/>
          <a:p>
            <a:pPr algn="l" indent="0" marL="0">
              <a:lnSpc>
                <a:spcPct val="105000"/>
              </a:lnSpc>
              <a:buNone/>
            </a:pPr>
            <a:r>
              <a:rPr lang="en-US" sz="1600" b="1" dirty="0">
                <a:solidFill>
                  <a:srgbClr val="FFFFFF"/>
                </a:solidFill>
                <a:latin typeface="Cambria" pitchFamily="34" charset="0"/>
                <a:ea typeface="Cambria" pitchFamily="34" charset="-122"/>
                <a:cs typeface="Cambria" pitchFamily="34" charset="-120"/>
              </a:rPr>
              <a:t>DEPLOYMENT</a:t>
            </a:r>
            <a:endParaRPr lang="en-US" sz="1600" dirty="0"/>
          </a:p>
        </p:txBody>
      </p:sp>
      <p:sp>
        <p:nvSpPr>
          <p:cNvPr id="17" name="text-222"/>
          <p:cNvSpPr txBox="1"/>
          <p:nvPr/>
        </p:nvSpPr>
        <p:spPr>
          <a:xfrm>
            <a:off x="8595360" y="2212848"/>
            <a:ext cx="3017520" cy="274320"/>
          </a:xfrm>
          <a:prstGeom prst="rect">
            <a:avLst/>
          </a:prstGeom>
          <a:noFill/>
          <a:ln/>
        </p:spPr>
        <p:txBody>
          <a:bodyPr wrap="square" lIns="0" tIns="0" rIns="0" bIns="0" rtlCol="0" anchor="t"/>
          <a:lstStyle/>
          <a:p>
            <a:pPr algn="l" indent="0" marL="0">
              <a:lnSpc>
                <a:spcPct val="105000"/>
              </a:lnSpc>
              <a:buNone/>
            </a:pPr>
            <a:r>
              <a:rPr lang="en-US" sz="1100" i="1" dirty="0">
                <a:solidFill>
                  <a:srgbClr val="FFFFFF"/>
                </a:solidFill>
                <a:latin typeface="Calibri" pitchFamily="34" charset="0"/>
                <a:ea typeface="Calibri" pitchFamily="34" charset="-122"/>
                <a:cs typeface="Calibri" pitchFamily="34" charset="-120"/>
              </a:rPr>
              <a:t>gateway state</a:t>
            </a:r>
            <a:endParaRPr lang="en-US" sz="1100" dirty="0"/>
          </a:p>
        </p:txBody>
      </p:sp>
      <p:sp>
        <p:nvSpPr>
          <p:cNvPr id="18" name="fields-223"/>
          <p:cNvSpPr txBox="1"/>
          <p:nvPr/>
        </p:nvSpPr>
        <p:spPr>
          <a:xfrm>
            <a:off x="8641080" y="2670048"/>
            <a:ext cx="2926080" cy="1783080"/>
          </a:xfrm>
          <a:prstGeom prst="rect">
            <a:avLst/>
          </a:prstGeom>
          <a:noFill/>
          <a:ln/>
        </p:spPr>
        <p:txBody>
          <a:bodyPr wrap="square" lIns="0" tIns="0" rIns="0" bIns="0" rtlCol="0" anchor="t"/>
          <a:lstStyle/>
          <a:p>
            <a:pPr indent="0" marL="0">
              <a:spcAft>
                <a:spcPts val="300"/>
              </a:spcAft>
              <a:buNone/>
            </a:pPr>
            <a:r>
              <a:rPr lang="en-US" sz="1300" b="1" dirty="0">
                <a:solidFill>
                  <a:srgbClr val="33475B"/>
                </a:solidFill>
                <a:latin typeface="Calibri" pitchFamily="34" charset="0"/>
                <a:ea typeface="Calibri" pitchFamily="34" charset="-122"/>
                <a:cs typeface="Calibri" pitchFamily="34" charset="-120"/>
              </a:rPr>
              <a:t>PK  id</a:t>
            </a:r>
            <a:endParaRPr lang="en-US" sz="1300" dirty="0"/>
          </a:p>
          <a:p>
            <a:pPr indent="0" marL="0">
              <a:spcAft>
                <a:spcPts val="300"/>
              </a:spcAft>
              <a:buNone/>
            </a:pPr>
            <a:r>
              <a:rPr lang="en-US" sz="1300" b="1" dirty="0">
                <a:solidFill>
                  <a:srgbClr val="33475B"/>
                </a:solidFill>
                <a:latin typeface="Calibri" pitchFamily="34" charset="0"/>
                <a:ea typeface="Calibri" pitchFamily="34" charset="-122"/>
                <a:cs typeface="Calibri" pitchFamily="34" charset="-120"/>
              </a:rPr>
              <a:t>FK  releaseId</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version, deviceIds[]</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targets: state per device</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status, startedAt</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success / failure counts</a:t>
            </a:r>
            <a:endParaRPr lang="en-US" sz="1300" dirty="0"/>
          </a:p>
        </p:txBody>
      </p:sp>
      <p:sp>
        <p:nvSpPr>
          <p:cNvPr id="19" name="card-224"/>
          <p:cNvSpPr/>
          <p:nvPr/>
        </p:nvSpPr>
        <p:spPr>
          <a:xfrm>
            <a:off x="12252960" y="1828800"/>
            <a:ext cx="3273552" cy="2743200"/>
          </a:xfrm>
          <a:prstGeom prst="roundRect">
            <a:avLst>
              <a:gd name="adj" fmla="val 4000"/>
            </a:avLst>
          </a:prstGeom>
          <a:solidFill>
            <a:srgbClr val="FFFFFF"/>
          </a:solidFill>
          <a:ln w="15875">
            <a:solidFill>
              <a:srgbClr val="0E7490"/>
            </a:solidFill>
            <a:prstDash val="solid"/>
          </a:ln>
          <a:effectLst>
            <a:outerShdw sx="100000" sy="100000" kx="0" ky="0" algn="bl" rotWithShape="0" blurRad="76200" dist="25400" dir="5400000">
              <a:srgbClr val="9AAEC2">
                <a:alpha val="18000"/>
              </a:srgbClr>
            </a:outerShdw>
          </a:effectLst>
        </p:spPr>
      </p:sp>
      <p:sp>
        <p:nvSpPr>
          <p:cNvPr id="20" name="enthead-225"/>
          <p:cNvSpPr/>
          <p:nvPr/>
        </p:nvSpPr>
        <p:spPr>
          <a:xfrm>
            <a:off x="12252960" y="1828800"/>
            <a:ext cx="3273552" cy="685800"/>
          </a:xfrm>
          <a:prstGeom prst="roundRect">
            <a:avLst>
              <a:gd name="adj" fmla="val 16000"/>
            </a:avLst>
          </a:prstGeom>
          <a:solidFill>
            <a:srgbClr val="0E7490"/>
          </a:solidFill>
          <a:ln w="12700">
            <a:solidFill>
              <a:srgbClr val="0E7490"/>
            </a:solidFill>
            <a:prstDash val="solid"/>
          </a:ln>
        </p:spPr>
      </p:sp>
      <p:sp>
        <p:nvSpPr>
          <p:cNvPr id="21" name="text-226"/>
          <p:cNvSpPr txBox="1"/>
          <p:nvPr/>
        </p:nvSpPr>
        <p:spPr>
          <a:xfrm>
            <a:off x="12435840" y="1874520"/>
            <a:ext cx="2907792" cy="365760"/>
          </a:xfrm>
          <a:prstGeom prst="rect">
            <a:avLst/>
          </a:prstGeom>
          <a:noFill/>
          <a:ln/>
        </p:spPr>
        <p:txBody>
          <a:bodyPr wrap="square" lIns="0" tIns="0" rIns="0" bIns="0" rtlCol="0" anchor="t"/>
          <a:lstStyle/>
          <a:p>
            <a:pPr algn="l" indent="0" marL="0">
              <a:lnSpc>
                <a:spcPct val="105000"/>
              </a:lnSpc>
              <a:buNone/>
            </a:pPr>
            <a:r>
              <a:rPr lang="en-US" sz="1600" b="1" dirty="0">
                <a:solidFill>
                  <a:srgbClr val="FFFFFF"/>
                </a:solidFill>
                <a:latin typeface="Cambria" pitchFamily="34" charset="0"/>
                <a:ea typeface="Cambria" pitchFamily="34" charset="-122"/>
                <a:cs typeface="Cambria" pitchFamily="34" charset="-120"/>
              </a:rPr>
              <a:t>DEVICE_COMMAND</a:t>
            </a:r>
            <a:endParaRPr lang="en-US" sz="1600" dirty="0"/>
          </a:p>
        </p:txBody>
      </p:sp>
      <p:sp>
        <p:nvSpPr>
          <p:cNvPr id="22" name="text-227"/>
          <p:cNvSpPr txBox="1"/>
          <p:nvPr/>
        </p:nvSpPr>
        <p:spPr>
          <a:xfrm>
            <a:off x="12435840" y="2212848"/>
            <a:ext cx="2907792" cy="274320"/>
          </a:xfrm>
          <a:prstGeom prst="rect">
            <a:avLst/>
          </a:prstGeom>
          <a:noFill/>
          <a:ln/>
        </p:spPr>
        <p:txBody>
          <a:bodyPr wrap="square" lIns="0" tIns="0" rIns="0" bIns="0" rtlCol="0" anchor="t"/>
          <a:lstStyle/>
          <a:p>
            <a:pPr algn="l" indent="0" marL="0">
              <a:lnSpc>
                <a:spcPct val="105000"/>
              </a:lnSpc>
              <a:buNone/>
            </a:pPr>
            <a:r>
              <a:rPr lang="en-US" sz="1100" i="1" dirty="0">
                <a:solidFill>
                  <a:srgbClr val="FFFFFF"/>
                </a:solidFill>
                <a:latin typeface="Calibri" pitchFamily="34" charset="0"/>
                <a:ea typeface="Calibri" pitchFamily="34" charset="-122"/>
                <a:cs typeface="Calibri" pitchFamily="34" charset="-120"/>
              </a:rPr>
              <a:t>gateway state</a:t>
            </a:r>
            <a:endParaRPr lang="en-US" sz="1100" dirty="0"/>
          </a:p>
        </p:txBody>
      </p:sp>
      <p:sp>
        <p:nvSpPr>
          <p:cNvPr id="23" name="fields-228"/>
          <p:cNvSpPr txBox="1"/>
          <p:nvPr/>
        </p:nvSpPr>
        <p:spPr>
          <a:xfrm>
            <a:off x="12481560" y="2670048"/>
            <a:ext cx="2816352" cy="1783080"/>
          </a:xfrm>
          <a:prstGeom prst="rect">
            <a:avLst/>
          </a:prstGeom>
          <a:noFill/>
          <a:ln/>
        </p:spPr>
        <p:txBody>
          <a:bodyPr wrap="square" lIns="0" tIns="0" rIns="0" bIns="0" rtlCol="0" anchor="t"/>
          <a:lstStyle/>
          <a:p>
            <a:pPr indent="0" marL="0">
              <a:spcAft>
                <a:spcPts val="300"/>
              </a:spcAft>
              <a:buNone/>
            </a:pPr>
            <a:r>
              <a:rPr lang="en-US" sz="1300" b="1" dirty="0">
                <a:solidFill>
                  <a:srgbClr val="33475B"/>
                </a:solidFill>
                <a:latin typeface="Calibri" pitchFamily="34" charset="0"/>
                <a:ea typeface="Calibri" pitchFamily="34" charset="-122"/>
                <a:cs typeface="Calibri" pitchFamily="34" charset="-120"/>
              </a:rPr>
              <a:t>PK  id</a:t>
            </a:r>
            <a:endParaRPr lang="en-US" sz="1300" dirty="0"/>
          </a:p>
          <a:p>
            <a:pPr indent="0" marL="0">
              <a:spcAft>
                <a:spcPts val="300"/>
              </a:spcAft>
              <a:buNone/>
            </a:pPr>
            <a:r>
              <a:rPr lang="en-US" sz="1300" b="1" dirty="0">
                <a:solidFill>
                  <a:srgbClr val="33475B"/>
                </a:solidFill>
                <a:latin typeface="Calibri" pitchFamily="34" charset="0"/>
                <a:ea typeface="Calibri" pitchFamily="34" charset="-122"/>
                <a:cs typeface="Calibri" pitchFamily="34" charset="-120"/>
              </a:rPr>
              <a:t>FK  deviceId</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type (reboot, update...)</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status, attempts</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requestedBy</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createdAt, expiresAt</a:t>
            </a:r>
            <a:endParaRPr lang="en-US" sz="1300" dirty="0"/>
          </a:p>
        </p:txBody>
      </p:sp>
      <p:sp>
        <p:nvSpPr>
          <p:cNvPr id="24" name="card-229"/>
          <p:cNvSpPr/>
          <p:nvPr/>
        </p:nvSpPr>
        <p:spPr>
          <a:xfrm>
            <a:off x="731520" y="4937760"/>
            <a:ext cx="3383280" cy="2743200"/>
          </a:xfrm>
          <a:prstGeom prst="roundRect">
            <a:avLst>
              <a:gd name="adj" fmla="val 4000"/>
            </a:avLst>
          </a:prstGeom>
          <a:solidFill>
            <a:srgbClr val="FFFFFF"/>
          </a:solidFill>
          <a:ln w="15875">
            <a:solidFill>
              <a:srgbClr val="067A55"/>
            </a:solidFill>
            <a:prstDash val="solid"/>
          </a:ln>
          <a:effectLst>
            <a:outerShdw sx="100000" sy="100000" kx="0" ky="0" algn="bl" rotWithShape="0" blurRad="76200" dist="25400" dir="5400000">
              <a:srgbClr val="9AAEC2">
                <a:alpha val="18000"/>
              </a:srgbClr>
            </a:outerShdw>
          </a:effectLst>
        </p:spPr>
      </p:sp>
      <p:sp>
        <p:nvSpPr>
          <p:cNvPr id="25" name="enthead-230"/>
          <p:cNvSpPr/>
          <p:nvPr/>
        </p:nvSpPr>
        <p:spPr>
          <a:xfrm>
            <a:off x="731520" y="4937760"/>
            <a:ext cx="3383280" cy="685800"/>
          </a:xfrm>
          <a:prstGeom prst="roundRect">
            <a:avLst>
              <a:gd name="adj" fmla="val 16000"/>
            </a:avLst>
          </a:prstGeom>
          <a:solidFill>
            <a:srgbClr val="067A55"/>
          </a:solidFill>
          <a:ln w="12700">
            <a:solidFill>
              <a:srgbClr val="067A55"/>
            </a:solidFill>
            <a:prstDash val="solid"/>
          </a:ln>
        </p:spPr>
      </p:sp>
      <p:sp>
        <p:nvSpPr>
          <p:cNvPr id="26" name="text-231"/>
          <p:cNvSpPr txBox="1"/>
          <p:nvPr/>
        </p:nvSpPr>
        <p:spPr>
          <a:xfrm>
            <a:off x="914400" y="4983480"/>
            <a:ext cx="3017520" cy="365760"/>
          </a:xfrm>
          <a:prstGeom prst="rect">
            <a:avLst/>
          </a:prstGeom>
          <a:noFill/>
          <a:ln/>
        </p:spPr>
        <p:txBody>
          <a:bodyPr wrap="square" lIns="0" tIns="0" rIns="0" bIns="0" rtlCol="0" anchor="t"/>
          <a:lstStyle/>
          <a:p>
            <a:pPr algn="l" indent="0" marL="0">
              <a:lnSpc>
                <a:spcPct val="105000"/>
              </a:lnSpc>
              <a:buNone/>
            </a:pPr>
            <a:r>
              <a:rPr lang="en-US" sz="1600" b="1" dirty="0">
                <a:solidFill>
                  <a:srgbClr val="FFFFFF"/>
                </a:solidFill>
                <a:latin typeface="Cambria" pitchFamily="34" charset="0"/>
                <a:ea typeface="Cambria" pitchFamily="34" charset="-122"/>
                <a:cs typeface="Cambria" pitchFamily="34" charset="-120"/>
              </a:rPr>
              <a:t>TELEMETRY</a:t>
            </a:r>
            <a:endParaRPr lang="en-US" sz="1600" dirty="0"/>
          </a:p>
        </p:txBody>
      </p:sp>
      <p:sp>
        <p:nvSpPr>
          <p:cNvPr id="27" name="text-232"/>
          <p:cNvSpPr txBox="1"/>
          <p:nvPr/>
        </p:nvSpPr>
        <p:spPr>
          <a:xfrm>
            <a:off x="914400" y="5321808"/>
            <a:ext cx="3017520" cy="274320"/>
          </a:xfrm>
          <a:prstGeom prst="rect">
            <a:avLst/>
          </a:prstGeom>
          <a:noFill/>
          <a:ln/>
        </p:spPr>
        <p:txBody>
          <a:bodyPr wrap="square" lIns="0" tIns="0" rIns="0" bIns="0" rtlCol="0" anchor="t"/>
          <a:lstStyle/>
          <a:p>
            <a:pPr algn="l" indent="0" marL="0">
              <a:lnSpc>
                <a:spcPct val="105000"/>
              </a:lnSpc>
              <a:buNone/>
            </a:pPr>
            <a:r>
              <a:rPr lang="en-US" sz="1100" i="1" dirty="0">
                <a:solidFill>
                  <a:srgbClr val="FFFFFF"/>
                </a:solidFill>
                <a:latin typeface="Calibri" pitchFamily="34" charset="0"/>
                <a:ea typeface="Calibri" pitchFamily="34" charset="-122"/>
                <a:cs typeface="Calibri" pitchFamily="34" charset="-120"/>
              </a:rPr>
              <a:t>SQLite</a:t>
            </a:r>
            <a:endParaRPr lang="en-US" sz="1100" dirty="0"/>
          </a:p>
        </p:txBody>
      </p:sp>
      <p:sp>
        <p:nvSpPr>
          <p:cNvPr id="28" name="fields-233"/>
          <p:cNvSpPr txBox="1"/>
          <p:nvPr/>
        </p:nvSpPr>
        <p:spPr>
          <a:xfrm>
            <a:off x="960120" y="5779008"/>
            <a:ext cx="2926080" cy="1783080"/>
          </a:xfrm>
          <a:prstGeom prst="rect">
            <a:avLst/>
          </a:prstGeom>
          <a:noFill/>
          <a:ln/>
        </p:spPr>
        <p:txBody>
          <a:bodyPr wrap="square" lIns="0" tIns="0" rIns="0" bIns="0" rtlCol="0" anchor="t"/>
          <a:lstStyle/>
          <a:p>
            <a:pPr indent="0" marL="0">
              <a:spcAft>
                <a:spcPts val="300"/>
              </a:spcAft>
              <a:buNone/>
            </a:pPr>
            <a:r>
              <a:rPr lang="en-US" sz="1300" b="1" dirty="0">
                <a:solidFill>
                  <a:srgbClr val="33475B"/>
                </a:solidFill>
                <a:latin typeface="Calibri" pitchFamily="34" charset="0"/>
                <a:ea typeface="Calibri" pitchFamily="34" charset="-122"/>
                <a:cs typeface="Calibri" pitchFamily="34" charset="-120"/>
              </a:rPr>
              <a:t>FK  device_id</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ts</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ash, rssi</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memory, cpu</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uptime, fw</a:t>
            </a:r>
            <a:endParaRPr lang="en-US" sz="1300" dirty="0"/>
          </a:p>
        </p:txBody>
      </p:sp>
      <p:sp>
        <p:nvSpPr>
          <p:cNvPr id="29" name="card-234"/>
          <p:cNvSpPr/>
          <p:nvPr/>
        </p:nvSpPr>
        <p:spPr>
          <a:xfrm>
            <a:off x="4572000" y="4937760"/>
            <a:ext cx="3383280" cy="2743200"/>
          </a:xfrm>
          <a:prstGeom prst="roundRect">
            <a:avLst>
              <a:gd name="adj" fmla="val 4000"/>
            </a:avLst>
          </a:prstGeom>
          <a:solidFill>
            <a:srgbClr val="FFFFFF"/>
          </a:solidFill>
          <a:ln w="15875">
            <a:solidFill>
              <a:srgbClr val="067A55"/>
            </a:solidFill>
            <a:prstDash val="solid"/>
          </a:ln>
          <a:effectLst>
            <a:outerShdw sx="100000" sy="100000" kx="0" ky="0" algn="bl" rotWithShape="0" blurRad="76200" dist="25400" dir="5400000">
              <a:srgbClr val="9AAEC2">
                <a:alpha val="18000"/>
              </a:srgbClr>
            </a:outerShdw>
          </a:effectLst>
        </p:spPr>
      </p:sp>
      <p:sp>
        <p:nvSpPr>
          <p:cNvPr id="30" name="enthead-235"/>
          <p:cNvSpPr/>
          <p:nvPr/>
        </p:nvSpPr>
        <p:spPr>
          <a:xfrm>
            <a:off x="4572000" y="4937760"/>
            <a:ext cx="3383280" cy="685800"/>
          </a:xfrm>
          <a:prstGeom prst="roundRect">
            <a:avLst>
              <a:gd name="adj" fmla="val 16000"/>
            </a:avLst>
          </a:prstGeom>
          <a:solidFill>
            <a:srgbClr val="067A55"/>
          </a:solidFill>
          <a:ln w="12700">
            <a:solidFill>
              <a:srgbClr val="067A55"/>
            </a:solidFill>
            <a:prstDash val="solid"/>
          </a:ln>
        </p:spPr>
      </p:sp>
      <p:sp>
        <p:nvSpPr>
          <p:cNvPr id="31" name="text-236"/>
          <p:cNvSpPr txBox="1"/>
          <p:nvPr/>
        </p:nvSpPr>
        <p:spPr>
          <a:xfrm>
            <a:off x="4754880" y="4983480"/>
            <a:ext cx="3017520" cy="365760"/>
          </a:xfrm>
          <a:prstGeom prst="rect">
            <a:avLst/>
          </a:prstGeom>
          <a:noFill/>
          <a:ln/>
        </p:spPr>
        <p:txBody>
          <a:bodyPr wrap="square" lIns="0" tIns="0" rIns="0" bIns="0" rtlCol="0" anchor="t"/>
          <a:lstStyle/>
          <a:p>
            <a:pPr algn="l" indent="0" marL="0">
              <a:lnSpc>
                <a:spcPct val="105000"/>
              </a:lnSpc>
              <a:buNone/>
            </a:pPr>
            <a:r>
              <a:rPr lang="en-US" sz="1600" b="1" dirty="0">
                <a:solidFill>
                  <a:srgbClr val="FFFFFF"/>
                </a:solidFill>
                <a:latin typeface="Cambria" pitchFamily="34" charset="0"/>
                <a:ea typeface="Cambria" pitchFamily="34" charset="-122"/>
                <a:cs typeface="Cambria" pitchFamily="34" charset="-120"/>
              </a:rPr>
              <a:t>AUDIT</a:t>
            </a:r>
            <a:endParaRPr lang="en-US" sz="1600" dirty="0"/>
          </a:p>
        </p:txBody>
      </p:sp>
      <p:sp>
        <p:nvSpPr>
          <p:cNvPr id="32" name="text-237"/>
          <p:cNvSpPr txBox="1"/>
          <p:nvPr/>
        </p:nvSpPr>
        <p:spPr>
          <a:xfrm>
            <a:off x="4754880" y="5321808"/>
            <a:ext cx="3017520" cy="274320"/>
          </a:xfrm>
          <a:prstGeom prst="rect">
            <a:avLst/>
          </a:prstGeom>
          <a:noFill/>
          <a:ln/>
        </p:spPr>
        <p:txBody>
          <a:bodyPr wrap="square" lIns="0" tIns="0" rIns="0" bIns="0" rtlCol="0" anchor="t"/>
          <a:lstStyle/>
          <a:p>
            <a:pPr algn="l" indent="0" marL="0">
              <a:lnSpc>
                <a:spcPct val="105000"/>
              </a:lnSpc>
              <a:buNone/>
            </a:pPr>
            <a:r>
              <a:rPr lang="en-US" sz="1100" i="1" dirty="0">
                <a:solidFill>
                  <a:srgbClr val="FFFFFF"/>
                </a:solidFill>
                <a:latin typeface="Calibri" pitchFamily="34" charset="0"/>
                <a:ea typeface="Calibri" pitchFamily="34" charset="-122"/>
                <a:cs typeface="Calibri" pitchFamily="34" charset="-120"/>
              </a:rPr>
              <a:t>SQLite</a:t>
            </a:r>
            <a:endParaRPr lang="en-US" sz="1100" dirty="0"/>
          </a:p>
        </p:txBody>
      </p:sp>
      <p:sp>
        <p:nvSpPr>
          <p:cNvPr id="33" name="fields-238"/>
          <p:cNvSpPr txBox="1"/>
          <p:nvPr/>
        </p:nvSpPr>
        <p:spPr>
          <a:xfrm>
            <a:off x="4800600" y="5779008"/>
            <a:ext cx="2926080" cy="1783080"/>
          </a:xfrm>
          <a:prstGeom prst="rect">
            <a:avLst/>
          </a:prstGeom>
          <a:noFill/>
          <a:ln/>
        </p:spPr>
        <p:txBody>
          <a:bodyPr wrap="square" lIns="0" tIns="0" rIns="0" bIns="0" rtlCol="0" anchor="t"/>
          <a:lstStyle/>
          <a:p>
            <a:pPr indent="0" marL="0">
              <a:spcAft>
                <a:spcPts val="300"/>
              </a:spcAft>
              <a:buNone/>
            </a:pPr>
            <a:r>
              <a:rPr lang="en-US" sz="1300" b="1" dirty="0">
                <a:solidFill>
                  <a:srgbClr val="33475B"/>
                </a:solidFill>
                <a:latin typeface="Calibri" pitchFamily="34" charset="0"/>
                <a:ea typeface="Calibri" pitchFamily="34" charset="-122"/>
                <a:cs typeface="Calibri" pitchFamily="34" charset="-120"/>
              </a:rPr>
              <a:t>PK  id</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ts, actor, source_ip</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method, path, status</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action, detail</a:t>
            </a:r>
            <a:endParaRPr lang="en-US" sz="1300" dirty="0"/>
          </a:p>
          <a:p>
            <a:pPr indent="0" marL="0">
              <a:spcAft>
                <a:spcPts val="300"/>
              </a:spcAft>
              <a:buNone/>
            </a:pPr>
            <a:r>
              <a:rPr lang="en-US" sz="1300" b="1" dirty="0">
                <a:solidFill>
                  <a:srgbClr val="33475B"/>
                </a:solidFill>
                <a:latin typeface="Calibri" pitchFamily="34" charset="0"/>
                <a:ea typeface="Calibri" pitchFamily="34" charset="-122"/>
                <a:cs typeface="Calibri" pitchFamily="34" charset="-120"/>
              </a:rPr>
              <a:t>FK  device_id</a:t>
            </a:r>
            <a:endParaRPr lang="en-US" sz="1300" dirty="0"/>
          </a:p>
        </p:txBody>
      </p:sp>
      <p:sp>
        <p:nvSpPr>
          <p:cNvPr id="34" name="card-239"/>
          <p:cNvSpPr/>
          <p:nvPr/>
        </p:nvSpPr>
        <p:spPr>
          <a:xfrm>
            <a:off x="8412480" y="4937760"/>
            <a:ext cx="3383280" cy="2743200"/>
          </a:xfrm>
          <a:prstGeom prst="roundRect">
            <a:avLst>
              <a:gd name="adj" fmla="val 4000"/>
            </a:avLst>
          </a:prstGeom>
          <a:solidFill>
            <a:srgbClr val="FFFFFF"/>
          </a:solidFill>
          <a:ln w="15875">
            <a:solidFill>
              <a:srgbClr val="0D1B2A"/>
            </a:solidFill>
            <a:prstDash val="solid"/>
          </a:ln>
          <a:effectLst>
            <a:outerShdw sx="100000" sy="100000" kx="0" ky="0" algn="bl" rotWithShape="0" blurRad="76200" dist="25400" dir="5400000">
              <a:srgbClr val="9AAEC2">
                <a:alpha val="18000"/>
              </a:srgbClr>
            </a:outerShdw>
          </a:effectLst>
        </p:spPr>
      </p:sp>
      <p:sp>
        <p:nvSpPr>
          <p:cNvPr id="35" name="enthead-240"/>
          <p:cNvSpPr/>
          <p:nvPr/>
        </p:nvSpPr>
        <p:spPr>
          <a:xfrm>
            <a:off x="8412480" y="4937760"/>
            <a:ext cx="3383280" cy="685800"/>
          </a:xfrm>
          <a:prstGeom prst="roundRect">
            <a:avLst>
              <a:gd name="adj" fmla="val 16000"/>
            </a:avLst>
          </a:prstGeom>
          <a:solidFill>
            <a:srgbClr val="0D1B2A"/>
          </a:solidFill>
          <a:ln w="12700">
            <a:solidFill>
              <a:srgbClr val="0D1B2A"/>
            </a:solidFill>
            <a:prstDash val="solid"/>
          </a:ln>
        </p:spPr>
      </p:sp>
      <p:sp>
        <p:nvSpPr>
          <p:cNvPr id="36" name="text-241"/>
          <p:cNvSpPr txBox="1"/>
          <p:nvPr/>
        </p:nvSpPr>
        <p:spPr>
          <a:xfrm>
            <a:off x="8595360" y="4983480"/>
            <a:ext cx="3017520" cy="365760"/>
          </a:xfrm>
          <a:prstGeom prst="rect">
            <a:avLst/>
          </a:prstGeom>
          <a:noFill/>
          <a:ln/>
        </p:spPr>
        <p:txBody>
          <a:bodyPr wrap="square" lIns="0" tIns="0" rIns="0" bIns="0" rtlCol="0" anchor="t"/>
          <a:lstStyle/>
          <a:p>
            <a:pPr algn="l" indent="0" marL="0">
              <a:lnSpc>
                <a:spcPct val="105000"/>
              </a:lnSpc>
              <a:buNone/>
            </a:pPr>
            <a:r>
              <a:rPr lang="en-US" sz="1600" b="1" dirty="0">
                <a:solidFill>
                  <a:srgbClr val="FFFFFF"/>
                </a:solidFill>
                <a:latin typeface="Cambria" pitchFamily="34" charset="0"/>
                <a:ea typeface="Cambria" pitchFamily="34" charset="-122"/>
                <a:cs typeface="Cambria" pitchFamily="34" charset="-120"/>
              </a:rPr>
              <a:t>OTA_PROFILES</a:t>
            </a:r>
            <a:endParaRPr lang="en-US" sz="1600" dirty="0"/>
          </a:p>
        </p:txBody>
      </p:sp>
      <p:sp>
        <p:nvSpPr>
          <p:cNvPr id="37" name="text-242"/>
          <p:cNvSpPr txBox="1"/>
          <p:nvPr/>
        </p:nvSpPr>
        <p:spPr>
          <a:xfrm>
            <a:off x="8595360" y="5321808"/>
            <a:ext cx="3017520" cy="274320"/>
          </a:xfrm>
          <a:prstGeom prst="rect">
            <a:avLst/>
          </a:prstGeom>
          <a:noFill/>
          <a:ln/>
        </p:spPr>
        <p:txBody>
          <a:bodyPr wrap="square" lIns="0" tIns="0" rIns="0" bIns="0" rtlCol="0" anchor="t"/>
          <a:lstStyle/>
          <a:p>
            <a:pPr algn="l" indent="0" marL="0">
              <a:lnSpc>
                <a:spcPct val="105000"/>
              </a:lnSpc>
              <a:buNone/>
            </a:pPr>
            <a:r>
              <a:rPr lang="en-US" sz="1100" i="1" dirty="0">
                <a:solidFill>
                  <a:srgbClr val="FFFFFF"/>
                </a:solidFill>
                <a:latin typeface="Calibri" pitchFamily="34" charset="0"/>
                <a:ea typeface="Calibri" pitchFamily="34" charset="-122"/>
                <a:cs typeface="Calibri" pitchFamily="34" charset="-120"/>
              </a:rPr>
              <a:t>NeDB / Supabase</a:t>
            </a:r>
            <a:endParaRPr lang="en-US" sz="1100" dirty="0"/>
          </a:p>
        </p:txBody>
      </p:sp>
      <p:sp>
        <p:nvSpPr>
          <p:cNvPr id="38" name="fields-243"/>
          <p:cNvSpPr txBox="1"/>
          <p:nvPr/>
        </p:nvSpPr>
        <p:spPr>
          <a:xfrm>
            <a:off x="8641080" y="5779008"/>
            <a:ext cx="2926080" cy="1783080"/>
          </a:xfrm>
          <a:prstGeom prst="rect">
            <a:avLst/>
          </a:prstGeom>
          <a:noFill/>
          <a:ln/>
        </p:spPr>
        <p:txBody>
          <a:bodyPr wrap="square" lIns="0" tIns="0" rIns="0" bIns="0" rtlCol="0" anchor="t"/>
          <a:lstStyle/>
          <a:p>
            <a:pPr indent="0" marL="0">
              <a:spcAft>
                <a:spcPts val="300"/>
              </a:spcAft>
              <a:buNone/>
            </a:pPr>
            <a:r>
              <a:rPr lang="en-US" sz="1300" b="1" dirty="0">
                <a:solidFill>
                  <a:srgbClr val="33475B"/>
                </a:solidFill>
                <a:latin typeface="Calibri" pitchFamily="34" charset="0"/>
                <a:ea typeface="Calibri" pitchFamily="34" charset="-122"/>
                <a:cs typeface="Calibri" pitchFamily="34" charset="-120"/>
              </a:rPr>
              <a:t>PK  local_id</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clerk_id</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username, email</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role (admin, operator, viewer)</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is_active, last_login_at</a:t>
            </a:r>
            <a:endParaRPr lang="en-US" sz="1300" dirty="0"/>
          </a:p>
        </p:txBody>
      </p:sp>
      <p:sp>
        <p:nvSpPr>
          <p:cNvPr id="39" name="card-244"/>
          <p:cNvSpPr/>
          <p:nvPr/>
        </p:nvSpPr>
        <p:spPr>
          <a:xfrm>
            <a:off x="12252960" y="4937760"/>
            <a:ext cx="3273552" cy="2743200"/>
          </a:xfrm>
          <a:prstGeom prst="roundRect">
            <a:avLst>
              <a:gd name="adj" fmla="val 4000"/>
            </a:avLst>
          </a:prstGeom>
          <a:solidFill>
            <a:srgbClr val="FFFFFF"/>
          </a:solidFill>
          <a:ln w="15875">
            <a:solidFill>
              <a:srgbClr val="0D1B2A"/>
            </a:solidFill>
            <a:prstDash val="solid"/>
          </a:ln>
          <a:effectLst>
            <a:outerShdw sx="100000" sy="100000" kx="0" ky="0" algn="bl" rotWithShape="0" blurRad="76200" dist="25400" dir="5400000">
              <a:srgbClr val="9AAEC2">
                <a:alpha val="18000"/>
              </a:srgbClr>
            </a:outerShdw>
          </a:effectLst>
        </p:spPr>
      </p:sp>
      <p:sp>
        <p:nvSpPr>
          <p:cNvPr id="40" name="enthead-245"/>
          <p:cNvSpPr/>
          <p:nvPr/>
        </p:nvSpPr>
        <p:spPr>
          <a:xfrm>
            <a:off x="12252960" y="4937760"/>
            <a:ext cx="3273552" cy="685800"/>
          </a:xfrm>
          <a:prstGeom prst="roundRect">
            <a:avLst>
              <a:gd name="adj" fmla="val 16000"/>
            </a:avLst>
          </a:prstGeom>
          <a:solidFill>
            <a:srgbClr val="0D1B2A"/>
          </a:solidFill>
          <a:ln w="12700">
            <a:solidFill>
              <a:srgbClr val="0D1B2A"/>
            </a:solidFill>
            <a:prstDash val="solid"/>
          </a:ln>
        </p:spPr>
      </p:sp>
      <p:sp>
        <p:nvSpPr>
          <p:cNvPr id="41" name="text-246"/>
          <p:cNvSpPr txBox="1"/>
          <p:nvPr/>
        </p:nvSpPr>
        <p:spPr>
          <a:xfrm>
            <a:off x="12435840" y="4983480"/>
            <a:ext cx="2907792" cy="365760"/>
          </a:xfrm>
          <a:prstGeom prst="rect">
            <a:avLst/>
          </a:prstGeom>
          <a:noFill/>
          <a:ln/>
        </p:spPr>
        <p:txBody>
          <a:bodyPr wrap="square" lIns="0" tIns="0" rIns="0" bIns="0" rtlCol="0" anchor="t"/>
          <a:lstStyle/>
          <a:p>
            <a:pPr algn="l" indent="0" marL="0">
              <a:lnSpc>
                <a:spcPct val="105000"/>
              </a:lnSpc>
              <a:buNone/>
            </a:pPr>
            <a:r>
              <a:rPr lang="en-US" sz="1600" b="1" dirty="0">
                <a:solidFill>
                  <a:srgbClr val="FFFFFF"/>
                </a:solidFill>
                <a:latin typeface="Cambria" pitchFamily="34" charset="0"/>
                <a:ea typeface="Cambria" pitchFamily="34" charset="-122"/>
                <a:cs typeface="Cambria" pitchFamily="34" charset="-120"/>
              </a:rPr>
              <a:t>OTA_UPLOADS</a:t>
            </a:r>
            <a:endParaRPr lang="en-US" sz="1600" dirty="0"/>
          </a:p>
        </p:txBody>
      </p:sp>
      <p:sp>
        <p:nvSpPr>
          <p:cNvPr id="42" name="text-247"/>
          <p:cNvSpPr txBox="1"/>
          <p:nvPr/>
        </p:nvSpPr>
        <p:spPr>
          <a:xfrm>
            <a:off x="12435840" y="5321808"/>
            <a:ext cx="2907792" cy="274320"/>
          </a:xfrm>
          <a:prstGeom prst="rect">
            <a:avLst/>
          </a:prstGeom>
          <a:noFill/>
          <a:ln/>
        </p:spPr>
        <p:txBody>
          <a:bodyPr wrap="square" lIns="0" tIns="0" rIns="0" bIns="0" rtlCol="0" anchor="t"/>
          <a:lstStyle/>
          <a:p>
            <a:pPr algn="l" indent="0" marL="0">
              <a:lnSpc>
                <a:spcPct val="105000"/>
              </a:lnSpc>
              <a:buNone/>
            </a:pPr>
            <a:r>
              <a:rPr lang="en-US" sz="1100" i="1" dirty="0">
                <a:solidFill>
                  <a:srgbClr val="FFFFFF"/>
                </a:solidFill>
                <a:latin typeface="Calibri" pitchFamily="34" charset="0"/>
                <a:ea typeface="Calibri" pitchFamily="34" charset="-122"/>
                <a:cs typeface="Calibri" pitchFamily="34" charset="-120"/>
              </a:rPr>
              <a:t>NeDB / Supabase</a:t>
            </a:r>
            <a:endParaRPr lang="en-US" sz="1100" dirty="0"/>
          </a:p>
        </p:txBody>
      </p:sp>
      <p:sp>
        <p:nvSpPr>
          <p:cNvPr id="43" name="fields-248"/>
          <p:cNvSpPr txBox="1"/>
          <p:nvPr/>
        </p:nvSpPr>
        <p:spPr>
          <a:xfrm>
            <a:off x="12481560" y="5779008"/>
            <a:ext cx="2816352" cy="1783080"/>
          </a:xfrm>
          <a:prstGeom prst="rect">
            <a:avLst/>
          </a:prstGeom>
          <a:noFill/>
          <a:ln/>
        </p:spPr>
        <p:txBody>
          <a:bodyPr wrap="square" lIns="0" tIns="0" rIns="0" bIns="0" rtlCol="0" anchor="t"/>
          <a:lstStyle/>
          <a:p>
            <a:pPr indent="0" marL="0">
              <a:spcAft>
                <a:spcPts val="300"/>
              </a:spcAft>
              <a:buNone/>
            </a:pPr>
            <a:r>
              <a:rPr lang="en-US" sz="1300" b="1" dirty="0">
                <a:solidFill>
                  <a:srgbClr val="33475B"/>
                </a:solidFill>
                <a:latin typeface="Calibri" pitchFamily="34" charset="0"/>
                <a:ea typeface="Calibri" pitchFamily="34" charset="-122"/>
                <a:cs typeface="Calibri" pitchFamily="34" charset="-120"/>
              </a:rPr>
              <a:t>PK  job_id</a:t>
            </a:r>
            <a:endParaRPr lang="en-US" sz="1300" dirty="0"/>
          </a:p>
          <a:p>
            <a:pPr indent="0" marL="0">
              <a:spcAft>
                <a:spcPts val="300"/>
              </a:spcAft>
              <a:buNone/>
            </a:pPr>
            <a:r>
              <a:rPr lang="en-US" sz="1300" b="1" dirty="0">
                <a:solidFill>
                  <a:srgbClr val="33475B"/>
                </a:solidFill>
                <a:latin typeface="Calibri" pitchFamily="34" charset="0"/>
                <a:ea typeface="Calibri" pitchFamily="34" charset="-122"/>
                <a:cs typeface="Calibri" pitchFamily="34" charset="-120"/>
              </a:rPr>
              <a:t>FK  user_local_id</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board_type, com_port</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status, progress</a:t>
            </a:r>
            <a:endParaRPr lang="en-US" sz="1300" dirty="0"/>
          </a:p>
          <a:p>
            <a:pPr indent="0" marL="0">
              <a:spcAft>
                <a:spcPts val="300"/>
              </a:spcAft>
              <a:buNone/>
            </a:pPr>
            <a:r>
              <a:rPr lang="en-US" sz="1300" dirty="0">
                <a:solidFill>
                  <a:srgbClr val="33475B"/>
                </a:solidFill>
                <a:latin typeface="Calibri" pitchFamily="34" charset="0"/>
                <a:ea typeface="Calibri" pitchFamily="34" charset="-122"/>
                <a:cs typeface="Calibri" pitchFamily="34" charset="-120"/>
              </a:rPr>
              <a:t>started_at, ended_at</a:t>
            </a:r>
            <a:endParaRPr lang="en-US" sz="1300" dirty="0"/>
          </a:p>
        </p:txBody>
      </p:sp>
      <p:sp>
        <p:nvSpPr>
          <p:cNvPr id="44" name="arrow-249"/>
          <p:cNvSpPr/>
          <p:nvPr/>
        </p:nvSpPr>
        <p:spPr>
          <a:xfrm>
            <a:off x="7955280" y="3108960"/>
            <a:ext cx="457200" cy="914"/>
          </a:xfrm>
          <a:prstGeom prst="line">
            <a:avLst/>
          </a:prstGeom>
          <a:noFill/>
          <a:ln w="15875">
            <a:solidFill>
              <a:srgbClr val="6B7D91"/>
            </a:solidFill>
            <a:prstDash val="solid"/>
            <a:tailEnd type="triangle"/>
          </a:ln>
        </p:spPr>
      </p:sp>
      <p:sp>
        <p:nvSpPr>
          <p:cNvPr id="45" name="text-250"/>
          <p:cNvSpPr txBox="1"/>
          <p:nvPr/>
        </p:nvSpPr>
        <p:spPr>
          <a:xfrm>
            <a:off x="7726680" y="2743200"/>
            <a:ext cx="914400" cy="274320"/>
          </a:xfrm>
          <a:prstGeom prst="rect">
            <a:avLst/>
          </a:prstGeom>
          <a:noFill/>
          <a:ln/>
        </p:spPr>
        <p:txBody>
          <a:bodyPr wrap="square" lIns="0" tIns="0" rIns="0" bIns="0" rtlCol="0" anchor="t"/>
          <a:lstStyle/>
          <a:p>
            <a:pPr algn="ctr" indent="0" marL="0">
              <a:lnSpc>
                <a:spcPct val="105000"/>
              </a:lnSpc>
              <a:buNone/>
            </a:pPr>
            <a:r>
              <a:rPr lang="en-US" sz="1100" dirty="0">
                <a:solidFill>
                  <a:srgbClr val="6B7D91"/>
                </a:solidFill>
                <a:latin typeface="Calibri" pitchFamily="34" charset="0"/>
                <a:ea typeface="Calibri" pitchFamily="34" charset="-122"/>
                <a:cs typeface="Calibri" pitchFamily="34" charset="-120"/>
              </a:rPr>
              <a:t>1 : N</a:t>
            </a:r>
            <a:endParaRPr lang="en-US" sz="1100" dirty="0"/>
          </a:p>
        </p:txBody>
      </p:sp>
      <p:sp>
        <p:nvSpPr>
          <p:cNvPr id="46" name="arrow-251"/>
          <p:cNvSpPr/>
          <p:nvPr/>
        </p:nvSpPr>
        <p:spPr>
          <a:xfrm>
            <a:off x="2423160" y="4572000"/>
            <a:ext cx="914" cy="365760"/>
          </a:xfrm>
          <a:prstGeom prst="line">
            <a:avLst/>
          </a:prstGeom>
          <a:noFill/>
          <a:ln w="15875">
            <a:solidFill>
              <a:srgbClr val="6B7D91"/>
            </a:solidFill>
            <a:prstDash val="solid"/>
            <a:tailEnd type="triangle"/>
          </a:ln>
        </p:spPr>
      </p:sp>
      <p:sp>
        <p:nvSpPr>
          <p:cNvPr id="47" name="text-252"/>
          <p:cNvSpPr txBox="1"/>
          <p:nvPr/>
        </p:nvSpPr>
        <p:spPr>
          <a:xfrm>
            <a:off x="2514600" y="4590288"/>
            <a:ext cx="914400" cy="274320"/>
          </a:xfrm>
          <a:prstGeom prst="rect">
            <a:avLst/>
          </a:prstGeom>
          <a:noFill/>
          <a:ln/>
        </p:spPr>
        <p:txBody>
          <a:bodyPr wrap="square" lIns="0" tIns="0" rIns="0" bIns="0" rtlCol="0" anchor="t"/>
          <a:lstStyle/>
          <a:p>
            <a:pPr algn="ctr" indent="0" marL="0">
              <a:lnSpc>
                <a:spcPct val="105000"/>
              </a:lnSpc>
              <a:buNone/>
            </a:pPr>
            <a:r>
              <a:rPr lang="en-US" sz="1100" dirty="0">
                <a:solidFill>
                  <a:srgbClr val="6B7D91"/>
                </a:solidFill>
                <a:latin typeface="Calibri" pitchFamily="34" charset="0"/>
                <a:ea typeface="Calibri" pitchFamily="34" charset="-122"/>
                <a:cs typeface="Calibri" pitchFamily="34" charset="-120"/>
              </a:rPr>
              <a:t>1 : N</a:t>
            </a:r>
            <a:endParaRPr lang="en-US" sz="1100" dirty="0"/>
          </a:p>
        </p:txBody>
      </p:sp>
      <p:sp>
        <p:nvSpPr>
          <p:cNvPr id="48" name="arrow-253"/>
          <p:cNvSpPr/>
          <p:nvPr/>
        </p:nvSpPr>
        <p:spPr>
          <a:xfrm>
            <a:off x="11795760" y="6309360"/>
            <a:ext cx="457200" cy="914"/>
          </a:xfrm>
          <a:prstGeom prst="line">
            <a:avLst/>
          </a:prstGeom>
          <a:noFill/>
          <a:ln w="15875">
            <a:solidFill>
              <a:srgbClr val="6B7D91"/>
            </a:solidFill>
            <a:prstDash val="solid"/>
            <a:tailEnd type="triangle"/>
          </a:ln>
        </p:spPr>
      </p:sp>
      <p:sp>
        <p:nvSpPr>
          <p:cNvPr id="49" name="text-254"/>
          <p:cNvSpPr txBox="1"/>
          <p:nvPr/>
        </p:nvSpPr>
        <p:spPr>
          <a:xfrm>
            <a:off x="11567160" y="5943600"/>
            <a:ext cx="914400" cy="274320"/>
          </a:xfrm>
          <a:prstGeom prst="rect">
            <a:avLst/>
          </a:prstGeom>
          <a:noFill/>
          <a:ln/>
        </p:spPr>
        <p:txBody>
          <a:bodyPr wrap="square" lIns="0" tIns="0" rIns="0" bIns="0" rtlCol="0" anchor="t"/>
          <a:lstStyle/>
          <a:p>
            <a:pPr algn="ctr" indent="0" marL="0">
              <a:lnSpc>
                <a:spcPct val="105000"/>
              </a:lnSpc>
              <a:buNone/>
            </a:pPr>
            <a:r>
              <a:rPr lang="en-US" sz="1100" dirty="0">
                <a:solidFill>
                  <a:srgbClr val="6B7D91"/>
                </a:solidFill>
                <a:latin typeface="Calibri" pitchFamily="34" charset="0"/>
                <a:ea typeface="Calibri" pitchFamily="34" charset="-122"/>
                <a:cs typeface="Calibri" pitchFamily="34" charset="-120"/>
              </a:rPr>
              <a:t>1 : N</a:t>
            </a:r>
            <a:endParaRPr lang="en-US" sz="1100" dirty="0"/>
          </a:p>
        </p:txBody>
      </p:sp>
      <p:sp>
        <p:nvSpPr>
          <p:cNvPr id="50" name="card-255"/>
          <p:cNvSpPr/>
          <p:nvPr/>
        </p:nvSpPr>
        <p:spPr>
          <a:xfrm>
            <a:off x="731520" y="7863840"/>
            <a:ext cx="14794992" cy="502920"/>
          </a:xfrm>
          <a:prstGeom prst="roundRect">
            <a:avLst>
              <a:gd name="adj" fmla="val 21818"/>
            </a:avLst>
          </a:prstGeom>
          <a:solidFill>
            <a:srgbClr val="F3F6F9"/>
          </a:solidFill>
          <a:ln w="15875">
            <a:solidFill>
              <a:srgbClr val="C9D4DE"/>
            </a:solidFill>
            <a:prstDash val="solid"/>
          </a:ln>
        </p:spPr>
      </p:sp>
      <p:sp>
        <p:nvSpPr>
          <p:cNvPr id="51" name="text-256"/>
          <p:cNvSpPr txBox="1"/>
          <p:nvPr/>
        </p:nvSpPr>
        <p:spPr>
          <a:xfrm>
            <a:off x="1005840" y="7863840"/>
            <a:ext cx="14246352" cy="502920"/>
          </a:xfrm>
          <a:prstGeom prst="rect">
            <a:avLst/>
          </a:prstGeom>
          <a:noFill/>
          <a:ln/>
        </p:spPr>
        <p:txBody>
          <a:bodyPr wrap="square" lIns="0" tIns="0" rIns="0" bIns="0" rtlCol="0" anchor="ctr"/>
          <a:lstStyle/>
          <a:p>
            <a:pPr algn="l" indent="0" marL="0">
              <a:lnSpc>
                <a:spcPct val="105000"/>
              </a:lnSpc>
              <a:buNone/>
            </a:pPr>
            <a:r>
              <a:rPr lang="en-US" sz="1300" dirty="0">
                <a:solidFill>
                  <a:srgbClr val="33475B"/>
                </a:solidFill>
                <a:latin typeface="Calibri" pitchFamily="34" charset="0"/>
                <a:ea typeface="Calibri" pitchFamily="34" charset="-122"/>
                <a:cs typeface="Calibri" pitchFamily="34" charset="-120"/>
              </a:rPr>
              <a:t>Relationships:  DEVICE 1 : N TELEMETRY, DEVICE_COMMAND, AUDIT   |   RELEASE 1 : N DEPLOYMENT   |   DEPLOYMENT N : M DEVICE (targets)   |   OTA_PROFILES 1 : N OTA_UPLOADS</a:t>
            </a:r>
            <a:endParaRPr lang="en-US" sz="13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6.4  Algorithm Design</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Tiered Crypto Verification (TCV): five gates, the costly signature check last</a:t>
            </a:r>
            <a:endParaRPr lang="en-US" sz="1600" dirty="0"/>
          </a:p>
        </p:txBody>
      </p:sp>
      <p:sp>
        <p:nvSpPr>
          <p:cNvPr id="4" name="card-257"/>
          <p:cNvSpPr/>
          <p:nvPr/>
        </p:nvSpPr>
        <p:spPr>
          <a:xfrm>
            <a:off x="731520" y="2011680"/>
            <a:ext cx="2395728" cy="1737360"/>
          </a:xfrm>
          <a:prstGeom prst="roundRect">
            <a:avLst>
              <a:gd name="adj" fmla="val 6316"/>
            </a:avLst>
          </a:prstGeom>
          <a:solidFill>
            <a:srgbClr val="FFFFFF"/>
          </a:solidFill>
          <a:ln w="15875">
            <a:solidFill>
              <a:srgbClr val="0E7490"/>
            </a:solidFill>
            <a:prstDash val="solid"/>
          </a:ln>
          <a:effectLst>
            <a:outerShdw sx="100000" sy="100000" kx="0" ky="0" algn="bl" rotWithShape="0" blurRad="76200" dist="25400" dir="5400000">
              <a:srgbClr val="9AAEC2">
                <a:alpha val="18000"/>
              </a:srgbClr>
            </a:outerShdw>
          </a:effectLst>
        </p:spPr>
      </p:sp>
      <p:sp>
        <p:nvSpPr>
          <p:cNvPr id="5" name="text-258"/>
          <p:cNvSpPr txBox="1"/>
          <p:nvPr/>
        </p:nvSpPr>
        <p:spPr>
          <a:xfrm>
            <a:off x="914400" y="2103120"/>
            <a:ext cx="731520" cy="411480"/>
          </a:xfrm>
          <a:prstGeom prst="rect">
            <a:avLst/>
          </a:prstGeom>
          <a:noFill/>
          <a:ln/>
        </p:spPr>
        <p:txBody>
          <a:bodyPr wrap="square" lIns="0" tIns="0" rIns="0" bIns="0" rtlCol="0" anchor="t"/>
          <a:lstStyle/>
          <a:p>
            <a:pPr algn="l" indent="0" marL="0">
              <a:lnSpc>
                <a:spcPct val="105000"/>
              </a:lnSpc>
              <a:buNone/>
            </a:pPr>
            <a:r>
              <a:rPr lang="en-US" sz="1800" b="1" dirty="0">
                <a:solidFill>
                  <a:srgbClr val="0E7490"/>
                </a:solidFill>
                <a:latin typeface="Cambria" pitchFamily="34" charset="0"/>
                <a:ea typeface="Cambria" pitchFamily="34" charset="-122"/>
                <a:cs typeface="Cambria" pitchFamily="34" charset="-120"/>
              </a:rPr>
              <a:t>G1</a:t>
            </a:r>
            <a:endParaRPr lang="en-US" sz="1800" dirty="0"/>
          </a:p>
        </p:txBody>
      </p:sp>
      <p:sp>
        <p:nvSpPr>
          <p:cNvPr id="6" name="text-259"/>
          <p:cNvSpPr txBox="1"/>
          <p:nvPr/>
        </p:nvSpPr>
        <p:spPr>
          <a:xfrm>
            <a:off x="1984248" y="2130552"/>
            <a:ext cx="960120" cy="365760"/>
          </a:xfrm>
          <a:prstGeom prst="rect">
            <a:avLst/>
          </a:prstGeom>
          <a:noFill/>
          <a:ln/>
        </p:spPr>
        <p:txBody>
          <a:bodyPr wrap="square" lIns="0" tIns="0" rIns="0" bIns="0" rtlCol="0" anchor="t"/>
          <a:lstStyle/>
          <a:p>
            <a:pPr algn="r" indent="0" marL="0">
              <a:lnSpc>
                <a:spcPct val="105000"/>
              </a:lnSpc>
              <a:buNone/>
            </a:pPr>
            <a:r>
              <a:rPr lang="en-US" sz="1400" b="1" dirty="0">
                <a:solidFill>
                  <a:srgbClr val="0E7490"/>
                </a:solidFill>
                <a:latin typeface="Calibri" pitchFamily="34" charset="0"/>
                <a:ea typeface="Calibri" pitchFamily="34" charset="-122"/>
                <a:cs typeface="Calibri" pitchFamily="34" charset="-120"/>
              </a:rPr>
              <a:t>1.2 ms</a:t>
            </a:r>
            <a:endParaRPr lang="en-US" sz="1400" dirty="0"/>
          </a:p>
        </p:txBody>
      </p:sp>
      <p:sp>
        <p:nvSpPr>
          <p:cNvPr id="7" name="text-260"/>
          <p:cNvSpPr txBox="1"/>
          <p:nvPr/>
        </p:nvSpPr>
        <p:spPr>
          <a:xfrm>
            <a:off x="914400" y="2560320"/>
            <a:ext cx="2029968" cy="457200"/>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Manifest validation</a:t>
            </a:r>
            <a:endParaRPr lang="en-US" sz="1500" dirty="0"/>
          </a:p>
        </p:txBody>
      </p:sp>
      <p:sp>
        <p:nvSpPr>
          <p:cNvPr id="8" name="text-261"/>
          <p:cNvSpPr txBox="1"/>
          <p:nvPr/>
        </p:nvSpPr>
        <p:spPr>
          <a:xfrm>
            <a:off x="914400" y="3017520"/>
            <a:ext cx="2029968" cy="548640"/>
          </a:xfrm>
          <a:prstGeom prst="rect">
            <a:avLst/>
          </a:prstGeom>
          <a:noFill/>
          <a:ln/>
        </p:spPr>
        <p:txBody>
          <a:bodyPr wrap="square" lIns="0" tIns="0" rIns="0" bIns="0" rtlCol="0" anchor="t"/>
          <a:lstStyle/>
          <a:p>
            <a:pPr algn="l" indent="0" marL="0">
              <a:lnSpc>
                <a:spcPct val="105000"/>
              </a:lnSpc>
              <a:buNone/>
            </a:pPr>
            <a:r>
              <a:rPr lang="en-US" sz="1300" dirty="0">
                <a:solidFill>
                  <a:srgbClr val="6B7D91"/>
                </a:solidFill>
                <a:latin typeface="Calibri" pitchFamily="34" charset="0"/>
                <a:ea typeface="Calibri" pitchFamily="34" charset="-122"/>
                <a:cs typeface="Calibri" pitchFamily="34" charset="-120"/>
              </a:rPr>
              <a:t>board, version, size</a:t>
            </a:r>
            <a:endParaRPr lang="en-US" sz="1300" dirty="0"/>
          </a:p>
        </p:txBody>
      </p:sp>
      <p:sp>
        <p:nvSpPr>
          <p:cNvPr id="9" name="arrow-262"/>
          <p:cNvSpPr/>
          <p:nvPr/>
        </p:nvSpPr>
        <p:spPr>
          <a:xfrm>
            <a:off x="3172968" y="2880360"/>
            <a:ext cx="475488" cy="914"/>
          </a:xfrm>
          <a:prstGeom prst="line">
            <a:avLst/>
          </a:prstGeom>
          <a:noFill/>
          <a:ln w="25400">
            <a:solidFill>
              <a:srgbClr val="6B7D91"/>
            </a:solidFill>
            <a:prstDash val="solid"/>
            <a:tailEnd type="triangle"/>
          </a:ln>
        </p:spPr>
      </p:sp>
      <p:sp>
        <p:nvSpPr>
          <p:cNvPr id="10" name="arrow-263"/>
          <p:cNvSpPr/>
          <p:nvPr/>
        </p:nvSpPr>
        <p:spPr>
          <a:xfrm>
            <a:off x="1929384" y="3749040"/>
            <a:ext cx="914" cy="457200"/>
          </a:xfrm>
          <a:prstGeom prst="line">
            <a:avLst/>
          </a:prstGeom>
          <a:noFill/>
          <a:ln w="19050">
            <a:solidFill>
              <a:srgbClr val="B4322A"/>
            </a:solidFill>
            <a:prstDash val="solid"/>
            <a:tailEnd type="triangle"/>
          </a:ln>
        </p:spPr>
      </p:sp>
      <p:sp>
        <p:nvSpPr>
          <p:cNvPr id="11" name="card-264"/>
          <p:cNvSpPr/>
          <p:nvPr/>
        </p:nvSpPr>
        <p:spPr>
          <a:xfrm>
            <a:off x="3694176" y="2011680"/>
            <a:ext cx="2395728" cy="1737360"/>
          </a:xfrm>
          <a:prstGeom prst="roundRect">
            <a:avLst>
              <a:gd name="adj" fmla="val 6316"/>
            </a:avLst>
          </a:prstGeom>
          <a:solidFill>
            <a:srgbClr val="FFFFFF"/>
          </a:solidFill>
          <a:ln w="15875">
            <a:solidFill>
              <a:srgbClr val="0E7490"/>
            </a:solidFill>
            <a:prstDash val="solid"/>
          </a:ln>
          <a:effectLst>
            <a:outerShdw sx="100000" sy="100000" kx="0" ky="0" algn="bl" rotWithShape="0" blurRad="76200" dist="25400" dir="5400000">
              <a:srgbClr val="9AAEC2">
                <a:alpha val="18000"/>
              </a:srgbClr>
            </a:outerShdw>
          </a:effectLst>
        </p:spPr>
      </p:sp>
      <p:sp>
        <p:nvSpPr>
          <p:cNvPr id="12" name="text-265"/>
          <p:cNvSpPr txBox="1"/>
          <p:nvPr/>
        </p:nvSpPr>
        <p:spPr>
          <a:xfrm>
            <a:off x="3877056" y="2103120"/>
            <a:ext cx="731520" cy="411480"/>
          </a:xfrm>
          <a:prstGeom prst="rect">
            <a:avLst/>
          </a:prstGeom>
          <a:noFill/>
          <a:ln/>
        </p:spPr>
        <p:txBody>
          <a:bodyPr wrap="square" lIns="0" tIns="0" rIns="0" bIns="0" rtlCol="0" anchor="t"/>
          <a:lstStyle/>
          <a:p>
            <a:pPr algn="l" indent="0" marL="0">
              <a:lnSpc>
                <a:spcPct val="105000"/>
              </a:lnSpc>
              <a:buNone/>
            </a:pPr>
            <a:r>
              <a:rPr lang="en-US" sz="1800" b="1" dirty="0">
                <a:solidFill>
                  <a:srgbClr val="0E7490"/>
                </a:solidFill>
                <a:latin typeface="Cambria" pitchFamily="34" charset="0"/>
                <a:ea typeface="Cambria" pitchFamily="34" charset="-122"/>
                <a:cs typeface="Cambria" pitchFamily="34" charset="-120"/>
              </a:rPr>
              <a:t>G2</a:t>
            </a:r>
            <a:endParaRPr lang="en-US" sz="1800" dirty="0"/>
          </a:p>
        </p:txBody>
      </p:sp>
      <p:sp>
        <p:nvSpPr>
          <p:cNvPr id="13" name="text-266"/>
          <p:cNvSpPr txBox="1"/>
          <p:nvPr/>
        </p:nvSpPr>
        <p:spPr>
          <a:xfrm>
            <a:off x="4946904" y="2130552"/>
            <a:ext cx="960120" cy="365760"/>
          </a:xfrm>
          <a:prstGeom prst="rect">
            <a:avLst/>
          </a:prstGeom>
          <a:noFill/>
          <a:ln/>
        </p:spPr>
        <p:txBody>
          <a:bodyPr wrap="square" lIns="0" tIns="0" rIns="0" bIns="0" rtlCol="0" anchor="t"/>
          <a:lstStyle/>
          <a:p>
            <a:pPr algn="r" indent="0" marL="0">
              <a:lnSpc>
                <a:spcPct val="105000"/>
              </a:lnSpc>
              <a:buNone/>
            </a:pPr>
            <a:r>
              <a:rPr lang="en-US" sz="1400" b="1" dirty="0">
                <a:solidFill>
                  <a:srgbClr val="0E7490"/>
                </a:solidFill>
                <a:latin typeface="Calibri" pitchFamily="34" charset="0"/>
                <a:ea typeface="Calibri" pitchFamily="34" charset="-122"/>
                <a:cs typeface="Calibri" pitchFamily="34" charset="-120"/>
              </a:rPr>
              <a:t>11.8 ms</a:t>
            </a:r>
            <a:endParaRPr lang="en-US" sz="1400" dirty="0"/>
          </a:p>
        </p:txBody>
      </p:sp>
      <p:sp>
        <p:nvSpPr>
          <p:cNvPr id="14" name="text-267"/>
          <p:cNvSpPr txBox="1"/>
          <p:nvPr/>
        </p:nvSpPr>
        <p:spPr>
          <a:xfrm>
            <a:off x="3877056" y="2560320"/>
            <a:ext cx="2029968" cy="457200"/>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SHA-256 digest</a:t>
            </a:r>
            <a:endParaRPr lang="en-US" sz="1500" dirty="0"/>
          </a:p>
        </p:txBody>
      </p:sp>
      <p:sp>
        <p:nvSpPr>
          <p:cNvPr id="15" name="text-268"/>
          <p:cNvSpPr txBox="1"/>
          <p:nvPr/>
        </p:nvSpPr>
        <p:spPr>
          <a:xfrm>
            <a:off x="3877056" y="3017520"/>
            <a:ext cx="2029968" cy="548640"/>
          </a:xfrm>
          <a:prstGeom prst="rect">
            <a:avLst/>
          </a:prstGeom>
          <a:noFill/>
          <a:ln/>
        </p:spPr>
        <p:txBody>
          <a:bodyPr wrap="square" lIns="0" tIns="0" rIns="0" bIns="0" rtlCol="0" anchor="t"/>
          <a:lstStyle/>
          <a:p>
            <a:pPr algn="l" indent="0" marL="0">
              <a:lnSpc>
                <a:spcPct val="105000"/>
              </a:lnSpc>
              <a:buNone/>
            </a:pPr>
            <a:r>
              <a:rPr lang="en-US" sz="1300" dirty="0">
                <a:solidFill>
                  <a:srgbClr val="6B7D91"/>
                </a:solidFill>
                <a:latin typeface="Calibri" pitchFamily="34" charset="0"/>
                <a:ea typeface="Calibri" pitchFamily="34" charset="-122"/>
                <a:cs typeface="Calibri" pitchFamily="34" charset="-120"/>
              </a:rPr>
              <a:t>binary vs manifest</a:t>
            </a:r>
            <a:endParaRPr lang="en-US" sz="1300" dirty="0"/>
          </a:p>
        </p:txBody>
      </p:sp>
      <p:sp>
        <p:nvSpPr>
          <p:cNvPr id="16" name="arrow-269"/>
          <p:cNvSpPr/>
          <p:nvPr/>
        </p:nvSpPr>
        <p:spPr>
          <a:xfrm>
            <a:off x="6135624" y="2880360"/>
            <a:ext cx="475488" cy="914"/>
          </a:xfrm>
          <a:prstGeom prst="line">
            <a:avLst/>
          </a:prstGeom>
          <a:noFill/>
          <a:ln w="25400">
            <a:solidFill>
              <a:srgbClr val="6B7D91"/>
            </a:solidFill>
            <a:prstDash val="solid"/>
            <a:tailEnd type="triangle"/>
          </a:ln>
        </p:spPr>
      </p:sp>
      <p:sp>
        <p:nvSpPr>
          <p:cNvPr id="17" name="arrow-270"/>
          <p:cNvSpPr/>
          <p:nvPr/>
        </p:nvSpPr>
        <p:spPr>
          <a:xfrm>
            <a:off x="4892040" y="3749040"/>
            <a:ext cx="914" cy="457200"/>
          </a:xfrm>
          <a:prstGeom prst="line">
            <a:avLst/>
          </a:prstGeom>
          <a:noFill/>
          <a:ln w="19050">
            <a:solidFill>
              <a:srgbClr val="B4322A"/>
            </a:solidFill>
            <a:prstDash val="solid"/>
            <a:tailEnd type="triangle"/>
          </a:ln>
        </p:spPr>
      </p:sp>
      <p:sp>
        <p:nvSpPr>
          <p:cNvPr id="18" name="card-271"/>
          <p:cNvSpPr/>
          <p:nvPr/>
        </p:nvSpPr>
        <p:spPr>
          <a:xfrm>
            <a:off x="6656832" y="2011680"/>
            <a:ext cx="2395728" cy="1737360"/>
          </a:xfrm>
          <a:prstGeom prst="roundRect">
            <a:avLst>
              <a:gd name="adj" fmla="val 6316"/>
            </a:avLst>
          </a:prstGeom>
          <a:solidFill>
            <a:srgbClr val="FFFFFF"/>
          </a:solidFill>
          <a:ln w="15875">
            <a:solidFill>
              <a:srgbClr val="0E7490"/>
            </a:solidFill>
            <a:prstDash val="solid"/>
          </a:ln>
          <a:effectLst>
            <a:outerShdw sx="100000" sy="100000" kx="0" ky="0" algn="bl" rotWithShape="0" blurRad="76200" dist="25400" dir="5400000">
              <a:srgbClr val="9AAEC2">
                <a:alpha val="18000"/>
              </a:srgbClr>
            </a:outerShdw>
          </a:effectLst>
        </p:spPr>
      </p:sp>
      <p:sp>
        <p:nvSpPr>
          <p:cNvPr id="19" name="text-272"/>
          <p:cNvSpPr txBox="1"/>
          <p:nvPr/>
        </p:nvSpPr>
        <p:spPr>
          <a:xfrm>
            <a:off x="6839712" y="2103120"/>
            <a:ext cx="731520" cy="411480"/>
          </a:xfrm>
          <a:prstGeom prst="rect">
            <a:avLst/>
          </a:prstGeom>
          <a:noFill/>
          <a:ln/>
        </p:spPr>
        <p:txBody>
          <a:bodyPr wrap="square" lIns="0" tIns="0" rIns="0" bIns="0" rtlCol="0" anchor="t"/>
          <a:lstStyle/>
          <a:p>
            <a:pPr algn="l" indent="0" marL="0">
              <a:lnSpc>
                <a:spcPct val="105000"/>
              </a:lnSpc>
              <a:buNone/>
            </a:pPr>
            <a:r>
              <a:rPr lang="en-US" sz="1800" b="1" dirty="0">
                <a:solidFill>
                  <a:srgbClr val="0E7490"/>
                </a:solidFill>
                <a:latin typeface="Cambria" pitchFamily="34" charset="0"/>
                <a:ea typeface="Cambria" pitchFamily="34" charset="-122"/>
                <a:cs typeface="Cambria" pitchFamily="34" charset="-120"/>
              </a:rPr>
              <a:t>G3</a:t>
            </a:r>
            <a:endParaRPr lang="en-US" sz="1800" dirty="0"/>
          </a:p>
        </p:txBody>
      </p:sp>
      <p:sp>
        <p:nvSpPr>
          <p:cNvPr id="20" name="text-273"/>
          <p:cNvSpPr txBox="1"/>
          <p:nvPr/>
        </p:nvSpPr>
        <p:spPr>
          <a:xfrm>
            <a:off x="7909560" y="2130552"/>
            <a:ext cx="960120" cy="365760"/>
          </a:xfrm>
          <a:prstGeom prst="rect">
            <a:avLst/>
          </a:prstGeom>
          <a:noFill/>
          <a:ln/>
        </p:spPr>
        <p:txBody>
          <a:bodyPr wrap="square" lIns="0" tIns="0" rIns="0" bIns="0" rtlCol="0" anchor="t"/>
          <a:lstStyle/>
          <a:p>
            <a:pPr algn="r" indent="0" marL="0">
              <a:lnSpc>
                <a:spcPct val="105000"/>
              </a:lnSpc>
              <a:buNone/>
            </a:pPr>
            <a:r>
              <a:rPr lang="en-US" sz="1400" b="1" dirty="0">
                <a:solidFill>
                  <a:srgbClr val="0E7490"/>
                </a:solidFill>
                <a:latin typeface="Calibri" pitchFamily="34" charset="0"/>
                <a:ea typeface="Calibri" pitchFamily="34" charset="-122"/>
                <a:cs typeface="Calibri" pitchFamily="34" charset="-120"/>
              </a:rPr>
              <a:t>0.9 ms</a:t>
            </a:r>
            <a:endParaRPr lang="en-US" sz="1400" dirty="0"/>
          </a:p>
        </p:txBody>
      </p:sp>
      <p:sp>
        <p:nvSpPr>
          <p:cNvPr id="21" name="text-274"/>
          <p:cNvSpPr txBox="1"/>
          <p:nvPr/>
        </p:nvSpPr>
        <p:spPr>
          <a:xfrm>
            <a:off x="6839712" y="2560320"/>
            <a:ext cx="2029968" cy="457200"/>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Image format</a:t>
            </a:r>
            <a:endParaRPr lang="en-US" sz="1500" dirty="0"/>
          </a:p>
        </p:txBody>
      </p:sp>
      <p:sp>
        <p:nvSpPr>
          <p:cNvPr id="22" name="text-275"/>
          <p:cNvSpPr txBox="1"/>
          <p:nvPr/>
        </p:nvSpPr>
        <p:spPr>
          <a:xfrm>
            <a:off x="6839712" y="3017520"/>
            <a:ext cx="2029968" cy="548640"/>
          </a:xfrm>
          <a:prstGeom prst="rect">
            <a:avLst/>
          </a:prstGeom>
          <a:noFill/>
          <a:ln/>
        </p:spPr>
        <p:txBody>
          <a:bodyPr wrap="square" lIns="0" tIns="0" rIns="0" bIns="0" rtlCol="0" anchor="t"/>
          <a:lstStyle/>
          <a:p>
            <a:pPr algn="l" indent="0" marL="0">
              <a:lnSpc>
                <a:spcPct val="105000"/>
              </a:lnSpc>
              <a:buNone/>
            </a:pPr>
            <a:r>
              <a:rPr lang="en-US" sz="1300" dirty="0">
                <a:solidFill>
                  <a:srgbClr val="6B7D91"/>
                </a:solidFill>
                <a:latin typeface="Calibri" pitchFamily="34" charset="0"/>
                <a:ea typeface="Calibri" pitchFamily="34" charset="-122"/>
                <a:cs typeface="Calibri" pitchFamily="34" charset="-120"/>
              </a:rPr>
              <a:t>header structure</a:t>
            </a:r>
            <a:endParaRPr lang="en-US" sz="1300" dirty="0"/>
          </a:p>
        </p:txBody>
      </p:sp>
      <p:sp>
        <p:nvSpPr>
          <p:cNvPr id="23" name="arrow-276"/>
          <p:cNvSpPr/>
          <p:nvPr/>
        </p:nvSpPr>
        <p:spPr>
          <a:xfrm>
            <a:off x="9098280" y="2880360"/>
            <a:ext cx="475488" cy="914"/>
          </a:xfrm>
          <a:prstGeom prst="line">
            <a:avLst/>
          </a:prstGeom>
          <a:noFill/>
          <a:ln w="25400">
            <a:solidFill>
              <a:srgbClr val="6B7D91"/>
            </a:solidFill>
            <a:prstDash val="solid"/>
            <a:tailEnd type="triangle"/>
          </a:ln>
        </p:spPr>
      </p:sp>
      <p:sp>
        <p:nvSpPr>
          <p:cNvPr id="24" name="arrow-277"/>
          <p:cNvSpPr/>
          <p:nvPr/>
        </p:nvSpPr>
        <p:spPr>
          <a:xfrm>
            <a:off x="7854696" y="3749040"/>
            <a:ext cx="914" cy="457200"/>
          </a:xfrm>
          <a:prstGeom prst="line">
            <a:avLst/>
          </a:prstGeom>
          <a:noFill/>
          <a:ln w="19050">
            <a:solidFill>
              <a:srgbClr val="B4322A"/>
            </a:solidFill>
            <a:prstDash val="solid"/>
            <a:tailEnd type="triangle"/>
          </a:ln>
        </p:spPr>
      </p:sp>
      <p:sp>
        <p:nvSpPr>
          <p:cNvPr id="25" name="card-278"/>
          <p:cNvSpPr/>
          <p:nvPr/>
        </p:nvSpPr>
        <p:spPr>
          <a:xfrm>
            <a:off x="9619488" y="2011680"/>
            <a:ext cx="2395728" cy="1737360"/>
          </a:xfrm>
          <a:prstGeom prst="roundRect">
            <a:avLst>
              <a:gd name="adj" fmla="val 6316"/>
            </a:avLst>
          </a:prstGeom>
          <a:solidFill>
            <a:srgbClr val="FFFFFF"/>
          </a:solidFill>
          <a:ln w="15875">
            <a:solidFill>
              <a:srgbClr val="96650A"/>
            </a:solidFill>
            <a:prstDash val="solid"/>
          </a:ln>
          <a:effectLst>
            <a:outerShdw sx="100000" sy="100000" kx="0" ky="0" algn="bl" rotWithShape="0" blurRad="76200" dist="25400" dir="5400000">
              <a:srgbClr val="9AAEC2">
                <a:alpha val="18000"/>
              </a:srgbClr>
            </a:outerShdw>
          </a:effectLst>
        </p:spPr>
      </p:sp>
      <p:sp>
        <p:nvSpPr>
          <p:cNvPr id="26" name="text-279"/>
          <p:cNvSpPr txBox="1"/>
          <p:nvPr/>
        </p:nvSpPr>
        <p:spPr>
          <a:xfrm>
            <a:off x="9802368" y="2103120"/>
            <a:ext cx="731520" cy="411480"/>
          </a:xfrm>
          <a:prstGeom prst="rect">
            <a:avLst/>
          </a:prstGeom>
          <a:noFill/>
          <a:ln/>
        </p:spPr>
        <p:txBody>
          <a:bodyPr wrap="square" lIns="0" tIns="0" rIns="0" bIns="0" rtlCol="0" anchor="t"/>
          <a:lstStyle/>
          <a:p>
            <a:pPr algn="l" indent="0" marL="0">
              <a:lnSpc>
                <a:spcPct val="105000"/>
              </a:lnSpc>
              <a:buNone/>
            </a:pPr>
            <a:r>
              <a:rPr lang="en-US" sz="1800" b="1" dirty="0">
                <a:solidFill>
                  <a:srgbClr val="96650A"/>
                </a:solidFill>
                <a:latin typeface="Cambria" pitchFamily="34" charset="0"/>
                <a:ea typeface="Cambria" pitchFamily="34" charset="-122"/>
                <a:cs typeface="Cambria" pitchFamily="34" charset="-120"/>
              </a:rPr>
              <a:t>G4</a:t>
            </a:r>
            <a:endParaRPr lang="en-US" sz="1800" dirty="0"/>
          </a:p>
        </p:txBody>
      </p:sp>
      <p:sp>
        <p:nvSpPr>
          <p:cNvPr id="27" name="text-280"/>
          <p:cNvSpPr txBox="1"/>
          <p:nvPr/>
        </p:nvSpPr>
        <p:spPr>
          <a:xfrm>
            <a:off x="10872216" y="2130552"/>
            <a:ext cx="960120" cy="365760"/>
          </a:xfrm>
          <a:prstGeom prst="rect">
            <a:avLst/>
          </a:prstGeom>
          <a:noFill/>
          <a:ln/>
        </p:spPr>
        <p:txBody>
          <a:bodyPr wrap="square" lIns="0" tIns="0" rIns="0" bIns="0" rtlCol="0" anchor="t"/>
          <a:lstStyle/>
          <a:p>
            <a:pPr algn="r" indent="0" marL="0">
              <a:lnSpc>
                <a:spcPct val="105000"/>
              </a:lnSpc>
              <a:buNone/>
            </a:pPr>
            <a:r>
              <a:rPr lang="en-US" sz="1400" b="1" dirty="0">
                <a:solidFill>
                  <a:srgbClr val="96650A"/>
                </a:solidFill>
                <a:latin typeface="Calibri" pitchFamily="34" charset="0"/>
                <a:ea typeface="Calibri" pitchFamily="34" charset="-122"/>
                <a:cs typeface="Calibri" pitchFamily="34" charset="-120"/>
              </a:rPr>
              <a:t>2.3 ms</a:t>
            </a:r>
            <a:endParaRPr lang="en-US" sz="1400" dirty="0"/>
          </a:p>
        </p:txBody>
      </p:sp>
      <p:sp>
        <p:nvSpPr>
          <p:cNvPr id="28" name="text-281"/>
          <p:cNvSpPr txBox="1"/>
          <p:nvPr/>
        </p:nvSpPr>
        <p:spPr>
          <a:xfrm>
            <a:off x="9802368" y="2560320"/>
            <a:ext cx="2029968" cy="457200"/>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HMAC verification</a:t>
            </a:r>
            <a:endParaRPr lang="en-US" sz="1500" dirty="0"/>
          </a:p>
        </p:txBody>
      </p:sp>
      <p:sp>
        <p:nvSpPr>
          <p:cNvPr id="29" name="text-282"/>
          <p:cNvSpPr txBox="1"/>
          <p:nvPr/>
        </p:nvSpPr>
        <p:spPr>
          <a:xfrm>
            <a:off x="9802368" y="3017520"/>
            <a:ext cx="2029968" cy="548640"/>
          </a:xfrm>
          <a:prstGeom prst="rect">
            <a:avLst/>
          </a:prstGeom>
          <a:noFill/>
          <a:ln/>
        </p:spPr>
        <p:txBody>
          <a:bodyPr wrap="square" lIns="0" tIns="0" rIns="0" bIns="0" rtlCol="0" anchor="t"/>
          <a:lstStyle/>
          <a:p>
            <a:pPr algn="l" indent="0" marL="0">
              <a:lnSpc>
                <a:spcPct val="105000"/>
              </a:lnSpc>
              <a:buNone/>
            </a:pPr>
            <a:r>
              <a:rPr lang="en-US" sz="1300" dirty="0">
                <a:solidFill>
                  <a:srgbClr val="6B7D91"/>
                </a:solidFill>
                <a:latin typeface="Calibri" pitchFamily="34" charset="0"/>
                <a:ea typeface="Calibri" pitchFamily="34" charset="-122"/>
                <a:cs typeface="Calibri" pitchFamily="34" charset="-120"/>
              </a:rPr>
              <a:t>package tag</a:t>
            </a:r>
            <a:endParaRPr lang="en-US" sz="1300" dirty="0"/>
          </a:p>
        </p:txBody>
      </p:sp>
      <p:sp>
        <p:nvSpPr>
          <p:cNvPr id="30" name="arrow-283"/>
          <p:cNvSpPr/>
          <p:nvPr/>
        </p:nvSpPr>
        <p:spPr>
          <a:xfrm>
            <a:off x="12060936" y="2880360"/>
            <a:ext cx="475488" cy="914"/>
          </a:xfrm>
          <a:prstGeom prst="line">
            <a:avLst/>
          </a:prstGeom>
          <a:noFill/>
          <a:ln w="25400">
            <a:solidFill>
              <a:srgbClr val="6B7D91"/>
            </a:solidFill>
            <a:prstDash val="solid"/>
            <a:tailEnd type="triangle"/>
          </a:ln>
        </p:spPr>
      </p:sp>
      <p:sp>
        <p:nvSpPr>
          <p:cNvPr id="31" name="arrow-284"/>
          <p:cNvSpPr/>
          <p:nvPr/>
        </p:nvSpPr>
        <p:spPr>
          <a:xfrm>
            <a:off x="10817352" y="3749040"/>
            <a:ext cx="914" cy="457200"/>
          </a:xfrm>
          <a:prstGeom prst="line">
            <a:avLst/>
          </a:prstGeom>
          <a:noFill/>
          <a:ln w="19050">
            <a:solidFill>
              <a:srgbClr val="B4322A"/>
            </a:solidFill>
            <a:prstDash val="solid"/>
            <a:tailEnd type="triangle"/>
          </a:ln>
        </p:spPr>
      </p:sp>
      <p:sp>
        <p:nvSpPr>
          <p:cNvPr id="32" name="card-285"/>
          <p:cNvSpPr/>
          <p:nvPr/>
        </p:nvSpPr>
        <p:spPr>
          <a:xfrm>
            <a:off x="12582144" y="2011680"/>
            <a:ext cx="2395728" cy="1737360"/>
          </a:xfrm>
          <a:prstGeom prst="roundRect">
            <a:avLst>
              <a:gd name="adj" fmla="val 6316"/>
            </a:avLst>
          </a:prstGeom>
          <a:solidFill>
            <a:srgbClr val="FFFFFF"/>
          </a:solidFill>
          <a:ln w="15875">
            <a:solidFill>
              <a:srgbClr val="B4322A"/>
            </a:solidFill>
            <a:prstDash val="solid"/>
          </a:ln>
          <a:effectLst>
            <a:outerShdw sx="100000" sy="100000" kx="0" ky="0" algn="bl" rotWithShape="0" blurRad="76200" dist="25400" dir="5400000">
              <a:srgbClr val="9AAEC2">
                <a:alpha val="18000"/>
              </a:srgbClr>
            </a:outerShdw>
          </a:effectLst>
        </p:spPr>
      </p:sp>
      <p:sp>
        <p:nvSpPr>
          <p:cNvPr id="33" name="text-286"/>
          <p:cNvSpPr txBox="1"/>
          <p:nvPr/>
        </p:nvSpPr>
        <p:spPr>
          <a:xfrm>
            <a:off x="12765024" y="2103120"/>
            <a:ext cx="731520" cy="411480"/>
          </a:xfrm>
          <a:prstGeom prst="rect">
            <a:avLst/>
          </a:prstGeom>
          <a:noFill/>
          <a:ln/>
        </p:spPr>
        <p:txBody>
          <a:bodyPr wrap="square" lIns="0" tIns="0" rIns="0" bIns="0" rtlCol="0" anchor="t"/>
          <a:lstStyle/>
          <a:p>
            <a:pPr algn="l" indent="0" marL="0">
              <a:lnSpc>
                <a:spcPct val="105000"/>
              </a:lnSpc>
              <a:buNone/>
            </a:pPr>
            <a:r>
              <a:rPr lang="en-US" sz="1800" b="1" dirty="0">
                <a:solidFill>
                  <a:srgbClr val="B4322A"/>
                </a:solidFill>
                <a:latin typeface="Cambria" pitchFamily="34" charset="0"/>
                <a:ea typeface="Cambria" pitchFamily="34" charset="-122"/>
                <a:cs typeface="Cambria" pitchFamily="34" charset="-120"/>
              </a:rPr>
              <a:t>G5</a:t>
            </a:r>
            <a:endParaRPr lang="en-US" sz="1800" dirty="0"/>
          </a:p>
        </p:txBody>
      </p:sp>
      <p:sp>
        <p:nvSpPr>
          <p:cNvPr id="34" name="text-287"/>
          <p:cNvSpPr txBox="1"/>
          <p:nvPr/>
        </p:nvSpPr>
        <p:spPr>
          <a:xfrm>
            <a:off x="13834872" y="2130552"/>
            <a:ext cx="960120" cy="365760"/>
          </a:xfrm>
          <a:prstGeom prst="rect">
            <a:avLst/>
          </a:prstGeom>
          <a:noFill/>
          <a:ln/>
        </p:spPr>
        <p:txBody>
          <a:bodyPr wrap="square" lIns="0" tIns="0" rIns="0" bIns="0" rtlCol="0" anchor="t"/>
          <a:lstStyle/>
          <a:p>
            <a:pPr algn="r" indent="0" marL="0">
              <a:lnSpc>
                <a:spcPct val="105000"/>
              </a:lnSpc>
              <a:buNone/>
            </a:pPr>
            <a:r>
              <a:rPr lang="en-US" sz="1400" b="1" dirty="0">
                <a:solidFill>
                  <a:srgbClr val="B4322A"/>
                </a:solidFill>
                <a:latin typeface="Calibri" pitchFamily="34" charset="0"/>
                <a:ea typeface="Calibri" pitchFamily="34" charset="-122"/>
                <a:cs typeface="Calibri" pitchFamily="34" charset="-120"/>
              </a:rPr>
              <a:t>47.5 ms</a:t>
            </a:r>
            <a:endParaRPr lang="en-US" sz="1400" dirty="0"/>
          </a:p>
        </p:txBody>
      </p:sp>
      <p:sp>
        <p:nvSpPr>
          <p:cNvPr id="35" name="text-288"/>
          <p:cNvSpPr txBox="1"/>
          <p:nvPr/>
        </p:nvSpPr>
        <p:spPr>
          <a:xfrm>
            <a:off x="12765024" y="2560320"/>
            <a:ext cx="2029968" cy="457200"/>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Ed25519 signature</a:t>
            </a:r>
            <a:endParaRPr lang="en-US" sz="1500" dirty="0"/>
          </a:p>
        </p:txBody>
      </p:sp>
      <p:sp>
        <p:nvSpPr>
          <p:cNvPr id="36" name="text-289"/>
          <p:cNvSpPr txBox="1"/>
          <p:nvPr/>
        </p:nvSpPr>
        <p:spPr>
          <a:xfrm>
            <a:off x="12765024" y="3017520"/>
            <a:ext cx="2029968" cy="548640"/>
          </a:xfrm>
          <a:prstGeom prst="rect">
            <a:avLst/>
          </a:prstGeom>
          <a:noFill/>
          <a:ln/>
        </p:spPr>
        <p:txBody>
          <a:bodyPr wrap="square" lIns="0" tIns="0" rIns="0" bIns="0" rtlCol="0" anchor="t"/>
          <a:lstStyle/>
          <a:p>
            <a:pPr algn="l" indent="0" marL="0">
              <a:lnSpc>
                <a:spcPct val="105000"/>
              </a:lnSpc>
              <a:buNone/>
            </a:pPr>
            <a:r>
              <a:rPr lang="en-US" sz="1300" dirty="0">
                <a:solidFill>
                  <a:srgbClr val="6B7D91"/>
                </a:solidFill>
                <a:latin typeface="Calibri" pitchFamily="34" charset="0"/>
                <a:ea typeface="Calibri" pitchFamily="34" charset="-122"/>
                <a:cs typeface="Calibri" pitchFamily="34" charset="-120"/>
              </a:rPr>
              <a:t>proves origin</a:t>
            </a:r>
            <a:endParaRPr lang="en-US" sz="1300" dirty="0"/>
          </a:p>
        </p:txBody>
      </p:sp>
      <p:sp>
        <p:nvSpPr>
          <p:cNvPr id="37" name="arrow-290"/>
          <p:cNvSpPr/>
          <p:nvPr/>
        </p:nvSpPr>
        <p:spPr>
          <a:xfrm>
            <a:off x="13780008" y="3749040"/>
            <a:ext cx="914" cy="457200"/>
          </a:xfrm>
          <a:prstGeom prst="line">
            <a:avLst/>
          </a:prstGeom>
          <a:noFill/>
          <a:ln w="19050">
            <a:solidFill>
              <a:srgbClr val="B4322A"/>
            </a:solidFill>
            <a:prstDash val="solid"/>
            <a:tailEnd type="triangle"/>
          </a:ln>
        </p:spPr>
      </p:sp>
      <p:sp>
        <p:nvSpPr>
          <p:cNvPr id="38" name="card-291"/>
          <p:cNvSpPr/>
          <p:nvPr/>
        </p:nvSpPr>
        <p:spPr>
          <a:xfrm>
            <a:off x="731520" y="4206240"/>
            <a:ext cx="14794992" cy="566928"/>
          </a:xfrm>
          <a:prstGeom prst="roundRect">
            <a:avLst>
              <a:gd name="adj" fmla="val 19355"/>
            </a:avLst>
          </a:prstGeom>
          <a:solidFill>
            <a:srgbClr val="FBEDEB"/>
          </a:solidFill>
          <a:ln w="15875">
            <a:solidFill>
              <a:srgbClr val="B4322A"/>
            </a:solidFill>
            <a:prstDash val="solid"/>
          </a:ln>
        </p:spPr>
      </p:sp>
      <p:sp>
        <p:nvSpPr>
          <p:cNvPr id="39" name="text-292"/>
          <p:cNvSpPr txBox="1"/>
          <p:nvPr/>
        </p:nvSpPr>
        <p:spPr>
          <a:xfrm>
            <a:off x="1005840" y="4206240"/>
            <a:ext cx="14246352" cy="566928"/>
          </a:xfrm>
          <a:prstGeom prst="rect">
            <a:avLst/>
          </a:prstGeom>
          <a:noFill/>
          <a:ln/>
        </p:spPr>
        <p:txBody>
          <a:bodyPr wrap="square" lIns="0" tIns="0" rIns="0" bIns="0" rtlCol="0" anchor="ctr"/>
          <a:lstStyle/>
          <a:p>
            <a:pPr algn="l" indent="0" marL="0">
              <a:lnSpc>
                <a:spcPct val="105000"/>
              </a:lnSpc>
              <a:buNone/>
            </a:pPr>
            <a:r>
              <a:rPr lang="en-US" sz="1500" b="1" dirty="0">
                <a:solidFill>
                  <a:srgbClr val="B4322A"/>
                </a:solidFill>
                <a:latin typeface="Calibri" pitchFamily="34" charset="0"/>
                <a:ea typeface="Calibri" pitchFamily="34" charset="-122"/>
                <a:cs typeface="Calibri" pitchFamily="34" charset="-120"/>
              </a:rPr>
              <a:t>Any gate fails: reject the package, keep the running firmware, lower the health score H</a:t>
            </a:r>
            <a:endParaRPr lang="en-US" sz="1500" dirty="0"/>
          </a:p>
        </p:txBody>
      </p:sp>
      <p:sp>
        <p:nvSpPr>
          <p:cNvPr id="40" name="card-293"/>
          <p:cNvSpPr/>
          <p:nvPr/>
        </p:nvSpPr>
        <p:spPr>
          <a:xfrm>
            <a:off x="731520" y="5074920"/>
            <a:ext cx="4736592" cy="1051560"/>
          </a:xfrm>
          <a:prstGeom prst="roundRect">
            <a:avLst>
              <a:gd name="adj" fmla="val 10435"/>
            </a:avLst>
          </a:prstGeom>
          <a:solidFill>
            <a:srgbClr val="E8F5EF"/>
          </a:solidFill>
          <a:ln w="15875">
            <a:solidFill>
              <a:srgbClr val="067A55"/>
            </a:solidFill>
            <a:prstDash val="solid"/>
          </a:ln>
        </p:spPr>
      </p:sp>
      <p:sp>
        <p:nvSpPr>
          <p:cNvPr id="41" name="text-294"/>
          <p:cNvSpPr txBox="1"/>
          <p:nvPr/>
        </p:nvSpPr>
        <p:spPr>
          <a:xfrm>
            <a:off x="1005840" y="5138928"/>
            <a:ext cx="4206240" cy="411480"/>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All five pass (D = 1)</a:t>
            </a:r>
            <a:endParaRPr lang="en-US" sz="1500" dirty="0"/>
          </a:p>
        </p:txBody>
      </p:sp>
      <p:sp>
        <p:nvSpPr>
          <p:cNvPr id="42" name="text-295"/>
          <p:cNvSpPr txBox="1"/>
          <p:nvPr/>
        </p:nvSpPr>
        <p:spPr>
          <a:xfrm>
            <a:off x="1005840" y="5532120"/>
            <a:ext cx="4206240" cy="548640"/>
          </a:xfrm>
          <a:prstGeom prst="rect">
            <a:avLst/>
          </a:prstGeom>
          <a:noFill/>
          <a:ln/>
        </p:spPr>
        <p:txBody>
          <a:bodyPr wrap="square" lIns="0" tIns="0" rIns="0" bIns="0" rtlCol="0" anchor="t"/>
          <a:lstStyle/>
          <a:p>
            <a:pPr algn="l" indent="0" marL="0">
              <a:lnSpc>
                <a:spcPct val="105000"/>
              </a:lnSpc>
              <a:buNone/>
            </a:pPr>
            <a:r>
              <a:rPr lang="en-US" sz="1300" dirty="0">
                <a:solidFill>
                  <a:srgbClr val="33475B"/>
                </a:solidFill>
                <a:latin typeface="Calibri" pitchFamily="34" charset="0"/>
                <a:ea typeface="Calibri" pitchFamily="34" charset="-122"/>
                <a:cs typeface="Calibri" pitchFamily="34" charset="-120"/>
              </a:rPr>
              <a:t>write image to the OTA partition</a:t>
            </a:r>
            <a:endParaRPr lang="en-US" sz="1300" dirty="0"/>
          </a:p>
        </p:txBody>
      </p:sp>
      <p:sp>
        <p:nvSpPr>
          <p:cNvPr id="43" name="arrow-296"/>
          <p:cNvSpPr/>
          <p:nvPr/>
        </p:nvSpPr>
        <p:spPr>
          <a:xfrm>
            <a:off x="5486400" y="5596128"/>
            <a:ext cx="256032" cy="914"/>
          </a:xfrm>
          <a:prstGeom prst="line">
            <a:avLst/>
          </a:prstGeom>
          <a:noFill/>
          <a:ln w="19050">
            <a:solidFill>
              <a:srgbClr val="6B7D91"/>
            </a:solidFill>
            <a:prstDash val="solid"/>
            <a:tailEnd type="triangle"/>
          </a:ln>
        </p:spPr>
      </p:sp>
      <p:sp>
        <p:nvSpPr>
          <p:cNvPr id="44" name="card-297"/>
          <p:cNvSpPr/>
          <p:nvPr/>
        </p:nvSpPr>
        <p:spPr>
          <a:xfrm>
            <a:off x="5760720" y="5074920"/>
            <a:ext cx="4736592" cy="1051560"/>
          </a:xfrm>
          <a:prstGeom prst="roundRect">
            <a:avLst>
              <a:gd name="adj" fmla="val 10435"/>
            </a:avLst>
          </a:prstGeom>
          <a:solidFill>
            <a:srgbClr val="F3F6F9"/>
          </a:solidFill>
          <a:ln w="15875">
            <a:solidFill>
              <a:srgbClr val="C9D4DE"/>
            </a:solidFill>
            <a:prstDash val="solid"/>
          </a:ln>
        </p:spPr>
      </p:sp>
      <p:sp>
        <p:nvSpPr>
          <p:cNvPr id="45" name="text-298"/>
          <p:cNvSpPr txBox="1"/>
          <p:nvPr/>
        </p:nvSpPr>
        <p:spPr>
          <a:xfrm>
            <a:off x="6035040" y="5138928"/>
            <a:ext cx="4206240" cy="411480"/>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Post-boot self-test</a:t>
            </a:r>
            <a:endParaRPr lang="en-US" sz="1500" dirty="0"/>
          </a:p>
        </p:txBody>
      </p:sp>
      <p:sp>
        <p:nvSpPr>
          <p:cNvPr id="46" name="text-299"/>
          <p:cNvSpPr txBox="1"/>
          <p:nvPr/>
        </p:nvSpPr>
        <p:spPr>
          <a:xfrm>
            <a:off x="6035040" y="5532120"/>
            <a:ext cx="4206240" cy="548640"/>
          </a:xfrm>
          <a:prstGeom prst="rect">
            <a:avLst/>
          </a:prstGeom>
          <a:noFill/>
          <a:ln/>
        </p:spPr>
        <p:txBody>
          <a:bodyPr wrap="square" lIns="0" tIns="0" rIns="0" bIns="0" rtlCol="0" anchor="t"/>
          <a:lstStyle/>
          <a:p>
            <a:pPr algn="l" indent="0" marL="0">
              <a:lnSpc>
                <a:spcPct val="105000"/>
              </a:lnSpc>
              <a:buNone/>
            </a:pPr>
            <a:r>
              <a:rPr lang="en-US" sz="1300" dirty="0">
                <a:solidFill>
                  <a:srgbClr val="33475B"/>
                </a:solidFill>
                <a:latin typeface="Calibri" pitchFamily="34" charset="0"/>
                <a:ea typeface="Calibri" pitchFamily="34" charset="-122"/>
                <a:cs typeface="Calibri" pitchFamily="34" charset="-120"/>
              </a:rPr>
              <a:t>pass: commit, raise H  |  fail: roll back, lower H</a:t>
            </a:r>
            <a:endParaRPr lang="en-US" sz="1300" dirty="0"/>
          </a:p>
        </p:txBody>
      </p:sp>
      <p:sp>
        <p:nvSpPr>
          <p:cNvPr id="47" name="arrow-300"/>
          <p:cNvSpPr/>
          <p:nvPr/>
        </p:nvSpPr>
        <p:spPr>
          <a:xfrm>
            <a:off x="10515600" y="5596128"/>
            <a:ext cx="256032" cy="914"/>
          </a:xfrm>
          <a:prstGeom prst="line">
            <a:avLst/>
          </a:prstGeom>
          <a:noFill/>
          <a:ln w="19050">
            <a:solidFill>
              <a:srgbClr val="6B7D91"/>
            </a:solidFill>
            <a:prstDash val="solid"/>
            <a:tailEnd type="triangle"/>
          </a:ln>
        </p:spPr>
      </p:sp>
      <p:sp>
        <p:nvSpPr>
          <p:cNvPr id="48" name="card-301"/>
          <p:cNvSpPr/>
          <p:nvPr/>
        </p:nvSpPr>
        <p:spPr>
          <a:xfrm>
            <a:off x="10789920" y="5074920"/>
            <a:ext cx="4736592" cy="1051560"/>
          </a:xfrm>
          <a:prstGeom prst="roundRect">
            <a:avLst>
              <a:gd name="adj" fmla="val 10435"/>
            </a:avLst>
          </a:prstGeom>
          <a:solidFill>
            <a:srgbClr val="F3F6F9"/>
          </a:solidFill>
          <a:ln w="15875">
            <a:solidFill>
              <a:srgbClr val="C9D4DE"/>
            </a:solidFill>
            <a:prstDash val="solid"/>
          </a:ln>
        </p:spPr>
      </p:sp>
      <p:sp>
        <p:nvSpPr>
          <p:cNvPr id="49" name="text-302"/>
          <p:cNvSpPr txBox="1"/>
          <p:nvPr/>
        </p:nvSpPr>
        <p:spPr>
          <a:xfrm>
            <a:off x="11064240" y="5138928"/>
            <a:ext cx="4206240" cy="411480"/>
          </a:xfrm>
          <a:prstGeom prst="rect">
            <a:avLst/>
          </a:prstGeom>
          <a:noFill/>
          <a:ln/>
        </p:spPr>
        <p:txBody>
          <a:bodyPr wrap="square" lIns="0" tIns="0" rIns="0" bIns="0" rtlCol="0" anchor="t"/>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Quarantine</a:t>
            </a:r>
            <a:endParaRPr lang="en-US" sz="1500" dirty="0"/>
          </a:p>
        </p:txBody>
      </p:sp>
      <p:sp>
        <p:nvSpPr>
          <p:cNvPr id="50" name="text-303"/>
          <p:cNvSpPr txBox="1"/>
          <p:nvPr/>
        </p:nvSpPr>
        <p:spPr>
          <a:xfrm>
            <a:off x="11064240" y="5532120"/>
            <a:ext cx="4206240" cy="548640"/>
          </a:xfrm>
          <a:prstGeom prst="rect">
            <a:avLst/>
          </a:prstGeom>
          <a:noFill/>
          <a:ln/>
        </p:spPr>
        <p:txBody>
          <a:bodyPr wrap="square" lIns="0" tIns="0" rIns="0" bIns="0" rtlCol="0" anchor="t"/>
          <a:lstStyle/>
          <a:p>
            <a:pPr algn="l" indent="0" marL="0">
              <a:lnSpc>
                <a:spcPct val="105000"/>
              </a:lnSpc>
              <a:buNone/>
            </a:pPr>
            <a:r>
              <a:rPr lang="en-US" sz="1300" dirty="0">
                <a:solidFill>
                  <a:srgbClr val="33475B"/>
                </a:solidFill>
                <a:latin typeface="Calibri" pitchFamily="34" charset="0"/>
                <a:ea typeface="Calibri" pitchFamily="34" charset="-122"/>
                <a:cs typeface="Calibri" pitchFamily="34" charset="-120"/>
              </a:rPr>
              <a:t>H below threshold: stop polling until an operator acts</a:t>
            </a:r>
            <a:endParaRPr lang="en-US" sz="1300" dirty="0"/>
          </a:p>
        </p:txBody>
      </p:sp>
      <p:sp>
        <p:nvSpPr>
          <p:cNvPr id="51" name="card-304"/>
          <p:cNvSpPr/>
          <p:nvPr/>
        </p:nvSpPr>
        <p:spPr>
          <a:xfrm>
            <a:off x="731520" y="6400800"/>
            <a:ext cx="14794992" cy="1874520"/>
          </a:xfrm>
          <a:prstGeom prst="roundRect">
            <a:avLst>
              <a:gd name="adj" fmla="val 5854"/>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52" name="text-305"/>
          <p:cNvSpPr txBox="1"/>
          <p:nvPr/>
        </p:nvSpPr>
        <p:spPr>
          <a:xfrm>
            <a:off x="1051560" y="6537960"/>
            <a:ext cx="7315200" cy="274320"/>
          </a:xfrm>
          <a:prstGeom prst="rect">
            <a:avLst/>
          </a:prstGeom>
          <a:noFill/>
          <a:ln/>
        </p:spPr>
        <p:txBody>
          <a:bodyPr wrap="square" lIns="0" tIns="0" rIns="0" bIns="0" rtlCol="0" anchor="t"/>
          <a:lstStyle/>
          <a:p>
            <a:pPr algn="l" indent="0" marL="0">
              <a:lnSpc>
                <a:spcPct val="100000"/>
              </a:lnSpc>
              <a:buNone/>
            </a:pPr>
            <a:r>
              <a:rPr lang="en-US" sz="1100" b="1" dirty="0">
                <a:solidFill>
                  <a:srgbClr val="0E7490"/>
                </a:solidFill>
                <a:latin typeface="Calibri" pitchFamily="34" charset="0"/>
                <a:ea typeface="Calibri" pitchFamily="34" charset="-122"/>
                <a:cs typeface="Calibri" pitchFamily="34" charset="-120"/>
              </a:rPr>
              <a:t>KEY EQUATIONS FROM THE PAPER</a:t>
            </a:r>
            <a:endParaRPr lang="en-US" sz="1100" dirty="0"/>
          </a:p>
        </p:txBody>
      </p:sp>
      <p:sp>
        <p:nvSpPr>
          <p:cNvPr id="53" name="text-306"/>
          <p:cNvSpPr txBox="1"/>
          <p:nvPr/>
        </p:nvSpPr>
        <p:spPr>
          <a:xfrm>
            <a:off x="1051560" y="6903720"/>
            <a:ext cx="2651760" cy="548640"/>
          </a:xfrm>
          <a:prstGeom prst="rect">
            <a:avLst/>
          </a:prstGeom>
          <a:noFill/>
          <a:ln/>
        </p:spPr>
        <p:txBody>
          <a:bodyPr wrap="square" lIns="0" tIns="0" rIns="0" bIns="0" rtlCol="0" anchor="ctr"/>
          <a:lstStyle/>
          <a:p>
            <a:pPr algn="l" indent="0" marL="0">
              <a:lnSpc>
                <a:spcPct val="105000"/>
              </a:lnSpc>
              <a:buNone/>
            </a:pPr>
            <a:r>
              <a:rPr lang="en-US" sz="1400" b="1" dirty="0">
                <a:solidFill>
                  <a:srgbClr val="0D1B2A"/>
                </a:solidFill>
                <a:latin typeface="Calibri" pitchFamily="34" charset="0"/>
                <a:ea typeface="Calibri" pitchFamily="34" charset="-122"/>
                <a:cs typeface="Calibri" pitchFamily="34" charset="-120"/>
              </a:rPr>
              <a:t>Install decision</a:t>
            </a:r>
            <a:endParaRPr lang="en-US" sz="1400" dirty="0"/>
          </a:p>
        </p:txBody>
      </p:sp>
      <p:sp>
        <p:nvSpPr>
          <p:cNvPr id="54" name="text-307"/>
          <p:cNvSpPr txBox="1"/>
          <p:nvPr/>
        </p:nvSpPr>
        <p:spPr>
          <a:xfrm>
            <a:off x="3703320" y="6903720"/>
            <a:ext cx="4572000" cy="548640"/>
          </a:xfrm>
          <a:prstGeom prst="rect">
            <a:avLst/>
          </a:prstGeom>
          <a:noFill/>
          <a:ln/>
        </p:spPr>
        <p:txBody>
          <a:bodyPr wrap="square" lIns="0" tIns="0" rIns="0" bIns="0" rtlCol="0" anchor="ctr"/>
          <a:lstStyle/>
          <a:p>
            <a:pPr algn="l" indent="0" marL="0">
              <a:lnSpc>
                <a:spcPct val="105000"/>
              </a:lnSpc>
              <a:buNone/>
            </a:pPr>
            <a:r>
              <a:rPr lang="en-US" sz="1400" dirty="0">
                <a:solidFill>
                  <a:srgbClr val="33475B"/>
                </a:solidFill>
                <a:latin typeface="Cambria" pitchFamily="34" charset="0"/>
                <a:ea typeface="Cambria" pitchFamily="34" charset="-122"/>
                <a:cs typeface="Cambria" pitchFamily="34" charset="-120"/>
              </a:rPr>
              <a:t>D = g1 × g2 × g3 × g4 × g5   (all gates must pass)</a:t>
            </a:r>
            <a:endParaRPr lang="en-US" sz="1400" dirty="0"/>
          </a:p>
        </p:txBody>
      </p:sp>
      <p:sp>
        <p:nvSpPr>
          <p:cNvPr id="55" name="text-308"/>
          <p:cNvSpPr txBox="1"/>
          <p:nvPr/>
        </p:nvSpPr>
        <p:spPr>
          <a:xfrm>
            <a:off x="8458200" y="6903720"/>
            <a:ext cx="2651760" cy="548640"/>
          </a:xfrm>
          <a:prstGeom prst="rect">
            <a:avLst/>
          </a:prstGeom>
          <a:noFill/>
          <a:ln/>
        </p:spPr>
        <p:txBody>
          <a:bodyPr wrap="square" lIns="0" tIns="0" rIns="0" bIns="0" rtlCol="0" anchor="ctr"/>
          <a:lstStyle/>
          <a:p>
            <a:pPr algn="l" indent="0" marL="0">
              <a:lnSpc>
                <a:spcPct val="105000"/>
              </a:lnSpc>
              <a:buNone/>
            </a:pPr>
            <a:r>
              <a:rPr lang="en-US" sz="1400" b="1" dirty="0">
                <a:solidFill>
                  <a:srgbClr val="0D1B2A"/>
                </a:solidFill>
                <a:latin typeface="Calibri" pitchFamily="34" charset="0"/>
                <a:ea typeface="Calibri" pitchFamily="34" charset="-122"/>
                <a:cs typeface="Calibri" pitchFamily="34" charset="-120"/>
              </a:rPr>
              <a:t>Gate priority</a:t>
            </a:r>
            <a:endParaRPr lang="en-US" sz="1400" dirty="0"/>
          </a:p>
        </p:txBody>
      </p:sp>
      <p:sp>
        <p:nvSpPr>
          <p:cNvPr id="56" name="text-309"/>
          <p:cNvSpPr txBox="1"/>
          <p:nvPr/>
        </p:nvSpPr>
        <p:spPr>
          <a:xfrm>
            <a:off x="11109960" y="6903720"/>
            <a:ext cx="4572000" cy="548640"/>
          </a:xfrm>
          <a:prstGeom prst="rect">
            <a:avLst/>
          </a:prstGeom>
          <a:noFill/>
          <a:ln/>
        </p:spPr>
        <p:txBody>
          <a:bodyPr wrap="square" lIns="0" tIns="0" rIns="0" bIns="0" rtlCol="0" anchor="ctr"/>
          <a:lstStyle/>
          <a:p>
            <a:pPr algn="l" indent="0" marL="0">
              <a:lnSpc>
                <a:spcPct val="105000"/>
              </a:lnSpc>
              <a:buNone/>
            </a:pPr>
            <a:r>
              <a:rPr lang="en-US" sz="1400" dirty="0">
                <a:solidFill>
                  <a:srgbClr val="33475B"/>
                </a:solidFill>
                <a:latin typeface="Cambria" pitchFamily="34" charset="0"/>
                <a:ea typeface="Cambria" pitchFamily="34" charset="-122"/>
                <a:cs typeface="Cambria" pitchFamily="34" charset="-120"/>
              </a:rPr>
              <a:t>ρi = qi / ci   (rejections per ms of cost)</a:t>
            </a:r>
            <a:endParaRPr lang="en-US" sz="1400" dirty="0"/>
          </a:p>
        </p:txBody>
      </p:sp>
      <p:sp>
        <p:nvSpPr>
          <p:cNvPr id="57" name="text-310"/>
          <p:cNvSpPr txBox="1"/>
          <p:nvPr/>
        </p:nvSpPr>
        <p:spPr>
          <a:xfrm>
            <a:off x="1051560" y="7543800"/>
            <a:ext cx="2651760" cy="548640"/>
          </a:xfrm>
          <a:prstGeom prst="rect">
            <a:avLst/>
          </a:prstGeom>
          <a:noFill/>
          <a:ln/>
        </p:spPr>
        <p:txBody>
          <a:bodyPr wrap="square" lIns="0" tIns="0" rIns="0" bIns="0" rtlCol="0" anchor="ctr"/>
          <a:lstStyle/>
          <a:p>
            <a:pPr algn="l" indent="0" marL="0">
              <a:lnSpc>
                <a:spcPct val="105000"/>
              </a:lnSpc>
              <a:buNone/>
            </a:pPr>
            <a:r>
              <a:rPr lang="en-US" sz="1400" b="1" dirty="0">
                <a:solidFill>
                  <a:srgbClr val="0D1B2A"/>
                </a:solidFill>
                <a:latin typeface="Calibri" pitchFamily="34" charset="0"/>
                <a:ea typeface="Calibri" pitchFamily="34" charset="-122"/>
                <a:cs typeface="Calibri" pitchFamily="34" charset="-120"/>
              </a:rPr>
              <a:t>Expected cost of a bad package</a:t>
            </a:r>
            <a:endParaRPr lang="en-US" sz="1400" dirty="0"/>
          </a:p>
        </p:txBody>
      </p:sp>
      <p:sp>
        <p:nvSpPr>
          <p:cNvPr id="58" name="text-311"/>
          <p:cNvSpPr txBox="1"/>
          <p:nvPr/>
        </p:nvSpPr>
        <p:spPr>
          <a:xfrm>
            <a:off x="3703320" y="7543800"/>
            <a:ext cx="4572000" cy="548640"/>
          </a:xfrm>
          <a:prstGeom prst="rect">
            <a:avLst/>
          </a:prstGeom>
          <a:noFill/>
          <a:ln/>
        </p:spPr>
        <p:txBody>
          <a:bodyPr wrap="square" lIns="0" tIns="0" rIns="0" bIns="0" rtlCol="0" anchor="ctr"/>
          <a:lstStyle/>
          <a:p>
            <a:pPr algn="l" indent="0" marL="0">
              <a:lnSpc>
                <a:spcPct val="105000"/>
              </a:lnSpc>
              <a:buNone/>
            </a:pPr>
            <a:r>
              <a:rPr lang="en-US" sz="1400" dirty="0">
                <a:solidFill>
                  <a:srgbClr val="33475B"/>
                </a:solidFill>
                <a:latin typeface="Cambria" pitchFamily="34" charset="0"/>
                <a:ea typeface="Cambria" pitchFamily="34" charset="-122"/>
                <a:cs typeface="Cambria" pitchFamily="34" charset="-120"/>
              </a:rPr>
              <a:t>E[T] = Σ ci × Π(1 − qj) for j &lt; i</a:t>
            </a:r>
            <a:endParaRPr lang="en-US" sz="1400" dirty="0"/>
          </a:p>
        </p:txBody>
      </p:sp>
      <p:sp>
        <p:nvSpPr>
          <p:cNvPr id="59" name="text-312"/>
          <p:cNvSpPr txBox="1"/>
          <p:nvPr/>
        </p:nvSpPr>
        <p:spPr>
          <a:xfrm>
            <a:off x="8458200" y="7543800"/>
            <a:ext cx="2651760" cy="548640"/>
          </a:xfrm>
          <a:prstGeom prst="rect">
            <a:avLst/>
          </a:prstGeom>
          <a:noFill/>
          <a:ln/>
        </p:spPr>
        <p:txBody>
          <a:bodyPr wrap="square" lIns="0" tIns="0" rIns="0" bIns="0" rtlCol="0" anchor="ctr"/>
          <a:lstStyle/>
          <a:p>
            <a:pPr algn="l" indent="0" marL="0">
              <a:lnSpc>
                <a:spcPct val="105000"/>
              </a:lnSpc>
              <a:buNone/>
            </a:pPr>
            <a:r>
              <a:rPr lang="en-US" sz="1400" b="1" dirty="0">
                <a:solidFill>
                  <a:srgbClr val="0D1B2A"/>
                </a:solidFill>
                <a:latin typeface="Calibri" pitchFamily="34" charset="0"/>
                <a:ea typeface="Calibri" pitchFamily="34" charset="-122"/>
                <a:cs typeface="Calibri" pitchFamily="34" charset="-120"/>
              </a:rPr>
              <a:t>Health score</a:t>
            </a:r>
            <a:endParaRPr lang="en-US" sz="1400" dirty="0"/>
          </a:p>
        </p:txBody>
      </p:sp>
      <p:sp>
        <p:nvSpPr>
          <p:cNvPr id="60" name="text-313"/>
          <p:cNvSpPr txBox="1"/>
          <p:nvPr/>
        </p:nvSpPr>
        <p:spPr>
          <a:xfrm>
            <a:off x="11109960" y="7543800"/>
            <a:ext cx="4572000" cy="548640"/>
          </a:xfrm>
          <a:prstGeom prst="rect">
            <a:avLst/>
          </a:prstGeom>
          <a:noFill/>
          <a:ln/>
        </p:spPr>
        <p:txBody>
          <a:bodyPr wrap="square" lIns="0" tIns="0" rIns="0" bIns="0" rtlCol="0" anchor="ctr"/>
          <a:lstStyle/>
          <a:p>
            <a:pPr algn="l" indent="0" marL="0">
              <a:lnSpc>
                <a:spcPct val="105000"/>
              </a:lnSpc>
              <a:buNone/>
            </a:pPr>
            <a:r>
              <a:rPr lang="en-US" sz="1400" dirty="0">
                <a:solidFill>
                  <a:srgbClr val="33475B"/>
                </a:solidFill>
                <a:latin typeface="Cambria" pitchFamily="34" charset="0"/>
                <a:ea typeface="Cambria" pitchFamily="34" charset="-122"/>
                <a:cs typeface="Cambria" pitchFamily="34" charset="-120"/>
              </a:rPr>
              <a:t>Hk+1 = min(1, max(0, Hk + α·sk − β·(1 − sk)))</a:t>
            </a:r>
            <a:endParaRPr lang="en-US" sz="14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7. Implementation: Modules</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Six modules, each built as a part of the working system</a:t>
            </a:r>
            <a:endParaRPr lang="en-US" sz="1600" dirty="0"/>
          </a:p>
        </p:txBody>
      </p:sp>
      <p:sp>
        <p:nvSpPr>
          <p:cNvPr id="4" name="card-314"/>
          <p:cNvSpPr/>
          <p:nvPr/>
        </p:nvSpPr>
        <p:spPr>
          <a:xfrm>
            <a:off x="731520" y="1828800"/>
            <a:ext cx="4736592" cy="3017520"/>
          </a:xfrm>
          <a:prstGeom prst="roundRect">
            <a:avLst>
              <a:gd name="adj" fmla="val 3636"/>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5" name="iconbg-315"/>
          <p:cNvSpPr/>
          <p:nvPr/>
        </p:nvSpPr>
        <p:spPr>
          <a:xfrm>
            <a:off x="1051560" y="2148840"/>
            <a:ext cx="777240" cy="777240"/>
          </a:xfrm>
          <a:prstGeom prst="ellipse">
            <a:avLst/>
          </a:prstGeom>
          <a:solidFill>
            <a:srgbClr val="E8F3F6"/>
          </a:solidFill>
          <a:ln w="15875">
            <a:solidFill>
              <a:srgbClr val="0E7490"/>
            </a:solidFill>
            <a:prstDash val="solid"/>
          </a:ln>
        </p:spPr>
      </p:sp>
      <p:pic>
        <p:nvPicPr>
          <p:cNvPr id="6" name="icon-316" descr="preencoded.png">    </p:cNvPr>
          <p:cNvPicPr>
            <a:picLocks noChangeAspect="1"/>
          </p:cNvPicPr>
          <p:nvPr/>
        </p:nvPicPr>
        <p:blipFill>
          <a:blip r:embed="rId1"/>
          <a:stretch>
            <a:fillRect/>
          </a:stretch>
        </p:blipFill>
        <p:spPr>
          <a:xfrm>
            <a:off x="1253642" y="2350922"/>
            <a:ext cx="373075" cy="373075"/>
          </a:xfrm>
          <a:prstGeom prst="rect">
            <a:avLst/>
          </a:prstGeom>
        </p:spPr>
      </p:pic>
      <p:sp>
        <p:nvSpPr>
          <p:cNvPr id="7" name="text-317"/>
          <p:cNvSpPr txBox="1"/>
          <p:nvPr/>
        </p:nvSpPr>
        <p:spPr>
          <a:xfrm>
            <a:off x="2011680" y="2148840"/>
            <a:ext cx="3291840" cy="777240"/>
          </a:xfrm>
          <a:prstGeom prst="rect">
            <a:avLst/>
          </a:prstGeom>
          <a:noFill/>
          <a:ln/>
        </p:spPr>
        <p:txBody>
          <a:bodyPr wrap="square" lIns="0" tIns="0" rIns="0" bIns="0" rtlCol="0" anchor="ctr"/>
          <a:lstStyle/>
          <a:p>
            <a:pPr algn="l" indent="0" marL="0">
              <a:lnSpc>
                <a:spcPct val="105000"/>
              </a:lnSpc>
              <a:buNone/>
            </a:pPr>
            <a:r>
              <a:rPr lang="en-US" sz="1700" b="1" dirty="0">
                <a:solidFill>
                  <a:srgbClr val="0D1B2A"/>
                </a:solidFill>
                <a:latin typeface="Cambria" pitchFamily="34" charset="0"/>
                <a:ea typeface="Cambria" pitchFamily="34" charset="-122"/>
                <a:cs typeface="Cambria" pitchFamily="34" charset="-120"/>
              </a:rPr>
              <a:t>M6  Release bundle packaging</a:t>
            </a:r>
            <a:endParaRPr lang="en-US" sz="1700" dirty="0"/>
          </a:p>
        </p:txBody>
      </p:sp>
      <p:sp>
        <p:nvSpPr>
          <p:cNvPr id="8" name="text-318"/>
          <p:cNvSpPr txBox="1"/>
          <p:nvPr/>
        </p:nvSpPr>
        <p:spPr>
          <a:xfrm>
            <a:off x="1051560" y="3154680"/>
            <a:ext cx="4114800" cy="1600200"/>
          </a:xfrm>
          <a:prstGeom prst="rect">
            <a:avLst/>
          </a:prstGeom>
          <a:noFill/>
          <a:ln/>
        </p:spPr>
        <p:txBody>
          <a:bodyPr wrap="square" lIns="0" tIns="0" rIns="0" bIns="0" rtlCol="0" anchor="t"/>
          <a:lstStyle/>
          <a:p>
            <a:pPr algn="l" indent="0" marL="0">
              <a:lnSpc>
                <a:spcPct val="105000"/>
              </a:lnSpc>
              <a:buNone/>
            </a:pPr>
            <a:r>
              <a:rPr lang="en-US" sz="1600" dirty="0">
                <a:solidFill>
                  <a:srgbClr val="33475B"/>
                </a:solidFill>
                <a:latin typeface="Calibri" pitchFamily="34" charset="0"/>
                <a:ea typeface="Calibri" pitchFamily="34" charset="-122"/>
                <a:cs typeface="Calibri" pitchFamily="34" charset="-120"/>
              </a:rPr>
              <a:t>CI workflow and build script compile the firmware, compute SHA-256, sign it and package binary, digest, signature and manifest into one release.</a:t>
            </a:r>
            <a:endParaRPr lang="en-US" sz="1600" dirty="0"/>
          </a:p>
        </p:txBody>
      </p:sp>
      <p:sp>
        <p:nvSpPr>
          <p:cNvPr id="9" name="card-319"/>
          <p:cNvSpPr/>
          <p:nvPr/>
        </p:nvSpPr>
        <p:spPr>
          <a:xfrm>
            <a:off x="5760720" y="1828800"/>
            <a:ext cx="4736592" cy="3017520"/>
          </a:xfrm>
          <a:prstGeom prst="roundRect">
            <a:avLst>
              <a:gd name="adj" fmla="val 3636"/>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10" name="iconbg-320"/>
          <p:cNvSpPr/>
          <p:nvPr/>
        </p:nvSpPr>
        <p:spPr>
          <a:xfrm>
            <a:off x="6080760" y="2148840"/>
            <a:ext cx="777240" cy="777240"/>
          </a:xfrm>
          <a:prstGeom prst="ellipse">
            <a:avLst/>
          </a:prstGeom>
          <a:solidFill>
            <a:srgbClr val="E8F5EF"/>
          </a:solidFill>
          <a:ln w="15875">
            <a:solidFill>
              <a:srgbClr val="067A55"/>
            </a:solidFill>
            <a:prstDash val="solid"/>
          </a:ln>
        </p:spPr>
      </p:sp>
      <p:pic>
        <p:nvPicPr>
          <p:cNvPr id="11" name="icon-321" descr="preencoded.png">    </p:cNvPr>
          <p:cNvPicPr>
            <a:picLocks noChangeAspect="1"/>
          </p:cNvPicPr>
          <p:nvPr/>
        </p:nvPicPr>
        <p:blipFill>
          <a:blip r:embed="rId2"/>
          <a:stretch>
            <a:fillRect/>
          </a:stretch>
        </p:blipFill>
        <p:spPr>
          <a:xfrm>
            <a:off x="6282842" y="2350922"/>
            <a:ext cx="373075" cy="373075"/>
          </a:xfrm>
          <a:prstGeom prst="rect">
            <a:avLst/>
          </a:prstGeom>
        </p:spPr>
      </p:pic>
      <p:sp>
        <p:nvSpPr>
          <p:cNvPr id="12" name="text-322"/>
          <p:cNvSpPr txBox="1"/>
          <p:nvPr/>
        </p:nvSpPr>
        <p:spPr>
          <a:xfrm>
            <a:off x="7040880" y="2148840"/>
            <a:ext cx="3291840" cy="777240"/>
          </a:xfrm>
          <a:prstGeom prst="rect">
            <a:avLst/>
          </a:prstGeom>
          <a:noFill/>
          <a:ln/>
        </p:spPr>
        <p:txBody>
          <a:bodyPr wrap="square" lIns="0" tIns="0" rIns="0" bIns="0" rtlCol="0" anchor="ctr"/>
          <a:lstStyle/>
          <a:p>
            <a:pPr algn="l" indent="0" marL="0">
              <a:lnSpc>
                <a:spcPct val="105000"/>
              </a:lnSpc>
              <a:buNone/>
            </a:pPr>
            <a:r>
              <a:rPr lang="en-US" sz="1700" b="1" dirty="0">
                <a:solidFill>
                  <a:srgbClr val="0D1B2A"/>
                </a:solidFill>
                <a:latin typeface="Cambria" pitchFamily="34" charset="0"/>
                <a:ea typeface="Cambria" pitchFamily="34" charset="-122"/>
                <a:cs typeface="Cambria" pitchFamily="34" charset="-120"/>
              </a:rPr>
              <a:t>M1  Tiered Crypto Verification</a:t>
            </a:r>
            <a:endParaRPr lang="en-US" sz="1700" dirty="0"/>
          </a:p>
        </p:txBody>
      </p:sp>
      <p:sp>
        <p:nvSpPr>
          <p:cNvPr id="13" name="text-323"/>
          <p:cNvSpPr txBox="1"/>
          <p:nvPr/>
        </p:nvSpPr>
        <p:spPr>
          <a:xfrm>
            <a:off x="6080760" y="3154680"/>
            <a:ext cx="4114800" cy="1600200"/>
          </a:xfrm>
          <a:prstGeom prst="rect">
            <a:avLst/>
          </a:prstGeom>
          <a:noFill/>
          <a:ln/>
        </p:spPr>
        <p:txBody>
          <a:bodyPr wrap="square" lIns="0" tIns="0" rIns="0" bIns="0" rtlCol="0" anchor="t"/>
          <a:lstStyle/>
          <a:p>
            <a:pPr algn="l" indent="0" marL="0">
              <a:lnSpc>
                <a:spcPct val="105000"/>
              </a:lnSpc>
              <a:buNone/>
            </a:pPr>
            <a:r>
              <a:rPr lang="en-US" sz="1600" dirty="0">
                <a:solidFill>
                  <a:srgbClr val="33475B"/>
                </a:solidFill>
                <a:latin typeface="Calibri" pitchFamily="34" charset="0"/>
                <a:ea typeface="Calibri" pitchFamily="34" charset="-122"/>
                <a:cs typeface="Calibri" pitchFamily="34" charset="-120"/>
              </a:rPr>
              <a:t>Device firmware runs the gate checks in order before writing a single byte to the inactive OTA partition.</a:t>
            </a:r>
            <a:endParaRPr lang="en-US" sz="1600" dirty="0"/>
          </a:p>
        </p:txBody>
      </p:sp>
      <p:sp>
        <p:nvSpPr>
          <p:cNvPr id="14" name="card-324"/>
          <p:cNvSpPr/>
          <p:nvPr/>
        </p:nvSpPr>
        <p:spPr>
          <a:xfrm>
            <a:off x="10789920" y="1828800"/>
            <a:ext cx="4736592" cy="3017520"/>
          </a:xfrm>
          <a:prstGeom prst="roundRect">
            <a:avLst>
              <a:gd name="adj" fmla="val 3636"/>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15" name="iconbg-325"/>
          <p:cNvSpPr/>
          <p:nvPr/>
        </p:nvSpPr>
        <p:spPr>
          <a:xfrm>
            <a:off x="11109960" y="2148840"/>
            <a:ext cx="777240" cy="777240"/>
          </a:xfrm>
          <a:prstGeom prst="ellipse">
            <a:avLst/>
          </a:prstGeom>
          <a:solidFill>
            <a:srgbClr val="FBF4E6"/>
          </a:solidFill>
          <a:ln w="15875">
            <a:solidFill>
              <a:srgbClr val="96650A"/>
            </a:solidFill>
            <a:prstDash val="solid"/>
          </a:ln>
        </p:spPr>
      </p:sp>
      <p:pic>
        <p:nvPicPr>
          <p:cNvPr id="16" name="icon-326" descr="preencoded.png">    </p:cNvPr>
          <p:cNvPicPr>
            <a:picLocks noChangeAspect="1"/>
          </p:cNvPicPr>
          <p:nvPr/>
        </p:nvPicPr>
        <p:blipFill>
          <a:blip r:embed="rId3"/>
          <a:stretch>
            <a:fillRect/>
          </a:stretch>
        </p:blipFill>
        <p:spPr>
          <a:xfrm>
            <a:off x="11312042" y="2350922"/>
            <a:ext cx="373075" cy="373075"/>
          </a:xfrm>
          <a:prstGeom prst="rect">
            <a:avLst/>
          </a:prstGeom>
        </p:spPr>
      </p:pic>
      <p:sp>
        <p:nvSpPr>
          <p:cNvPr id="17" name="text-327"/>
          <p:cNvSpPr txBox="1"/>
          <p:nvPr/>
        </p:nvSpPr>
        <p:spPr>
          <a:xfrm>
            <a:off x="12070080" y="2148840"/>
            <a:ext cx="3291840" cy="777240"/>
          </a:xfrm>
          <a:prstGeom prst="rect">
            <a:avLst/>
          </a:prstGeom>
          <a:noFill/>
          <a:ln/>
        </p:spPr>
        <p:txBody>
          <a:bodyPr wrap="square" lIns="0" tIns="0" rIns="0" bIns="0" rtlCol="0" anchor="ctr"/>
          <a:lstStyle/>
          <a:p>
            <a:pPr algn="l" indent="0" marL="0">
              <a:lnSpc>
                <a:spcPct val="105000"/>
              </a:lnSpc>
              <a:buNone/>
            </a:pPr>
            <a:r>
              <a:rPr lang="en-US" sz="1700" b="1" dirty="0">
                <a:solidFill>
                  <a:srgbClr val="0D1B2A"/>
                </a:solidFill>
                <a:latin typeface="Cambria" pitchFamily="34" charset="0"/>
                <a:ea typeface="Cambria" pitchFamily="34" charset="-122"/>
                <a:cs typeface="Cambria" pitchFamily="34" charset="-120"/>
              </a:rPr>
              <a:t>M2  Version-aware policy</a:t>
            </a:r>
            <a:endParaRPr lang="en-US" sz="1700" dirty="0"/>
          </a:p>
        </p:txBody>
      </p:sp>
      <p:sp>
        <p:nvSpPr>
          <p:cNvPr id="18" name="text-328"/>
          <p:cNvSpPr txBox="1"/>
          <p:nvPr/>
        </p:nvSpPr>
        <p:spPr>
          <a:xfrm>
            <a:off x="11109960" y="3154680"/>
            <a:ext cx="4114800" cy="1600200"/>
          </a:xfrm>
          <a:prstGeom prst="rect">
            <a:avLst/>
          </a:prstGeom>
          <a:noFill/>
          <a:ln/>
        </p:spPr>
        <p:txBody>
          <a:bodyPr wrap="square" lIns="0" tIns="0" rIns="0" bIns="0" rtlCol="0" anchor="t"/>
          <a:lstStyle/>
          <a:p>
            <a:pPr algn="l" indent="0" marL="0">
              <a:lnSpc>
                <a:spcPct val="105000"/>
              </a:lnSpc>
              <a:buNone/>
            </a:pPr>
            <a:r>
              <a:rPr lang="en-US" sz="1600" dirty="0">
                <a:solidFill>
                  <a:srgbClr val="33475B"/>
                </a:solidFill>
                <a:latin typeface="Calibri" pitchFamily="34" charset="0"/>
                <a:ea typeface="Calibri" pitchFamily="34" charset="-122"/>
                <a:cs typeface="Calibri" pitchFamily="34" charset="-120"/>
              </a:rPr>
              <a:t>Gateway offers only the newest compatible release; older versions are refused (anti-rollback). Relevance score R checks capability match.</a:t>
            </a:r>
            <a:endParaRPr lang="en-US" sz="1600" dirty="0"/>
          </a:p>
        </p:txBody>
      </p:sp>
      <p:sp>
        <p:nvSpPr>
          <p:cNvPr id="19" name="card-329"/>
          <p:cNvSpPr/>
          <p:nvPr/>
        </p:nvSpPr>
        <p:spPr>
          <a:xfrm>
            <a:off x="731520" y="5074920"/>
            <a:ext cx="4736592" cy="3017520"/>
          </a:xfrm>
          <a:prstGeom prst="roundRect">
            <a:avLst>
              <a:gd name="adj" fmla="val 3636"/>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20" name="iconbg-330"/>
          <p:cNvSpPr/>
          <p:nvPr/>
        </p:nvSpPr>
        <p:spPr>
          <a:xfrm>
            <a:off x="1051560" y="5394960"/>
            <a:ext cx="777240" cy="777240"/>
          </a:xfrm>
          <a:prstGeom prst="ellipse">
            <a:avLst/>
          </a:prstGeom>
          <a:solidFill>
            <a:srgbClr val="E8F3F6"/>
          </a:solidFill>
          <a:ln w="15875">
            <a:solidFill>
              <a:srgbClr val="0E7490"/>
            </a:solidFill>
            <a:prstDash val="solid"/>
          </a:ln>
        </p:spPr>
      </p:sp>
      <p:pic>
        <p:nvPicPr>
          <p:cNvPr id="21" name="icon-331" descr="preencoded.png">    </p:cNvPr>
          <p:cNvPicPr>
            <a:picLocks noChangeAspect="1"/>
          </p:cNvPicPr>
          <p:nvPr/>
        </p:nvPicPr>
        <p:blipFill>
          <a:blip r:embed="rId4"/>
          <a:stretch>
            <a:fillRect/>
          </a:stretch>
        </p:blipFill>
        <p:spPr>
          <a:xfrm>
            <a:off x="1253642" y="5597042"/>
            <a:ext cx="373075" cy="373075"/>
          </a:xfrm>
          <a:prstGeom prst="rect">
            <a:avLst/>
          </a:prstGeom>
        </p:spPr>
      </p:pic>
      <p:sp>
        <p:nvSpPr>
          <p:cNvPr id="22" name="text-332"/>
          <p:cNvSpPr txBox="1"/>
          <p:nvPr/>
        </p:nvSpPr>
        <p:spPr>
          <a:xfrm>
            <a:off x="2011680" y="5394960"/>
            <a:ext cx="3291840" cy="777240"/>
          </a:xfrm>
          <a:prstGeom prst="rect">
            <a:avLst/>
          </a:prstGeom>
          <a:noFill/>
          <a:ln/>
        </p:spPr>
        <p:txBody>
          <a:bodyPr wrap="square" lIns="0" tIns="0" rIns="0" bIns="0" rtlCol="0" anchor="ctr"/>
          <a:lstStyle/>
          <a:p>
            <a:pPr algn="l" indent="0" marL="0">
              <a:lnSpc>
                <a:spcPct val="105000"/>
              </a:lnSpc>
              <a:buNone/>
            </a:pPr>
            <a:r>
              <a:rPr lang="en-US" sz="1700" b="1" dirty="0">
                <a:solidFill>
                  <a:srgbClr val="0D1B2A"/>
                </a:solidFill>
                <a:latin typeface="Cambria" pitchFamily="34" charset="0"/>
                <a:ea typeface="Cambria" pitchFamily="34" charset="-122"/>
                <a:cs typeface="Cambria" pitchFamily="34" charset="-120"/>
              </a:rPr>
              <a:t>M3  Distribution and install</a:t>
            </a:r>
            <a:endParaRPr lang="en-US" sz="1700" dirty="0"/>
          </a:p>
        </p:txBody>
      </p:sp>
      <p:sp>
        <p:nvSpPr>
          <p:cNvPr id="23" name="text-333"/>
          <p:cNvSpPr txBox="1"/>
          <p:nvPr/>
        </p:nvSpPr>
        <p:spPr>
          <a:xfrm>
            <a:off x="1051560" y="6400800"/>
            <a:ext cx="4114800" cy="1600200"/>
          </a:xfrm>
          <a:prstGeom prst="rect">
            <a:avLst/>
          </a:prstGeom>
          <a:noFill/>
          <a:ln/>
        </p:spPr>
        <p:txBody>
          <a:bodyPr wrap="square" lIns="0" tIns="0" rIns="0" bIns="0" rtlCol="0" anchor="t"/>
          <a:lstStyle/>
          <a:p>
            <a:pPr algn="l" indent="0" marL="0">
              <a:lnSpc>
                <a:spcPct val="105000"/>
              </a:lnSpc>
              <a:buNone/>
            </a:pPr>
            <a:r>
              <a:rPr lang="en-US" sz="1600" dirty="0">
                <a:solidFill>
                  <a:srgbClr val="33475B"/>
                </a:solidFill>
                <a:latin typeface="Calibri" pitchFamily="34" charset="0"/>
                <a:ea typeface="Calibri" pitchFamily="34" charset="-122"/>
                <a:cs typeface="Calibri" pitchFamily="34" charset="-120"/>
              </a:rPr>
              <a:t>Gateway serves signed manifests and packages, tracks deployments per device and confirms them only from the device's reported version.</a:t>
            </a:r>
            <a:endParaRPr lang="en-US" sz="1600" dirty="0"/>
          </a:p>
        </p:txBody>
      </p:sp>
      <p:sp>
        <p:nvSpPr>
          <p:cNvPr id="24" name="card-334"/>
          <p:cNvSpPr/>
          <p:nvPr/>
        </p:nvSpPr>
        <p:spPr>
          <a:xfrm>
            <a:off x="5760720" y="5074920"/>
            <a:ext cx="4736592" cy="3017520"/>
          </a:xfrm>
          <a:prstGeom prst="roundRect">
            <a:avLst>
              <a:gd name="adj" fmla="val 3636"/>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25" name="iconbg-335"/>
          <p:cNvSpPr/>
          <p:nvPr/>
        </p:nvSpPr>
        <p:spPr>
          <a:xfrm>
            <a:off x="6080760" y="5394960"/>
            <a:ext cx="777240" cy="777240"/>
          </a:xfrm>
          <a:prstGeom prst="ellipse">
            <a:avLst/>
          </a:prstGeom>
          <a:solidFill>
            <a:srgbClr val="FBEDEB"/>
          </a:solidFill>
          <a:ln w="15875">
            <a:solidFill>
              <a:srgbClr val="B4322A"/>
            </a:solidFill>
            <a:prstDash val="solid"/>
          </a:ln>
        </p:spPr>
      </p:sp>
      <p:pic>
        <p:nvPicPr>
          <p:cNvPr id="26" name="icon-336" descr="preencoded.png">    </p:cNvPr>
          <p:cNvPicPr>
            <a:picLocks noChangeAspect="1"/>
          </p:cNvPicPr>
          <p:nvPr/>
        </p:nvPicPr>
        <p:blipFill>
          <a:blip r:embed="rId5"/>
          <a:stretch>
            <a:fillRect/>
          </a:stretch>
        </p:blipFill>
        <p:spPr>
          <a:xfrm>
            <a:off x="6282842" y="5597042"/>
            <a:ext cx="373075" cy="373075"/>
          </a:xfrm>
          <a:prstGeom prst="rect">
            <a:avLst/>
          </a:prstGeom>
        </p:spPr>
      </p:pic>
      <p:sp>
        <p:nvSpPr>
          <p:cNvPr id="27" name="text-337"/>
          <p:cNvSpPr txBox="1"/>
          <p:nvPr/>
        </p:nvSpPr>
        <p:spPr>
          <a:xfrm>
            <a:off x="7040880" y="5394960"/>
            <a:ext cx="3291840" cy="777240"/>
          </a:xfrm>
          <a:prstGeom prst="rect">
            <a:avLst/>
          </a:prstGeom>
          <a:noFill/>
          <a:ln/>
        </p:spPr>
        <p:txBody>
          <a:bodyPr wrap="square" lIns="0" tIns="0" rIns="0" bIns="0" rtlCol="0" anchor="ctr"/>
          <a:lstStyle/>
          <a:p>
            <a:pPr algn="l" indent="0" marL="0">
              <a:lnSpc>
                <a:spcPct val="105000"/>
              </a:lnSpc>
              <a:buNone/>
            </a:pPr>
            <a:r>
              <a:rPr lang="en-US" sz="1700" b="1" dirty="0">
                <a:solidFill>
                  <a:srgbClr val="0D1B2A"/>
                </a:solidFill>
                <a:latin typeface="Cambria" pitchFamily="34" charset="0"/>
                <a:ea typeface="Cambria" pitchFamily="34" charset="-122"/>
                <a:cs typeface="Cambria" pitchFamily="34" charset="-120"/>
              </a:rPr>
              <a:t>M4  Rollback recovery</a:t>
            </a:r>
            <a:endParaRPr lang="en-US" sz="1700" dirty="0"/>
          </a:p>
        </p:txBody>
      </p:sp>
      <p:sp>
        <p:nvSpPr>
          <p:cNvPr id="28" name="text-338"/>
          <p:cNvSpPr txBox="1"/>
          <p:nvPr/>
        </p:nvSpPr>
        <p:spPr>
          <a:xfrm>
            <a:off x="6080760" y="6400800"/>
            <a:ext cx="4114800" cy="1600200"/>
          </a:xfrm>
          <a:prstGeom prst="rect">
            <a:avLst/>
          </a:prstGeom>
          <a:noFill/>
          <a:ln/>
        </p:spPr>
        <p:txBody>
          <a:bodyPr wrap="square" lIns="0" tIns="0" rIns="0" bIns="0" rtlCol="0" anchor="t"/>
          <a:lstStyle/>
          <a:p>
            <a:pPr algn="l" indent="0" marL="0">
              <a:lnSpc>
                <a:spcPct val="105000"/>
              </a:lnSpc>
              <a:buNone/>
            </a:pPr>
            <a:r>
              <a:rPr lang="en-US" sz="1600" dirty="0">
                <a:solidFill>
                  <a:srgbClr val="33475B"/>
                </a:solidFill>
                <a:latin typeface="Calibri" pitchFamily="34" charset="0"/>
                <a:ea typeface="Calibri" pitchFamily="34" charset="-122"/>
                <a:cs typeface="Calibri" pitchFamily="34" charset="-120"/>
              </a:rPr>
              <a:t>New image boots once in a pending state; a failed self-test returns the board to the previous partition automatically.</a:t>
            </a:r>
            <a:endParaRPr lang="en-US" sz="1600" dirty="0"/>
          </a:p>
        </p:txBody>
      </p:sp>
      <p:sp>
        <p:nvSpPr>
          <p:cNvPr id="29" name="card-339"/>
          <p:cNvSpPr/>
          <p:nvPr/>
        </p:nvSpPr>
        <p:spPr>
          <a:xfrm>
            <a:off x="10789920" y="5074920"/>
            <a:ext cx="4736592" cy="3017520"/>
          </a:xfrm>
          <a:prstGeom prst="roundRect">
            <a:avLst>
              <a:gd name="adj" fmla="val 3636"/>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30" name="iconbg-340"/>
          <p:cNvSpPr/>
          <p:nvPr/>
        </p:nvSpPr>
        <p:spPr>
          <a:xfrm>
            <a:off x="11109960" y="5394960"/>
            <a:ext cx="777240" cy="777240"/>
          </a:xfrm>
          <a:prstGeom prst="ellipse">
            <a:avLst/>
          </a:prstGeom>
          <a:solidFill>
            <a:srgbClr val="F3F6F9"/>
          </a:solidFill>
          <a:ln w="15875">
            <a:solidFill>
              <a:srgbClr val="0D1B2A"/>
            </a:solidFill>
            <a:prstDash val="solid"/>
          </a:ln>
        </p:spPr>
      </p:sp>
      <p:pic>
        <p:nvPicPr>
          <p:cNvPr id="31" name="icon-341" descr="preencoded.png">    </p:cNvPr>
          <p:cNvPicPr>
            <a:picLocks noChangeAspect="1"/>
          </p:cNvPicPr>
          <p:nvPr/>
        </p:nvPicPr>
        <p:blipFill>
          <a:blip r:embed="rId6"/>
          <a:stretch>
            <a:fillRect/>
          </a:stretch>
        </p:blipFill>
        <p:spPr>
          <a:xfrm>
            <a:off x="11312042" y="5597042"/>
            <a:ext cx="373075" cy="373075"/>
          </a:xfrm>
          <a:prstGeom prst="rect">
            <a:avLst/>
          </a:prstGeom>
        </p:spPr>
      </p:pic>
      <p:sp>
        <p:nvSpPr>
          <p:cNvPr id="32" name="text-342"/>
          <p:cNvSpPr txBox="1"/>
          <p:nvPr/>
        </p:nvSpPr>
        <p:spPr>
          <a:xfrm>
            <a:off x="12070080" y="5394960"/>
            <a:ext cx="3291840" cy="777240"/>
          </a:xfrm>
          <a:prstGeom prst="rect">
            <a:avLst/>
          </a:prstGeom>
          <a:noFill/>
          <a:ln/>
        </p:spPr>
        <p:txBody>
          <a:bodyPr wrap="square" lIns="0" tIns="0" rIns="0" bIns="0" rtlCol="0" anchor="ctr"/>
          <a:lstStyle/>
          <a:p>
            <a:pPr algn="l" indent="0" marL="0">
              <a:lnSpc>
                <a:spcPct val="105000"/>
              </a:lnSpc>
              <a:buNone/>
            </a:pPr>
            <a:r>
              <a:rPr lang="en-US" sz="1700" b="1" dirty="0">
                <a:solidFill>
                  <a:srgbClr val="0D1B2A"/>
                </a:solidFill>
                <a:latin typeface="Cambria" pitchFamily="34" charset="0"/>
                <a:ea typeface="Cambria" pitchFamily="34" charset="-122"/>
                <a:cs typeface="Cambria" pitchFamily="34" charset="-120"/>
              </a:rPr>
              <a:t>M5  Health-score quarantine</a:t>
            </a:r>
            <a:endParaRPr lang="en-US" sz="1700" dirty="0"/>
          </a:p>
        </p:txBody>
      </p:sp>
      <p:sp>
        <p:nvSpPr>
          <p:cNvPr id="33" name="text-343"/>
          <p:cNvSpPr txBox="1"/>
          <p:nvPr/>
        </p:nvSpPr>
        <p:spPr>
          <a:xfrm>
            <a:off x="11109960" y="6400800"/>
            <a:ext cx="4114800" cy="1600200"/>
          </a:xfrm>
          <a:prstGeom prst="rect">
            <a:avLst/>
          </a:prstGeom>
          <a:noFill/>
          <a:ln/>
        </p:spPr>
        <p:txBody>
          <a:bodyPr wrap="square" lIns="0" tIns="0" rIns="0" bIns="0" rtlCol="0" anchor="t"/>
          <a:lstStyle/>
          <a:p>
            <a:pPr algn="l" indent="0" marL="0">
              <a:lnSpc>
                <a:spcPct val="105000"/>
              </a:lnSpc>
              <a:buNone/>
            </a:pPr>
            <a:r>
              <a:rPr lang="en-US" sz="1600" dirty="0">
                <a:solidFill>
                  <a:srgbClr val="33475B"/>
                </a:solidFill>
                <a:latin typeface="Calibri" pitchFamily="34" charset="0"/>
                <a:ea typeface="Calibri" pitchFamily="34" charset="-122"/>
                <a:cs typeface="Calibri" pitchFamily="34" charset="-120"/>
              </a:rPr>
              <a:t>Every outcome updates the device health score; a device at or below the threshold stops taking updates until an operator resets it.</a:t>
            </a:r>
            <a:endParaRPr lang="en-US" sz="16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7. Implementation: The Working Platform</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Operator console built on the gateway, used for first install and every update after it</a:t>
            </a:r>
            <a:endParaRPr lang="en-US" sz="1600" dirty="0"/>
          </a:p>
        </p:txBody>
      </p:sp>
      <p:sp>
        <p:nvSpPr>
          <p:cNvPr id="4" name="card-344"/>
          <p:cNvSpPr/>
          <p:nvPr/>
        </p:nvSpPr>
        <p:spPr>
          <a:xfrm>
            <a:off x="731520" y="1828800"/>
            <a:ext cx="9509760" cy="3931920"/>
          </a:xfrm>
          <a:prstGeom prst="roundRect">
            <a:avLst>
              <a:gd name="adj" fmla="val 2791"/>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pic>
        <p:nvPicPr>
          <p:cNvPr id="5" name="shot-345" descr="/tmp/claude-0/pres/build/assets/console_devices.png">    </p:cNvPr>
          <p:cNvPicPr>
            <a:picLocks noChangeAspect="1"/>
          </p:cNvPicPr>
          <p:nvPr/>
        </p:nvPicPr>
        <p:blipFill>
          <a:blip r:embed="rId1"/>
          <a:srcRect l="0" r="0" t="0" b="0"/>
          <a:stretch/>
        </p:blipFill>
        <p:spPr>
          <a:xfrm>
            <a:off x="914400" y="2011680"/>
            <a:ext cx="9144000" cy="3566160"/>
          </a:xfrm>
          <a:prstGeom prst="rect">
            <a:avLst/>
          </a:prstGeom>
        </p:spPr>
      </p:pic>
      <p:sp>
        <p:nvSpPr>
          <p:cNvPr id="6" name="text-346"/>
          <p:cNvSpPr txBox="1"/>
          <p:nvPr/>
        </p:nvSpPr>
        <p:spPr>
          <a:xfrm>
            <a:off x="731520" y="5852160"/>
            <a:ext cx="9509760" cy="320040"/>
          </a:xfrm>
          <a:prstGeom prst="rect">
            <a:avLst/>
          </a:prstGeom>
          <a:noFill/>
          <a:ln/>
        </p:spPr>
        <p:txBody>
          <a:bodyPr wrap="square" lIns="0" tIns="0" rIns="0" bIns="0" rtlCol="0" anchor="t"/>
          <a:lstStyle/>
          <a:p>
            <a:pPr algn="l" indent="0" marL="0">
              <a:lnSpc>
                <a:spcPct val="105000"/>
              </a:lnSpc>
              <a:buNone/>
            </a:pPr>
            <a:r>
              <a:rPr lang="en-US" sz="1200" i="1" dirty="0">
                <a:solidFill>
                  <a:srgbClr val="6B7D91"/>
                </a:solidFill>
                <a:latin typeface="Calibri" pitchFamily="34" charset="0"/>
                <a:ea typeface="Calibri" pitchFamily="34" charset="-122"/>
                <a:cs typeface="Calibri" pitchFamily="34" charset="-120"/>
              </a:rPr>
              <a:t>Devices page of the console: fleet summary and the Flash over USB card</a:t>
            </a:r>
            <a:endParaRPr lang="en-US" sz="1200" dirty="0"/>
          </a:p>
        </p:txBody>
      </p:sp>
      <p:sp>
        <p:nvSpPr>
          <p:cNvPr id="7" name="card-347"/>
          <p:cNvSpPr/>
          <p:nvPr/>
        </p:nvSpPr>
        <p:spPr>
          <a:xfrm>
            <a:off x="10561320" y="1828800"/>
            <a:ext cx="4965192" cy="1417320"/>
          </a:xfrm>
          <a:prstGeom prst="roundRect">
            <a:avLst>
              <a:gd name="adj" fmla="val 7742"/>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8" name="iconbg-348"/>
          <p:cNvSpPr/>
          <p:nvPr/>
        </p:nvSpPr>
        <p:spPr>
          <a:xfrm>
            <a:off x="10789920" y="2176272"/>
            <a:ext cx="731520" cy="731520"/>
          </a:xfrm>
          <a:prstGeom prst="ellipse">
            <a:avLst/>
          </a:prstGeom>
          <a:solidFill>
            <a:srgbClr val="E8F3F6"/>
          </a:solidFill>
          <a:ln w="15875">
            <a:solidFill>
              <a:srgbClr val="0E7490"/>
            </a:solidFill>
            <a:prstDash val="solid"/>
          </a:ln>
        </p:spPr>
      </p:sp>
      <p:pic>
        <p:nvPicPr>
          <p:cNvPr id="9" name="icon-349" descr="preencoded.png">    </p:cNvPr>
          <p:cNvPicPr>
            <a:picLocks noChangeAspect="1"/>
          </p:cNvPicPr>
          <p:nvPr/>
        </p:nvPicPr>
        <p:blipFill>
          <a:blip r:embed="rId2"/>
          <a:stretch>
            <a:fillRect/>
          </a:stretch>
        </p:blipFill>
        <p:spPr>
          <a:xfrm>
            <a:off x="10980115" y="2366467"/>
            <a:ext cx="351130" cy="351130"/>
          </a:xfrm>
          <a:prstGeom prst="rect">
            <a:avLst/>
          </a:prstGeom>
        </p:spPr>
      </p:pic>
      <p:sp>
        <p:nvSpPr>
          <p:cNvPr id="10" name="text-350"/>
          <p:cNvSpPr txBox="1"/>
          <p:nvPr/>
        </p:nvSpPr>
        <p:spPr>
          <a:xfrm>
            <a:off x="11704320" y="1965960"/>
            <a:ext cx="3657600" cy="384048"/>
          </a:xfrm>
          <a:prstGeom prst="rect">
            <a:avLst/>
          </a:prstGeom>
          <a:noFill/>
          <a:ln/>
        </p:spPr>
        <p:txBody>
          <a:bodyPr wrap="square" lIns="0" tIns="0" rIns="0" bIns="0" rtlCol="0" anchor="t"/>
          <a:lstStyle/>
          <a:p>
            <a:pPr algn="l" indent="0" marL="0">
              <a:lnSpc>
                <a:spcPct val="105000"/>
              </a:lnSpc>
              <a:buNone/>
            </a:pPr>
            <a:r>
              <a:rPr lang="en-US" sz="1600" b="1" dirty="0">
                <a:solidFill>
                  <a:srgbClr val="0D1B2A"/>
                </a:solidFill>
                <a:latin typeface="Cambria" pitchFamily="34" charset="0"/>
                <a:ea typeface="Cambria" pitchFamily="34" charset="-122"/>
                <a:cs typeface="Cambria" pitchFamily="34" charset="-120"/>
              </a:rPr>
              <a:t>1. Build</a:t>
            </a:r>
            <a:endParaRPr lang="en-US" sz="1600" dirty="0"/>
          </a:p>
        </p:txBody>
      </p:sp>
      <p:sp>
        <p:nvSpPr>
          <p:cNvPr id="11" name="text-351"/>
          <p:cNvSpPr txBox="1"/>
          <p:nvPr/>
        </p:nvSpPr>
        <p:spPr>
          <a:xfrm>
            <a:off x="11704320" y="2350008"/>
            <a:ext cx="3703320" cy="868680"/>
          </a:xfrm>
          <a:prstGeom prst="rect">
            <a:avLst/>
          </a:prstGeom>
          <a:noFill/>
          <a:ln/>
        </p:spPr>
        <p:txBody>
          <a:bodyPr wrap="square" lIns="0" tIns="0" rIns="0" bIns="0" rtlCol="0" anchor="t"/>
          <a:lstStyle/>
          <a:p>
            <a:pPr algn="l" indent="0" marL="0">
              <a:lnSpc>
                <a:spcPct val="105000"/>
              </a:lnSpc>
              <a:buNone/>
            </a:pPr>
            <a:r>
              <a:rPr lang="en-US" sz="1300" dirty="0">
                <a:solidFill>
                  <a:srgbClr val="33475B"/>
                </a:solidFill>
                <a:latin typeface="Calibri" pitchFamily="34" charset="0"/>
                <a:ea typeface="Calibri" pitchFamily="34" charset="-122"/>
                <a:cs typeface="Calibri" pitchFamily="34" charset="-120"/>
              </a:rPr>
              <a:t>Build script or CI makes the full image, the signed and encrypted OTA package and build info</a:t>
            </a:r>
            <a:endParaRPr lang="en-US" sz="1300" dirty="0"/>
          </a:p>
        </p:txBody>
      </p:sp>
      <p:sp>
        <p:nvSpPr>
          <p:cNvPr id="12" name="card-352"/>
          <p:cNvSpPr/>
          <p:nvPr/>
        </p:nvSpPr>
        <p:spPr>
          <a:xfrm>
            <a:off x="10561320" y="3429000"/>
            <a:ext cx="4965192" cy="1417320"/>
          </a:xfrm>
          <a:prstGeom prst="roundRect">
            <a:avLst>
              <a:gd name="adj" fmla="val 7742"/>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13" name="iconbg-353"/>
          <p:cNvSpPr/>
          <p:nvPr/>
        </p:nvSpPr>
        <p:spPr>
          <a:xfrm>
            <a:off x="10789920" y="3776472"/>
            <a:ext cx="731520" cy="731520"/>
          </a:xfrm>
          <a:prstGeom prst="ellipse">
            <a:avLst/>
          </a:prstGeom>
          <a:solidFill>
            <a:srgbClr val="E8F3F6"/>
          </a:solidFill>
          <a:ln w="15875">
            <a:solidFill>
              <a:srgbClr val="0E7490"/>
            </a:solidFill>
            <a:prstDash val="solid"/>
          </a:ln>
        </p:spPr>
      </p:sp>
      <p:pic>
        <p:nvPicPr>
          <p:cNvPr id="14" name="icon-354" descr="preencoded.png">    </p:cNvPr>
          <p:cNvPicPr>
            <a:picLocks noChangeAspect="1"/>
          </p:cNvPicPr>
          <p:nvPr/>
        </p:nvPicPr>
        <p:blipFill>
          <a:blip r:embed="rId3"/>
          <a:stretch>
            <a:fillRect/>
          </a:stretch>
        </p:blipFill>
        <p:spPr>
          <a:xfrm>
            <a:off x="10980115" y="3966667"/>
            <a:ext cx="351130" cy="351130"/>
          </a:xfrm>
          <a:prstGeom prst="rect">
            <a:avLst/>
          </a:prstGeom>
        </p:spPr>
      </p:pic>
      <p:sp>
        <p:nvSpPr>
          <p:cNvPr id="15" name="text-355"/>
          <p:cNvSpPr txBox="1"/>
          <p:nvPr/>
        </p:nvSpPr>
        <p:spPr>
          <a:xfrm>
            <a:off x="11704320" y="3566160"/>
            <a:ext cx="3657600" cy="384048"/>
          </a:xfrm>
          <a:prstGeom prst="rect">
            <a:avLst/>
          </a:prstGeom>
          <a:noFill/>
          <a:ln/>
        </p:spPr>
        <p:txBody>
          <a:bodyPr wrap="square" lIns="0" tIns="0" rIns="0" bIns="0" rtlCol="0" anchor="t"/>
          <a:lstStyle/>
          <a:p>
            <a:pPr algn="l" indent="0" marL="0">
              <a:lnSpc>
                <a:spcPct val="105000"/>
              </a:lnSpc>
              <a:buNone/>
            </a:pPr>
            <a:r>
              <a:rPr lang="en-US" sz="1600" b="1" dirty="0">
                <a:solidFill>
                  <a:srgbClr val="0D1B2A"/>
                </a:solidFill>
                <a:latin typeface="Cambria" pitchFamily="34" charset="0"/>
                <a:ea typeface="Cambria" pitchFamily="34" charset="-122"/>
                <a:cs typeface="Cambria" pitchFamily="34" charset="-120"/>
              </a:rPr>
              <a:t>2. First flash</a:t>
            </a:r>
            <a:endParaRPr lang="en-US" sz="1600" dirty="0"/>
          </a:p>
        </p:txBody>
      </p:sp>
      <p:sp>
        <p:nvSpPr>
          <p:cNvPr id="16" name="text-356"/>
          <p:cNvSpPr txBox="1"/>
          <p:nvPr/>
        </p:nvSpPr>
        <p:spPr>
          <a:xfrm>
            <a:off x="11704320" y="3950208"/>
            <a:ext cx="3703320" cy="868680"/>
          </a:xfrm>
          <a:prstGeom prst="rect">
            <a:avLst/>
          </a:prstGeom>
          <a:noFill/>
          <a:ln/>
        </p:spPr>
        <p:txBody>
          <a:bodyPr wrap="square" lIns="0" tIns="0" rIns="0" bIns="0" rtlCol="0" anchor="t"/>
          <a:lstStyle/>
          <a:p>
            <a:pPr algn="l" indent="0" marL="0">
              <a:lnSpc>
                <a:spcPct val="105000"/>
              </a:lnSpc>
              <a:buNone/>
            </a:pPr>
            <a:r>
              <a:rPr lang="en-US" sz="1300" dirty="0">
                <a:solidFill>
                  <a:srgbClr val="33475B"/>
                </a:solidFill>
                <a:latin typeface="Calibri" pitchFamily="34" charset="0"/>
                <a:ea typeface="Calibri" pitchFamily="34" charset="-122"/>
                <a:cs typeface="Calibri" pitchFamily="34" charset="-120"/>
              </a:rPr>
              <a:t>Flash over USB from the browser (Web Serial) or the local agent; write Wi-Fi, gateway and device token</a:t>
            </a:r>
            <a:endParaRPr lang="en-US" sz="1300" dirty="0"/>
          </a:p>
        </p:txBody>
      </p:sp>
      <p:sp>
        <p:nvSpPr>
          <p:cNvPr id="17" name="card-357"/>
          <p:cNvSpPr/>
          <p:nvPr/>
        </p:nvSpPr>
        <p:spPr>
          <a:xfrm>
            <a:off x="10561320" y="5029200"/>
            <a:ext cx="4965192" cy="1417320"/>
          </a:xfrm>
          <a:prstGeom prst="roundRect">
            <a:avLst>
              <a:gd name="adj" fmla="val 7742"/>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18" name="iconbg-358"/>
          <p:cNvSpPr/>
          <p:nvPr/>
        </p:nvSpPr>
        <p:spPr>
          <a:xfrm>
            <a:off x="10789920" y="5376672"/>
            <a:ext cx="731520" cy="731520"/>
          </a:xfrm>
          <a:prstGeom prst="ellipse">
            <a:avLst/>
          </a:prstGeom>
          <a:solidFill>
            <a:srgbClr val="E8F3F6"/>
          </a:solidFill>
          <a:ln w="15875">
            <a:solidFill>
              <a:srgbClr val="0E7490"/>
            </a:solidFill>
            <a:prstDash val="solid"/>
          </a:ln>
        </p:spPr>
      </p:sp>
      <p:pic>
        <p:nvPicPr>
          <p:cNvPr id="19" name="icon-359" descr="preencoded.png">    </p:cNvPr>
          <p:cNvPicPr>
            <a:picLocks noChangeAspect="1"/>
          </p:cNvPicPr>
          <p:nvPr/>
        </p:nvPicPr>
        <p:blipFill>
          <a:blip r:embed="rId4"/>
          <a:stretch>
            <a:fillRect/>
          </a:stretch>
        </p:blipFill>
        <p:spPr>
          <a:xfrm>
            <a:off x="10980115" y="5566867"/>
            <a:ext cx="351130" cy="351130"/>
          </a:xfrm>
          <a:prstGeom prst="rect">
            <a:avLst/>
          </a:prstGeom>
        </p:spPr>
      </p:pic>
      <p:sp>
        <p:nvSpPr>
          <p:cNvPr id="20" name="text-360"/>
          <p:cNvSpPr txBox="1"/>
          <p:nvPr/>
        </p:nvSpPr>
        <p:spPr>
          <a:xfrm>
            <a:off x="11704320" y="5166360"/>
            <a:ext cx="3657600" cy="384048"/>
          </a:xfrm>
          <a:prstGeom prst="rect">
            <a:avLst/>
          </a:prstGeom>
          <a:noFill/>
          <a:ln/>
        </p:spPr>
        <p:txBody>
          <a:bodyPr wrap="square" lIns="0" tIns="0" rIns="0" bIns="0" rtlCol="0" anchor="t"/>
          <a:lstStyle/>
          <a:p>
            <a:pPr algn="l" indent="0" marL="0">
              <a:lnSpc>
                <a:spcPct val="105000"/>
              </a:lnSpc>
              <a:buNone/>
            </a:pPr>
            <a:r>
              <a:rPr lang="en-US" sz="1600" b="1" dirty="0">
                <a:solidFill>
                  <a:srgbClr val="0D1B2A"/>
                </a:solidFill>
                <a:latin typeface="Cambria" pitchFamily="34" charset="0"/>
                <a:ea typeface="Cambria" pitchFamily="34" charset="-122"/>
                <a:cs typeface="Cambria" pitchFamily="34" charset="-120"/>
              </a:rPr>
              <a:t>3. Publish and deploy</a:t>
            </a:r>
            <a:endParaRPr lang="en-US" sz="1600" dirty="0"/>
          </a:p>
        </p:txBody>
      </p:sp>
      <p:sp>
        <p:nvSpPr>
          <p:cNvPr id="21" name="text-361"/>
          <p:cNvSpPr txBox="1"/>
          <p:nvPr/>
        </p:nvSpPr>
        <p:spPr>
          <a:xfrm>
            <a:off x="11704320" y="5550408"/>
            <a:ext cx="3703320" cy="868680"/>
          </a:xfrm>
          <a:prstGeom prst="rect">
            <a:avLst/>
          </a:prstGeom>
          <a:noFill/>
          <a:ln/>
        </p:spPr>
        <p:txBody>
          <a:bodyPr wrap="square" lIns="0" tIns="0" rIns="0" bIns="0" rtlCol="0" anchor="t"/>
          <a:lstStyle/>
          <a:p>
            <a:pPr algn="l" indent="0" marL="0">
              <a:lnSpc>
                <a:spcPct val="105000"/>
              </a:lnSpc>
              <a:buNone/>
            </a:pPr>
            <a:r>
              <a:rPr lang="en-US" sz="1300" dirty="0">
                <a:solidFill>
                  <a:srgbClr val="33475B"/>
                </a:solidFill>
                <a:latin typeface="Calibri" pitchFamily="34" charset="0"/>
                <a:ea typeface="Calibri" pitchFamily="34" charset="-122"/>
                <a:cs typeface="Calibri" pitchFamily="34" charset="-120"/>
              </a:rPr>
              <a:t>Publish the release; deploy to selected devices; each device updates on its next heartbeat</a:t>
            </a:r>
            <a:endParaRPr lang="en-US" sz="1300" dirty="0"/>
          </a:p>
        </p:txBody>
      </p:sp>
      <p:sp>
        <p:nvSpPr>
          <p:cNvPr id="22" name="card-362"/>
          <p:cNvSpPr/>
          <p:nvPr/>
        </p:nvSpPr>
        <p:spPr>
          <a:xfrm>
            <a:off x="10561320" y="6629400"/>
            <a:ext cx="4965192" cy="1417320"/>
          </a:xfrm>
          <a:prstGeom prst="roundRect">
            <a:avLst>
              <a:gd name="adj" fmla="val 7742"/>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23" name="iconbg-363"/>
          <p:cNvSpPr/>
          <p:nvPr/>
        </p:nvSpPr>
        <p:spPr>
          <a:xfrm>
            <a:off x="10789920" y="6976872"/>
            <a:ext cx="731520" cy="731520"/>
          </a:xfrm>
          <a:prstGeom prst="ellipse">
            <a:avLst/>
          </a:prstGeom>
          <a:solidFill>
            <a:srgbClr val="E8F3F6"/>
          </a:solidFill>
          <a:ln w="15875">
            <a:solidFill>
              <a:srgbClr val="0E7490"/>
            </a:solidFill>
            <a:prstDash val="solid"/>
          </a:ln>
        </p:spPr>
      </p:sp>
      <p:pic>
        <p:nvPicPr>
          <p:cNvPr id="24" name="icon-364" descr="preencoded.png">    </p:cNvPr>
          <p:cNvPicPr>
            <a:picLocks noChangeAspect="1"/>
          </p:cNvPicPr>
          <p:nvPr/>
        </p:nvPicPr>
        <p:blipFill>
          <a:blip r:embed="rId5"/>
          <a:stretch>
            <a:fillRect/>
          </a:stretch>
        </p:blipFill>
        <p:spPr>
          <a:xfrm>
            <a:off x="10980115" y="7167067"/>
            <a:ext cx="351130" cy="351130"/>
          </a:xfrm>
          <a:prstGeom prst="rect">
            <a:avLst/>
          </a:prstGeom>
        </p:spPr>
      </p:pic>
      <p:sp>
        <p:nvSpPr>
          <p:cNvPr id="25" name="text-365"/>
          <p:cNvSpPr txBox="1"/>
          <p:nvPr/>
        </p:nvSpPr>
        <p:spPr>
          <a:xfrm>
            <a:off x="11704320" y="6766560"/>
            <a:ext cx="3657600" cy="384048"/>
          </a:xfrm>
          <a:prstGeom prst="rect">
            <a:avLst/>
          </a:prstGeom>
          <a:noFill/>
          <a:ln/>
        </p:spPr>
        <p:txBody>
          <a:bodyPr wrap="square" lIns="0" tIns="0" rIns="0" bIns="0" rtlCol="0" anchor="t"/>
          <a:lstStyle/>
          <a:p>
            <a:pPr algn="l" indent="0" marL="0">
              <a:lnSpc>
                <a:spcPct val="105000"/>
              </a:lnSpc>
              <a:buNone/>
            </a:pPr>
            <a:r>
              <a:rPr lang="en-US" sz="1600" b="1" dirty="0">
                <a:solidFill>
                  <a:srgbClr val="0D1B2A"/>
                </a:solidFill>
                <a:latin typeface="Cambria" pitchFamily="34" charset="0"/>
                <a:ea typeface="Cambria" pitchFamily="34" charset="-122"/>
                <a:cs typeface="Cambria" pitchFamily="34" charset="-120"/>
              </a:rPr>
              <a:t>4. Monitor</a:t>
            </a:r>
            <a:endParaRPr lang="en-US" sz="1600" dirty="0"/>
          </a:p>
        </p:txBody>
      </p:sp>
      <p:sp>
        <p:nvSpPr>
          <p:cNvPr id="26" name="text-366"/>
          <p:cNvSpPr txBox="1"/>
          <p:nvPr/>
        </p:nvSpPr>
        <p:spPr>
          <a:xfrm>
            <a:off x="11704320" y="7150608"/>
            <a:ext cx="3703320" cy="868680"/>
          </a:xfrm>
          <a:prstGeom prst="rect">
            <a:avLst/>
          </a:prstGeom>
          <a:noFill/>
          <a:ln/>
        </p:spPr>
        <p:txBody>
          <a:bodyPr wrap="square" lIns="0" tIns="0" rIns="0" bIns="0" rtlCol="0" anchor="t"/>
          <a:lstStyle/>
          <a:p>
            <a:pPr algn="l" indent="0" marL="0">
              <a:lnSpc>
                <a:spcPct val="105000"/>
              </a:lnSpc>
              <a:buNone/>
            </a:pPr>
            <a:r>
              <a:rPr lang="en-US" sz="1300" dirty="0">
                <a:solidFill>
                  <a:srgbClr val="33475B"/>
                </a:solidFill>
                <a:latin typeface="Calibri" pitchFamily="34" charset="0"/>
                <a:ea typeface="Calibri" pitchFamily="34" charset="-122"/>
                <a:cs typeface="Calibri" pitchFamily="34" charset="-120"/>
              </a:rPr>
              <a:t>Live status, health score, events and audit log for every device</a:t>
            </a:r>
            <a:endParaRPr lang="en-US" sz="1300" dirty="0"/>
          </a:p>
        </p:txBody>
      </p:sp>
      <p:sp>
        <p:nvSpPr>
          <p:cNvPr id="27" name="card-367"/>
          <p:cNvSpPr/>
          <p:nvPr/>
        </p:nvSpPr>
        <p:spPr>
          <a:xfrm>
            <a:off x="731520" y="6400800"/>
            <a:ext cx="9509760" cy="1828800"/>
          </a:xfrm>
          <a:prstGeom prst="roundRect">
            <a:avLst>
              <a:gd name="adj" fmla="val 6000"/>
            </a:avLst>
          </a:prstGeom>
          <a:solidFill>
            <a:srgbClr val="F3F6F9"/>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28" name="text-368"/>
          <p:cNvSpPr txBox="1"/>
          <p:nvPr/>
        </p:nvSpPr>
        <p:spPr>
          <a:xfrm>
            <a:off x="1051560" y="6583680"/>
            <a:ext cx="7315200" cy="274320"/>
          </a:xfrm>
          <a:prstGeom prst="rect">
            <a:avLst/>
          </a:prstGeom>
          <a:noFill/>
          <a:ln/>
        </p:spPr>
        <p:txBody>
          <a:bodyPr wrap="square" lIns="0" tIns="0" rIns="0" bIns="0" rtlCol="0" anchor="t"/>
          <a:lstStyle/>
          <a:p>
            <a:pPr algn="l" indent="0" marL="0">
              <a:lnSpc>
                <a:spcPct val="100000"/>
              </a:lnSpc>
              <a:buNone/>
            </a:pPr>
            <a:r>
              <a:rPr lang="en-US" sz="1100" b="1" dirty="0">
                <a:solidFill>
                  <a:srgbClr val="6B7D91"/>
                </a:solidFill>
                <a:latin typeface="Calibri" pitchFamily="34" charset="0"/>
                <a:ea typeface="Calibri" pitchFamily="34" charset="-122"/>
                <a:cs typeface="Calibri" pitchFamily="34" charset="-120"/>
              </a:rPr>
              <a:t>SECURITY BUILT INTO THE PLATFORM</a:t>
            </a:r>
            <a:endParaRPr lang="en-US" sz="1100" dirty="0"/>
          </a:p>
        </p:txBody>
      </p:sp>
      <p:sp>
        <p:nvSpPr>
          <p:cNvPr id="29" name="text-369"/>
          <p:cNvSpPr txBox="1"/>
          <p:nvPr/>
        </p:nvSpPr>
        <p:spPr>
          <a:xfrm>
            <a:off x="1051560" y="6949440"/>
            <a:ext cx="4480560" cy="457200"/>
          </a:xfrm>
          <a:prstGeom prst="rect">
            <a:avLst/>
          </a:prstGeom>
          <a:noFill/>
          <a:ln/>
        </p:spPr>
        <p:txBody>
          <a:bodyPr wrap="square" lIns="0" tIns="0" rIns="0" bIns="0" rtlCol="0" anchor="t"/>
          <a:lstStyle/>
          <a:p>
            <a:pPr algn="l" indent="0" marL="0">
              <a:lnSpc>
                <a:spcPct val="105000"/>
              </a:lnSpc>
              <a:buNone/>
            </a:pPr>
            <a:r>
              <a:rPr lang="en-US" sz="1400" dirty="0">
                <a:solidFill>
                  <a:srgbClr val="33475B"/>
                </a:solidFill>
                <a:latin typeface="Calibri" pitchFamily="34" charset="0"/>
                <a:ea typeface="Calibri" pitchFamily="34" charset="-122"/>
                <a:cs typeface="Calibri" pitchFamily="34" charset="-120"/>
              </a:rPr>
              <a:t>Per-device tokens, revocable from the console</a:t>
            </a:r>
            <a:endParaRPr lang="en-US" sz="1400" dirty="0"/>
          </a:p>
        </p:txBody>
      </p:sp>
      <p:sp>
        <p:nvSpPr>
          <p:cNvPr id="30" name="text-370"/>
          <p:cNvSpPr txBox="1"/>
          <p:nvPr/>
        </p:nvSpPr>
        <p:spPr>
          <a:xfrm>
            <a:off x="5669280" y="6949440"/>
            <a:ext cx="4480560" cy="457200"/>
          </a:xfrm>
          <a:prstGeom prst="rect">
            <a:avLst/>
          </a:prstGeom>
          <a:noFill/>
          <a:ln/>
        </p:spPr>
        <p:txBody>
          <a:bodyPr wrap="square" lIns="0" tIns="0" rIns="0" bIns="0" rtlCol="0" anchor="t"/>
          <a:lstStyle/>
          <a:p>
            <a:pPr algn="l" indent="0" marL="0">
              <a:lnSpc>
                <a:spcPct val="105000"/>
              </a:lnSpc>
              <a:buNone/>
            </a:pPr>
            <a:r>
              <a:rPr lang="en-US" sz="1400" dirty="0">
                <a:solidFill>
                  <a:srgbClr val="33475B"/>
                </a:solidFill>
                <a:latin typeface="Calibri" pitchFamily="34" charset="0"/>
                <a:ea typeface="Calibri" pitchFamily="34" charset="-122"/>
                <a:cs typeface="Calibri" pitchFamily="34" charset="-120"/>
              </a:rPr>
              <a:t>Role-based access: admin, operator, viewer</a:t>
            </a:r>
            <a:endParaRPr lang="en-US" sz="1400" dirty="0"/>
          </a:p>
        </p:txBody>
      </p:sp>
      <p:sp>
        <p:nvSpPr>
          <p:cNvPr id="31" name="text-371"/>
          <p:cNvSpPr txBox="1"/>
          <p:nvPr/>
        </p:nvSpPr>
        <p:spPr>
          <a:xfrm>
            <a:off x="1051560" y="7498080"/>
            <a:ext cx="4480560" cy="457200"/>
          </a:xfrm>
          <a:prstGeom prst="rect">
            <a:avLst/>
          </a:prstGeom>
          <a:noFill/>
          <a:ln/>
        </p:spPr>
        <p:txBody>
          <a:bodyPr wrap="square" lIns="0" tIns="0" rIns="0" bIns="0" rtlCol="0" anchor="t"/>
          <a:lstStyle/>
          <a:p>
            <a:pPr algn="l" indent="0" marL="0">
              <a:lnSpc>
                <a:spcPct val="105000"/>
              </a:lnSpc>
              <a:buNone/>
            </a:pPr>
            <a:r>
              <a:rPr lang="en-US" sz="1400" dirty="0">
                <a:solidFill>
                  <a:srgbClr val="33475B"/>
                </a:solidFill>
                <a:latin typeface="Calibri" pitchFamily="34" charset="0"/>
                <a:ea typeface="Calibri" pitchFamily="34" charset="-122"/>
                <a:cs typeface="Calibri" pitchFamily="34" charset="-120"/>
              </a:rPr>
              <a:t>Every write request recorded in the audit log</a:t>
            </a:r>
            <a:endParaRPr lang="en-US" sz="1400" dirty="0"/>
          </a:p>
        </p:txBody>
      </p:sp>
      <p:sp>
        <p:nvSpPr>
          <p:cNvPr id="32" name="text-372"/>
          <p:cNvSpPr txBox="1"/>
          <p:nvPr/>
        </p:nvSpPr>
        <p:spPr>
          <a:xfrm>
            <a:off x="5669280" y="7498080"/>
            <a:ext cx="4480560" cy="457200"/>
          </a:xfrm>
          <a:prstGeom prst="rect">
            <a:avLst/>
          </a:prstGeom>
          <a:noFill/>
          <a:ln/>
        </p:spPr>
        <p:txBody>
          <a:bodyPr wrap="square" lIns="0" tIns="0" rIns="0" bIns="0" rtlCol="0" anchor="t"/>
          <a:lstStyle/>
          <a:p>
            <a:pPr algn="l" indent="0" marL="0">
              <a:lnSpc>
                <a:spcPct val="105000"/>
              </a:lnSpc>
              <a:buNone/>
            </a:pPr>
            <a:r>
              <a:rPr lang="en-US" sz="1400" dirty="0">
                <a:solidFill>
                  <a:srgbClr val="33475B"/>
                </a:solidFill>
                <a:latin typeface="Calibri" pitchFamily="34" charset="0"/>
                <a:ea typeface="Calibri" pitchFamily="34" charset="-122"/>
                <a:cs typeface="Calibri" pitchFamily="34" charset="-120"/>
              </a:rPr>
              <a:t>Private keys never stored in the repository</a:t>
            </a:r>
            <a:endParaRPr lang="en-US" sz="14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8. Results and Discussion: Gate Statistics</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360 invalid test packages through the five gates on the ESP32 (paper, Table I)</a:t>
            </a:r>
            <a:endParaRPr lang="en-US" sz="1600" dirty="0"/>
          </a:p>
        </p:txBody>
      </p:sp>
      <p:graphicFrame>
        <p:nvGraphicFramePr>
          <p:cNvPr id="4" name="chart-373" descr=""/>
          <p:cNvGraphicFramePr/>
          <p:nvPr/>
        </p:nvGraphicFramePr>
        <p:xfrm>
          <a:off x="731520" y="1828800"/>
          <a:ext cx="9326880" cy="6400800"/>
        </p:xfrm>
        <a:graphic xmlns:a="http://schemas.openxmlformats.org/drawingml/2006/main">
          <a:graphicData uri="http://schemas.openxmlformats.org/drawingml/2006/chart">
            <c:chart xmlns:c="http://schemas.openxmlformats.org/drawingml/2006/chart" r:id="rId1"/>
          </a:graphicData>
        </a:graphic>
      </p:graphicFrame>
      <p:sp>
        <p:nvSpPr>
          <p:cNvPr id="5" name="card-374"/>
          <p:cNvSpPr/>
          <p:nvPr/>
        </p:nvSpPr>
        <p:spPr>
          <a:xfrm>
            <a:off x="10424160" y="1828800"/>
            <a:ext cx="5102352" cy="2926080"/>
          </a:xfrm>
          <a:prstGeom prst="roundRect">
            <a:avLst>
              <a:gd name="adj" fmla="val 3750"/>
            </a:avLst>
          </a:prstGeom>
          <a:solidFill>
            <a:srgbClr val="E8F5EF"/>
          </a:solidFill>
          <a:ln w="15875">
            <a:solidFill>
              <a:srgbClr val="067A55"/>
            </a:solidFill>
            <a:prstDash val="solid"/>
          </a:ln>
          <a:effectLst>
            <a:outerShdw sx="100000" sy="100000" kx="0" ky="0" algn="bl" rotWithShape="0" blurRad="76200" dist="25400" dir="5400000">
              <a:srgbClr val="9AAEC2">
                <a:alpha val="18000"/>
              </a:srgbClr>
            </a:outerShdw>
          </a:effectLst>
        </p:spPr>
      </p:sp>
      <p:sp>
        <p:nvSpPr>
          <p:cNvPr id="6" name="text-375"/>
          <p:cNvSpPr txBox="1"/>
          <p:nvPr/>
        </p:nvSpPr>
        <p:spPr>
          <a:xfrm>
            <a:off x="10744200" y="2103120"/>
            <a:ext cx="4572000" cy="731520"/>
          </a:xfrm>
          <a:prstGeom prst="rect">
            <a:avLst/>
          </a:prstGeom>
          <a:noFill/>
          <a:ln/>
        </p:spPr>
        <p:txBody>
          <a:bodyPr wrap="square" lIns="0" tIns="0" rIns="0" bIns="0" rtlCol="0" anchor="t"/>
          <a:lstStyle/>
          <a:p>
            <a:pPr algn="l" indent="0" marL="0">
              <a:lnSpc>
                <a:spcPct val="105000"/>
              </a:lnSpc>
              <a:buNone/>
            </a:pPr>
            <a:r>
              <a:rPr lang="en-US" sz="3600" b="1" dirty="0">
                <a:solidFill>
                  <a:srgbClr val="067A55"/>
                </a:solidFill>
                <a:latin typeface="Cambria" pitchFamily="34" charset="0"/>
                <a:ea typeface="Cambria" pitchFamily="34" charset="-122"/>
                <a:cs typeface="Cambria" pitchFamily="34" charset="-120"/>
              </a:rPr>
              <a:t>312 of 360</a:t>
            </a:r>
            <a:endParaRPr lang="en-US" sz="3600" dirty="0"/>
          </a:p>
        </p:txBody>
      </p:sp>
      <p:sp>
        <p:nvSpPr>
          <p:cNvPr id="7" name="text-376"/>
          <p:cNvSpPr txBox="1"/>
          <p:nvPr/>
        </p:nvSpPr>
        <p:spPr>
          <a:xfrm>
            <a:off x="10744200" y="2880360"/>
            <a:ext cx="4480560" cy="1737360"/>
          </a:xfrm>
          <a:prstGeom prst="rect">
            <a:avLst/>
          </a:prstGeom>
          <a:noFill/>
          <a:ln/>
        </p:spPr>
        <p:txBody>
          <a:bodyPr wrap="square" lIns="0" tIns="0" rIns="0" bIns="0" rtlCol="0" anchor="t"/>
          <a:lstStyle/>
          <a:p>
            <a:pPr algn="l" indent="0" marL="0">
              <a:lnSpc>
                <a:spcPct val="105000"/>
              </a:lnSpc>
              <a:buNone/>
            </a:pPr>
            <a:r>
              <a:rPr lang="en-US" sz="1600" dirty="0">
                <a:solidFill>
                  <a:srgbClr val="33475B"/>
                </a:solidFill>
                <a:latin typeface="Calibri" pitchFamily="34" charset="0"/>
                <a:ea typeface="Calibri" pitchFamily="34" charset="-122"/>
                <a:cs typeface="Calibri" pitchFamily="34" charset="-120"/>
              </a:rPr>
              <a:t>invalid packages (86.7%) were rejected by the first four gates, so they never needed the 47.5 ms signature check.</a:t>
            </a:r>
            <a:endParaRPr lang="en-US" sz="1600" dirty="0"/>
          </a:p>
        </p:txBody>
      </p:sp>
      <p:sp>
        <p:nvSpPr>
          <p:cNvPr id="8" name="card-377"/>
          <p:cNvSpPr/>
          <p:nvPr/>
        </p:nvSpPr>
        <p:spPr>
          <a:xfrm>
            <a:off x="10424160" y="5029200"/>
            <a:ext cx="5102352" cy="3200400"/>
          </a:xfrm>
          <a:prstGeom prst="roundRect">
            <a:avLst>
              <a:gd name="adj" fmla="val 3429"/>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9" name="text-378"/>
          <p:cNvSpPr txBox="1"/>
          <p:nvPr/>
        </p:nvSpPr>
        <p:spPr>
          <a:xfrm>
            <a:off x="10744200" y="5257800"/>
            <a:ext cx="4114800" cy="274320"/>
          </a:xfrm>
          <a:prstGeom prst="rect">
            <a:avLst/>
          </a:prstGeom>
          <a:noFill/>
          <a:ln/>
        </p:spPr>
        <p:txBody>
          <a:bodyPr wrap="square" lIns="0" tIns="0" rIns="0" bIns="0" rtlCol="0" anchor="t"/>
          <a:lstStyle/>
          <a:p>
            <a:pPr algn="l" indent="0" marL="0">
              <a:lnSpc>
                <a:spcPct val="100000"/>
              </a:lnSpc>
              <a:buNone/>
            </a:pPr>
            <a:r>
              <a:rPr lang="en-US" sz="1100" b="1" dirty="0">
                <a:solidFill>
                  <a:srgbClr val="6B7D91"/>
                </a:solidFill>
                <a:latin typeface="Calibri" pitchFamily="34" charset="0"/>
                <a:ea typeface="Calibri" pitchFamily="34" charset="-122"/>
                <a:cs typeface="Calibri" pitchFamily="34" charset="-120"/>
              </a:rPr>
              <a:t>READING THE CHART</a:t>
            </a:r>
            <a:endParaRPr lang="en-US" sz="1100" dirty="0"/>
          </a:p>
        </p:txBody>
      </p:sp>
      <p:sp>
        <p:nvSpPr>
          <p:cNvPr id="10" name="list-379"/>
          <p:cNvSpPr txBox="1"/>
          <p:nvPr/>
        </p:nvSpPr>
        <p:spPr>
          <a:xfrm>
            <a:off x="10744200" y="5623560"/>
            <a:ext cx="452628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475B"/>
                </a:solidFill>
                <a:latin typeface="Calibri" pitchFamily="34" charset="0"/>
                <a:ea typeface="Calibri" pitchFamily="34" charset="-122"/>
                <a:cs typeface="Calibri" pitchFamily="34" charset="-120"/>
              </a:rPr>
              <a:t>Manifest check catches wrong board and outdated versions at 1.2 ms.</a:t>
            </a:r>
            <a:endParaRPr lang="en-US" sz="1400" dirty="0"/>
          </a:p>
          <a:p>
            <a:pPr marL="342900" indent="-342900">
              <a:spcAft>
                <a:spcPts val="600"/>
              </a:spcAft>
              <a:buSzPct val="100000"/>
              <a:buChar char="•"/>
            </a:pPr>
            <a:r>
              <a:rPr lang="en-US" sz="1400" dirty="0">
                <a:solidFill>
                  <a:srgbClr val="33475B"/>
                </a:solidFill>
                <a:latin typeface="Calibri" pitchFamily="34" charset="0"/>
                <a:ea typeface="Calibri" pitchFamily="34" charset="-122"/>
                <a:cs typeface="Calibri" pitchFamily="34" charset="-120"/>
              </a:rPr>
              <a:t>Digest and format checks catch altered, corrupted and malformed images.</a:t>
            </a:r>
            <a:endParaRPr lang="en-US" sz="1400" dirty="0"/>
          </a:p>
          <a:p>
            <a:pPr marL="342900" indent="-342900">
              <a:spcAft>
                <a:spcPts val="600"/>
              </a:spcAft>
              <a:buSzPct val="100000"/>
              <a:buChar char="•"/>
            </a:pPr>
            <a:r>
              <a:rPr lang="en-US" sz="1400" dirty="0">
                <a:solidFill>
                  <a:srgbClr val="33475B"/>
                </a:solidFill>
                <a:latin typeface="Calibri" pitchFamily="34" charset="0"/>
                <a:ea typeface="Calibri" pitchFamily="34" charset="-122"/>
                <a:cs typeface="Calibri" pitchFamily="34" charset="-120"/>
              </a:rPr>
              <a:t>Only forged signatures reach G5; all 48 were rejected there.</a:t>
            </a:r>
            <a:endParaRPr lang="en-US" sz="1400" dirty="0"/>
          </a:p>
          <a:p>
            <a:pPr marL="342900" indent="-342900">
              <a:spcAft>
                <a:spcPts val="600"/>
              </a:spcAft>
              <a:buSzPct val="100000"/>
              <a:buChar char="•"/>
            </a:pPr>
            <a:r>
              <a:rPr lang="en-US" sz="1400" dirty="0">
                <a:solidFill>
                  <a:srgbClr val="33475B"/>
                </a:solidFill>
                <a:latin typeface="Calibri" pitchFamily="34" charset="0"/>
                <a:ea typeface="Calibri" pitchFamily="34" charset="-122"/>
                <a:cs typeface="Calibri" pitchFamily="34" charset="-120"/>
              </a:rPr>
              <a:t>All genuine packages were accepted, so nothing valid was lost.</a:t>
            </a:r>
            <a:endParaRPr lang="en-US" sz="14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8. Results and Discussion: Verification Time</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Full pipeline time vs expected TCV time per invalid package (paper, Table II and Fig. 4)</a:t>
            </a:r>
            <a:endParaRPr lang="en-US" sz="1600" dirty="0"/>
          </a:p>
        </p:txBody>
      </p:sp>
      <p:graphicFrame>
        <p:nvGraphicFramePr>
          <p:cNvPr id="4" name="chart-380" descr=""/>
          <p:cNvGraphicFramePr/>
          <p:nvPr/>
        </p:nvGraphicFramePr>
        <p:xfrm>
          <a:off x="731520" y="1828800"/>
          <a:ext cx="8412480" cy="640080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table-381"/>
          <p:cNvGraphicFramePr>
            <a:graphicFrameLocks noGrp="1"/>
          </p:cNvGraphicFramePr>
          <p:nvPr>
            <p:extLst>
              <p:ext uri="{D42A27DB-BD31-4B8C-83A1-F6EECF244321}">
                <p14:modId xmlns:p14="http://schemas.microsoft.com/office/powerpoint/2010/main" val="1579011935"/>
              </p:ext>
            </p:extLst>
          </p:nvPr>
        </p:nvGraphicFramePr>
        <p:xfrm>
          <a:off x="9509760" y="1828800"/>
          <a:ext cx="6016752" cy="914400"/>
        </p:xfrm>
        <a:graphic>
          <a:graphicData uri="http://schemas.openxmlformats.org/drawingml/2006/table">
            <a:tbl>
              <a:tblPr/>
              <a:tblGrid>
                <a:gridCol w="1554480"/>
                <a:gridCol w="1051560"/>
                <a:gridCol w="1051560"/>
                <a:gridCol w="1051560"/>
                <a:gridCol w="1307592"/>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Platform</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0D1B2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Full (ms)</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0D1B2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TCV (ms)</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0D1B2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Saved</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0D1B2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Ed25519 share</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0D1B2A"/>
                    </a:solidFill>
                  </a:tcPr>
                </a:tc>
              </a:tr>
              <a:tr h="566928">
                <a:tc>
                  <a:txBody>
                    <a:bodyPr/>
                    <a:lstStyle/>
                    <a:p>
                      <a:pPr algn="l" indent="0" marL="0">
                        <a:buNone/>
                      </a:pPr>
                      <a:r>
                        <a:rPr lang="en-US" sz="1400" b="1" dirty="0">
                          <a:solidFill>
                            <a:srgbClr val="0D1B2A"/>
                          </a:solidFill>
                          <a:latin typeface="Calibri" pitchFamily="34" charset="0"/>
                          <a:ea typeface="Calibri" pitchFamily="34" charset="-122"/>
                          <a:cs typeface="Calibri" pitchFamily="34" charset="-120"/>
                        </a:rPr>
                        <a:t>ESP32</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1B2A"/>
                          </a:solidFill>
                          <a:latin typeface="Calibri" pitchFamily="34" charset="0"/>
                          <a:ea typeface="Calibri" pitchFamily="34" charset="-122"/>
                          <a:cs typeface="Calibri" pitchFamily="34" charset="-120"/>
                        </a:rPr>
                        <a:t>63.7</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1B2A"/>
                          </a:solidFill>
                          <a:latin typeface="Calibri" pitchFamily="34" charset="0"/>
                          <a:ea typeface="Calibri" pitchFamily="34" charset="-122"/>
                          <a:cs typeface="Calibri" pitchFamily="34" charset="-120"/>
                        </a:rPr>
                        <a:t>16.1</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67A55"/>
                          </a:solidFill>
                          <a:latin typeface="Calibri" pitchFamily="34" charset="0"/>
                          <a:ea typeface="Calibri" pitchFamily="34" charset="-122"/>
                          <a:cs typeface="Calibri" pitchFamily="34" charset="-120"/>
                        </a:rPr>
                        <a:t>74.8%</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1B2A"/>
                          </a:solidFill>
                          <a:latin typeface="Calibri" pitchFamily="34" charset="0"/>
                          <a:ea typeface="Calibri" pitchFamily="34" charset="-122"/>
                          <a:cs typeface="Calibri" pitchFamily="34" charset="-120"/>
                        </a:rPr>
                        <a:t>74.6%</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r>
              <a:tr h="566928">
                <a:tc>
                  <a:txBody>
                    <a:bodyPr/>
                    <a:lstStyle/>
                    <a:p>
                      <a:pPr algn="l" indent="0" marL="0">
                        <a:buNone/>
                      </a:pPr>
                      <a:r>
                        <a:rPr lang="en-US" sz="1400" b="1" dirty="0">
                          <a:solidFill>
                            <a:srgbClr val="0D1B2A"/>
                          </a:solidFill>
                          <a:latin typeface="Calibri" pitchFamily="34" charset="0"/>
                          <a:ea typeface="Calibri" pitchFamily="34" charset="-122"/>
                          <a:cs typeface="Calibri" pitchFamily="34" charset="-120"/>
                        </a:rPr>
                        <a:t>ESP8266</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algn="ctr" indent="0" marL="0">
                        <a:buNone/>
                      </a:pPr>
                      <a:r>
                        <a:rPr lang="en-US" sz="1400" dirty="0">
                          <a:solidFill>
                            <a:srgbClr val="0D1B2A"/>
                          </a:solidFill>
                          <a:latin typeface="Calibri" pitchFamily="34" charset="0"/>
                          <a:ea typeface="Calibri" pitchFamily="34" charset="-122"/>
                          <a:cs typeface="Calibri" pitchFamily="34" charset="-120"/>
                        </a:rPr>
                        <a:t>119.2</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algn="ctr" indent="0" marL="0">
                        <a:buNone/>
                      </a:pPr>
                      <a:r>
                        <a:rPr lang="en-US" sz="1400" dirty="0">
                          <a:solidFill>
                            <a:srgbClr val="0D1B2A"/>
                          </a:solidFill>
                          <a:latin typeface="Calibri" pitchFamily="34" charset="0"/>
                          <a:ea typeface="Calibri" pitchFamily="34" charset="-122"/>
                          <a:cs typeface="Calibri" pitchFamily="34" charset="-120"/>
                        </a:rPr>
                        <a:t>27.9</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algn="ctr" indent="0" marL="0">
                        <a:buNone/>
                      </a:pPr>
                      <a:r>
                        <a:rPr lang="en-US" sz="1400" dirty="0">
                          <a:solidFill>
                            <a:srgbClr val="067A55"/>
                          </a:solidFill>
                          <a:latin typeface="Calibri" pitchFamily="34" charset="0"/>
                          <a:ea typeface="Calibri" pitchFamily="34" charset="-122"/>
                          <a:cs typeface="Calibri" pitchFamily="34" charset="-120"/>
                        </a:rPr>
                        <a:t>76.6%</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algn="ctr" indent="0" marL="0">
                        <a:buNone/>
                      </a:pPr>
                      <a:r>
                        <a:rPr lang="en-US" sz="1400" dirty="0">
                          <a:solidFill>
                            <a:srgbClr val="0D1B2A"/>
                          </a:solidFill>
                          <a:latin typeface="Calibri" pitchFamily="34" charset="0"/>
                          <a:ea typeface="Calibri" pitchFamily="34" charset="-122"/>
                          <a:cs typeface="Calibri" pitchFamily="34" charset="-120"/>
                        </a:rPr>
                        <a:t>78.2%</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r>
              <a:tr h="566928">
                <a:tc>
                  <a:txBody>
                    <a:bodyPr/>
                    <a:lstStyle/>
                    <a:p>
                      <a:pPr algn="l" indent="0" marL="0">
                        <a:buNone/>
                      </a:pPr>
                      <a:r>
                        <a:rPr lang="en-US" sz="1400" b="1" dirty="0">
                          <a:solidFill>
                            <a:srgbClr val="0D1B2A"/>
                          </a:solidFill>
                          <a:latin typeface="Calibri" pitchFamily="34" charset="0"/>
                          <a:ea typeface="Calibri" pitchFamily="34" charset="-122"/>
                          <a:cs typeface="Calibri" pitchFamily="34" charset="-120"/>
                        </a:rPr>
                        <a:t>ATmega328P</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1B2A"/>
                          </a:solidFill>
                          <a:latin typeface="Calibri" pitchFamily="34" charset="0"/>
                          <a:ea typeface="Calibri" pitchFamily="34" charset="-122"/>
                          <a:cs typeface="Calibri" pitchFamily="34" charset="-120"/>
                        </a:rPr>
                        <a:t>429.0</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1B2A"/>
                          </a:solidFill>
                          <a:latin typeface="Calibri" pitchFamily="34" charset="0"/>
                          <a:ea typeface="Calibri" pitchFamily="34" charset="-122"/>
                          <a:cs typeface="Calibri" pitchFamily="34" charset="-120"/>
                        </a:rPr>
                        <a:t>106.1</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67A55"/>
                          </a:solidFill>
                          <a:latin typeface="Calibri" pitchFamily="34" charset="0"/>
                          <a:ea typeface="Calibri" pitchFamily="34" charset="-122"/>
                          <a:cs typeface="Calibri" pitchFamily="34" charset="-120"/>
                        </a:rPr>
                        <a:t>75.3%</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1B2A"/>
                          </a:solidFill>
                          <a:latin typeface="Calibri" pitchFamily="34" charset="0"/>
                          <a:ea typeface="Calibri" pitchFamily="34" charset="-122"/>
                          <a:cs typeface="Calibri" pitchFamily="34" charset="-120"/>
                        </a:rPr>
                        <a:t>75.9%</a:t>
                      </a:r>
                      <a:endParaRPr lang="en-US" sz="1400" dirty="0">
                        <a:latin typeface="Calibri" charset="0"/>
                        <a:ea typeface="Calibri" charset="0"/>
                        <a:cs typeface="Calibri" charset="0"/>
                      </a:endParaRPr>
                    </a:p>
                  </a:txBody>
                  <a:tcPr marL="73152" marR="73152" marT="36576" marB="36576"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r>
            </a:tbl>
          </a:graphicData>
        </a:graphic>
      </p:graphicFrame>
      <p:sp>
        <p:nvSpPr>
          <p:cNvPr id="6" name="card-382"/>
          <p:cNvSpPr/>
          <p:nvPr/>
        </p:nvSpPr>
        <p:spPr>
          <a:xfrm>
            <a:off x="9509760" y="4572000"/>
            <a:ext cx="6016752" cy="3108960"/>
          </a:xfrm>
          <a:prstGeom prst="roundRect">
            <a:avLst>
              <a:gd name="adj" fmla="val 3529"/>
            </a:avLst>
          </a:prstGeom>
          <a:solidFill>
            <a:srgbClr val="E8F3F6"/>
          </a:solidFill>
          <a:ln w="15875">
            <a:solidFill>
              <a:srgbClr val="0E7490"/>
            </a:solidFill>
            <a:prstDash val="solid"/>
          </a:ln>
          <a:effectLst>
            <a:outerShdw sx="100000" sy="100000" kx="0" ky="0" algn="bl" rotWithShape="0" blurRad="76200" dist="25400" dir="5400000">
              <a:srgbClr val="9AAEC2">
                <a:alpha val="18000"/>
              </a:srgbClr>
            </a:outerShdw>
          </a:effectLst>
        </p:spPr>
      </p:sp>
      <p:sp>
        <p:nvSpPr>
          <p:cNvPr id="7" name="text-383"/>
          <p:cNvSpPr txBox="1"/>
          <p:nvPr/>
        </p:nvSpPr>
        <p:spPr>
          <a:xfrm>
            <a:off x="9829800" y="4800600"/>
            <a:ext cx="3657600" cy="274320"/>
          </a:xfrm>
          <a:prstGeom prst="rect">
            <a:avLst/>
          </a:prstGeom>
          <a:noFill/>
          <a:ln/>
        </p:spPr>
        <p:txBody>
          <a:bodyPr wrap="square" lIns="0" tIns="0" rIns="0" bIns="0" rtlCol="0" anchor="t"/>
          <a:lstStyle/>
          <a:p>
            <a:pPr algn="l" indent="0" marL="0">
              <a:lnSpc>
                <a:spcPct val="100000"/>
              </a:lnSpc>
              <a:buNone/>
            </a:pPr>
            <a:r>
              <a:rPr lang="en-US" sz="1100" b="1" dirty="0">
                <a:solidFill>
                  <a:srgbClr val="0E7490"/>
                </a:solidFill>
                <a:latin typeface="Calibri" pitchFamily="34" charset="0"/>
                <a:ea typeface="Calibri" pitchFamily="34" charset="-122"/>
                <a:cs typeface="Calibri" pitchFamily="34" charset="-120"/>
              </a:rPr>
              <a:t>DISCUSSION</a:t>
            </a:r>
            <a:endParaRPr lang="en-US" sz="1100" dirty="0"/>
          </a:p>
        </p:txBody>
      </p:sp>
      <p:sp>
        <p:nvSpPr>
          <p:cNvPr id="8" name="list-384"/>
          <p:cNvSpPr txBox="1"/>
          <p:nvPr/>
        </p:nvSpPr>
        <p:spPr>
          <a:xfrm>
            <a:off x="9829800" y="5166360"/>
            <a:ext cx="544068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33475B"/>
                </a:solidFill>
                <a:latin typeface="Calibri" pitchFamily="34" charset="0"/>
                <a:ea typeface="Calibri" pitchFamily="34" charset="-122"/>
                <a:cs typeface="Calibri" pitchFamily="34" charset="-120"/>
              </a:rPr>
              <a:t>Savings stay between 75 and 77% on all three boards, although their speeds differ by 7 times.</a:t>
            </a:r>
            <a:endParaRPr lang="en-US" sz="1600" dirty="0"/>
          </a:p>
          <a:p>
            <a:pPr marL="342900" indent="-342900">
              <a:spcAft>
                <a:spcPts val="800"/>
              </a:spcAft>
              <a:buSzPct val="100000"/>
              <a:buChar char="•"/>
            </a:pPr>
            <a:r>
              <a:rPr lang="en-US" sz="1600" dirty="0">
                <a:solidFill>
                  <a:srgbClr val="33475B"/>
                </a:solidFill>
                <a:latin typeface="Calibri" pitchFamily="34" charset="0"/>
                <a:ea typeface="Calibri" pitchFamily="34" charset="-122"/>
                <a:cs typeface="Calibri" pitchFamily="34" charset="-120"/>
              </a:rPr>
              <a:t>The reason: Ed25519 is a similar share of the pipeline everywhere (75 to 78%), and most bad packages never reach it.</a:t>
            </a:r>
            <a:endParaRPr lang="en-US" sz="1600" dirty="0"/>
          </a:p>
          <a:p>
            <a:pPr marL="342900" indent="-342900">
              <a:spcAft>
                <a:spcPts val="800"/>
              </a:spcAft>
              <a:buSzPct val="100000"/>
              <a:buChar char="•"/>
            </a:pPr>
            <a:r>
              <a:rPr lang="en-US" sz="1600" dirty="0">
                <a:solidFill>
                  <a:srgbClr val="33475B"/>
                </a:solidFill>
                <a:latin typeface="Calibri" pitchFamily="34" charset="0"/>
                <a:ea typeface="Calibri" pitchFamily="34" charset="-122"/>
                <a:cs typeface="Calibri" pitchFamily="34" charset="-120"/>
              </a:rPr>
              <a:t>Framework cost on flash: 11 KB to 30 KB.</a:t>
            </a:r>
            <a:endParaRPr lang="en-US" sz="16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8. Results and Discussion: Comparison</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SecureOTA against three recent secure OTA frameworks (paper, Table III)</a:t>
            </a:r>
            <a:endParaRPr lang="en-US" sz="1600" dirty="0"/>
          </a:p>
        </p:txBody>
      </p:sp>
      <p:graphicFrame>
        <p:nvGraphicFramePr>
          <p:cNvPr id="15" name="table-385"/>
          <p:cNvGraphicFramePr>
            <a:graphicFrameLocks noGrp="1"/>
          </p:cNvGraphicFramePr>
          <p:nvPr>
            <p:extLst>
              <p:ext uri="{D42A27DB-BD31-4B8C-83A1-F6EECF244321}">
                <p14:modId xmlns:p14="http://schemas.microsoft.com/office/powerpoint/2010/main" val="1579011935"/>
              </p:ext>
            </p:extLst>
          </p:nvPr>
        </p:nvGraphicFramePr>
        <p:xfrm>
          <a:off x="731520" y="1828800"/>
          <a:ext cx="14794992" cy="914400"/>
        </p:xfrm>
        <a:graphic>
          <a:graphicData uri="http://schemas.openxmlformats.org/drawingml/2006/table">
            <a:tbl>
              <a:tblPr/>
              <a:tblGrid>
                <a:gridCol w="2743200"/>
                <a:gridCol w="2834640"/>
                <a:gridCol w="3017520"/>
                <a:gridCol w="2834640"/>
                <a:gridCol w="3364992"/>
              </a:tblGrid>
              <a:tr h="548640">
                <a:tc>
                  <a:txBody>
                    <a:bodyPr/>
                    <a:lstStyle/>
                    <a:p>
                      <a:pPr algn="l" indent="0" marL="0">
                        <a:buNone/>
                      </a:pP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0D1B2A"/>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Carnevale et al. [15]</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0D1B2A"/>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Shin et al. [10]</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0D1B2A"/>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Park et al. [5]</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0D1B2A"/>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SecureOTA (ours)</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067A55"/>
                    </a:solidFill>
                  </a:tcPr>
                </a:tc>
              </a:tr>
              <a:tr h="804672">
                <a:tc>
                  <a:txBody>
                    <a:bodyPr/>
                    <a:lstStyle/>
                    <a:p>
                      <a:pPr indent="0" marL="0">
                        <a:buNone/>
                      </a:pPr>
                      <a:r>
                        <a:rPr lang="en-US" sz="1350" b="1" dirty="0">
                          <a:solidFill>
                            <a:srgbClr val="0D1B2A"/>
                          </a:solidFill>
                          <a:latin typeface="Calibri" pitchFamily="34" charset="0"/>
                          <a:ea typeface="Calibri" pitchFamily="34" charset="-122"/>
                          <a:cs typeface="Calibri" pitchFamily="34" charset="-120"/>
                        </a:rPr>
                        <a:t>Evaluation platform</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ESP32 wireless mesh</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MQTT OTA for software-defined vehicles</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Python on an Intel i7 laptop</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350" b="1" dirty="0">
                          <a:solidFill>
                            <a:srgbClr val="067A55"/>
                          </a:solidFill>
                          <a:latin typeface="Calibri" pitchFamily="34" charset="0"/>
                          <a:ea typeface="Calibri" pitchFamily="34" charset="-122"/>
                          <a:cs typeface="Calibri" pitchFamily="34" charset="-120"/>
                        </a:rPr>
                        <a:t>ESP32, ESP8266, ATmega328P</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E8F5EF"/>
                    </a:solidFill>
                  </a:tcPr>
                </a:tc>
              </a:tr>
              <a:tr h="804672">
                <a:tc>
                  <a:txBody>
                    <a:bodyPr/>
                    <a:lstStyle/>
                    <a:p>
                      <a:pPr indent="0" marL="0">
                        <a:buNone/>
                      </a:pPr>
                      <a:r>
                        <a:rPr lang="en-US" sz="1350" b="1" dirty="0">
                          <a:solidFill>
                            <a:srgbClr val="0D1B2A"/>
                          </a:solidFill>
                          <a:latin typeface="Calibri" pitchFamily="34" charset="0"/>
                          <a:ea typeface="Calibri" pitchFamily="34" charset="-122"/>
                          <a:cs typeface="Calibri" pitchFamily="34" charset="-120"/>
                        </a:rPr>
                        <a:t>Firmware protection</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Key pairing and digital signature</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TLS plus Merkle tree root hash</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Dual XOR with key table, DEFLATE</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350" b="1" dirty="0">
                          <a:solidFill>
                            <a:srgbClr val="067A55"/>
                          </a:solidFill>
                          <a:latin typeface="Calibri" pitchFamily="34" charset="0"/>
                          <a:ea typeface="Calibri" pitchFamily="34" charset="-122"/>
                          <a:cs typeface="Calibri" pitchFamily="34" charset="-120"/>
                        </a:rPr>
                        <a:t>SHA-256, HMAC and Ed25519 signature</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E8F5EF"/>
                    </a:solidFill>
                  </a:tcPr>
                </a:tc>
              </a:tr>
              <a:tr h="804672">
                <a:tc>
                  <a:txBody>
                    <a:bodyPr/>
                    <a:lstStyle/>
                    <a:p>
                      <a:pPr indent="0" marL="0">
                        <a:buNone/>
                      </a:pPr>
                      <a:r>
                        <a:rPr lang="en-US" sz="1350" b="1" dirty="0">
                          <a:solidFill>
                            <a:srgbClr val="0D1B2A"/>
                          </a:solidFill>
                          <a:latin typeface="Calibri" pitchFamily="34" charset="0"/>
                          <a:ea typeface="Calibri" pitchFamily="34" charset="-122"/>
                          <a:cs typeface="Calibri" pitchFamily="34" charset="-120"/>
                        </a:rPr>
                        <a:t>Replay / rollback control</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Freshness quarantine</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Merkle tree detects duplicate updates</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Not addressed</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350" b="1" dirty="0">
                          <a:solidFill>
                            <a:srgbClr val="067A55"/>
                          </a:solidFill>
                          <a:latin typeface="Calibri" pitchFamily="34" charset="0"/>
                          <a:ea typeface="Calibri" pitchFamily="34" charset="-122"/>
                          <a:cs typeface="Calibri" pitchFamily="34" charset="-120"/>
                        </a:rPr>
                        <a:t>Persistent counter and version-aware policy</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E8F5EF"/>
                    </a:solidFill>
                  </a:tcPr>
                </a:tc>
              </a:tr>
              <a:tr h="804672">
                <a:tc>
                  <a:txBody>
                    <a:bodyPr/>
                    <a:lstStyle/>
                    <a:p>
                      <a:pPr indent="0" marL="0">
                        <a:buNone/>
                      </a:pPr>
                      <a:r>
                        <a:rPr lang="en-US" sz="1350" b="1" dirty="0">
                          <a:solidFill>
                            <a:srgbClr val="0D1B2A"/>
                          </a:solidFill>
                          <a:latin typeface="Calibri" pitchFamily="34" charset="0"/>
                          <a:ea typeface="Calibri" pitchFamily="34" charset="-122"/>
                          <a:cs typeface="Calibri" pitchFamily="34" charset="-120"/>
                        </a:rPr>
                        <a:t>Staged early rejection</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No</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No</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No</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350" b="1" dirty="0">
                          <a:solidFill>
                            <a:srgbClr val="067A55"/>
                          </a:solidFill>
                          <a:latin typeface="Calibri" pitchFamily="34" charset="0"/>
                          <a:ea typeface="Calibri" pitchFamily="34" charset="-122"/>
                          <a:cs typeface="Calibri" pitchFamily="34" charset="-120"/>
                        </a:rPr>
                        <a:t>Yes, five-gate TCV (86.7% before signature)</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E8F5EF"/>
                    </a:solidFill>
                  </a:tcPr>
                </a:tc>
              </a:tr>
              <a:tr h="804672">
                <a:tc>
                  <a:txBody>
                    <a:bodyPr/>
                    <a:lstStyle/>
                    <a:p>
                      <a:pPr indent="0" marL="0">
                        <a:buNone/>
                      </a:pPr>
                      <a:r>
                        <a:rPr lang="en-US" sz="1350" b="1" dirty="0">
                          <a:solidFill>
                            <a:srgbClr val="0D1B2A"/>
                          </a:solidFill>
                          <a:latin typeface="Calibri" pitchFamily="34" charset="0"/>
                          <a:ea typeface="Calibri" pitchFamily="34" charset="-122"/>
                          <a:cs typeface="Calibri" pitchFamily="34" charset="-120"/>
                        </a:rPr>
                        <a:t>Authenticated device status</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Not stated</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No</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No</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3F6F9"/>
                    </a:solidFill>
                  </a:tcPr>
                </a:tc>
                <a:tc>
                  <a:txBody>
                    <a:bodyPr/>
                    <a:lstStyle/>
                    <a:p>
                      <a:pPr indent="0" marL="0">
                        <a:buNone/>
                      </a:pPr>
                      <a:r>
                        <a:rPr lang="en-US" sz="1350" b="1" dirty="0">
                          <a:solidFill>
                            <a:srgbClr val="067A55"/>
                          </a:solidFill>
                          <a:latin typeface="Calibri" pitchFamily="34" charset="0"/>
                          <a:ea typeface="Calibri" pitchFamily="34" charset="-122"/>
                          <a:cs typeface="Calibri" pitchFamily="34" charset="-120"/>
                        </a:rPr>
                        <a:t>Yes, sealed beacons, dashboard under 2 s</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E8F5EF"/>
                    </a:solidFill>
                  </a:tcPr>
                </a:tc>
              </a:tr>
              <a:tr h="804672">
                <a:tc>
                  <a:txBody>
                    <a:bodyPr/>
                    <a:lstStyle/>
                    <a:p>
                      <a:pPr indent="0" marL="0">
                        <a:buNone/>
                      </a:pPr>
                      <a:r>
                        <a:rPr lang="en-US" sz="1350" b="1" dirty="0">
                          <a:solidFill>
                            <a:srgbClr val="0D1B2A"/>
                          </a:solidFill>
                          <a:latin typeface="Calibri" pitchFamily="34" charset="0"/>
                          <a:ea typeface="Calibri" pitchFamily="34" charset="-122"/>
                          <a:cs typeface="Calibri" pitchFamily="34" charset="-120"/>
                        </a:rPr>
                        <a:t>Automated signing and release</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No</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No</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350" dirty="0">
                          <a:solidFill>
                            <a:srgbClr val="33475B"/>
                          </a:solidFill>
                          <a:latin typeface="Calibri" pitchFamily="34" charset="0"/>
                          <a:ea typeface="Calibri" pitchFamily="34" charset="-122"/>
                          <a:cs typeface="Calibri" pitchFamily="34" charset="-120"/>
                        </a:rPr>
                        <a:t>No</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350" b="1" dirty="0">
                          <a:solidFill>
                            <a:srgbClr val="067A55"/>
                          </a:solidFill>
                          <a:latin typeface="Calibri" pitchFamily="34" charset="0"/>
                          <a:ea typeface="Calibri" pitchFamily="34" charset="-122"/>
                          <a:cs typeface="Calibri" pitchFamily="34" charset="-120"/>
                        </a:rPr>
                        <a:t>Yes, GitHub Actions with Ed25519</a:t>
                      </a:r>
                      <a:endParaRPr lang="en-US" sz="1350" dirty="0">
                        <a:latin typeface="Calibri" charset="0"/>
                        <a:ea typeface="Calibri" charset="0"/>
                        <a:cs typeface="Calibri" charset="0"/>
                      </a:endParaRPr>
                    </a:p>
                  </a:txBody>
                  <a:tcPr marL="109728" marR="109728" marT="45720" marB="45720" anchor="ctr">
                    <a:lnL w="12700" cap="flat" cmpd="sng" algn="ctr">
                      <a:solidFill>
                        <a:srgbClr val="C9D4DE"/>
                      </a:solidFill>
                      <a:prstDash val="solid"/>
                      <a:round/>
                      <a:headEnd type="none" w="med" len="med"/>
                      <a:tailEnd type="none" w="med" len="med"/>
                    </a:lnL>
                    <a:lnR w="12700" cap="flat" cmpd="sng" algn="ctr">
                      <a:solidFill>
                        <a:srgbClr val="C9D4DE"/>
                      </a:solidFill>
                      <a:prstDash val="solid"/>
                      <a:round/>
                      <a:headEnd type="none" w="med" len="med"/>
                      <a:tailEnd type="none" w="med" len="med"/>
                    </a:lnR>
                    <a:lnT w="12700" cap="flat" cmpd="sng" algn="ctr">
                      <a:solidFill>
                        <a:srgbClr val="C9D4DE"/>
                      </a:solidFill>
                      <a:prstDash val="solid"/>
                      <a:round/>
                      <a:headEnd type="none" w="med" len="med"/>
                      <a:tailEnd type="none" w="med" len="med"/>
                    </a:lnT>
                    <a:lnB w="12700" cap="flat" cmpd="sng" algn="ctr">
                      <a:solidFill>
                        <a:srgbClr val="C9D4DE"/>
                      </a:solidFill>
                      <a:prstDash val="solid"/>
                      <a:round/>
                      <a:headEnd type="none" w="med" len="med"/>
                      <a:tailEnd type="none" w="med" len="med"/>
                    </a:lnB>
                    <a:solidFill>
                      <a:srgbClr val="E8F5EF"/>
                    </a:solidFill>
                  </a:tcPr>
                </a:tc>
              </a:tr>
            </a:tbl>
          </a:graphicData>
        </a:graphic>
      </p:graphicFrame>
      <p:sp>
        <p:nvSpPr>
          <p:cNvPr id="5" name="card-386"/>
          <p:cNvSpPr/>
          <p:nvPr/>
        </p:nvSpPr>
        <p:spPr>
          <a:xfrm>
            <a:off x="731520" y="7543800"/>
            <a:ext cx="14794992" cy="731520"/>
          </a:xfrm>
          <a:prstGeom prst="roundRect">
            <a:avLst>
              <a:gd name="adj" fmla="val 15000"/>
            </a:avLst>
          </a:prstGeom>
          <a:solidFill>
            <a:srgbClr val="F3F6F9"/>
          </a:solidFill>
          <a:ln w="15875">
            <a:solidFill>
              <a:srgbClr val="C9D4DE"/>
            </a:solidFill>
            <a:prstDash val="solid"/>
          </a:ln>
        </p:spPr>
      </p:sp>
      <p:sp>
        <p:nvSpPr>
          <p:cNvPr id="6" name="text-387"/>
          <p:cNvSpPr txBox="1"/>
          <p:nvPr/>
        </p:nvSpPr>
        <p:spPr>
          <a:xfrm>
            <a:off x="1051560" y="7543800"/>
            <a:ext cx="14154912" cy="731520"/>
          </a:xfrm>
          <a:prstGeom prst="rect">
            <a:avLst/>
          </a:prstGeom>
          <a:noFill/>
          <a:ln/>
        </p:spPr>
        <p:txBody>
          <a:bodyPr wrap="square" lIns="0" tIns="0" rIns="0" bIns="0" rtlCol="0" anchor="ctr"/>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None of the three rejects bad packages in stages, monitors devices or automates signing. SecureOTA does all three on real boards, with measured timings.</a:t>
            </a:r>
            <a:endParaRPr lang="en-US" sz="15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9. Conclusion</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What SecureOTA achieves</a:t>
            </a:r>
            <a:endParaRPr lang="en-US" sz="1600" dirty="0"/>
          </a:p>
        </p:txBody>
      </p:sp>
      <p:sp>
        <p:nvSpPr>
          <p:cNvPr id="4" name="card-388"/>
          <p:cNvSpPr/>
          <p:nvPr/>
        </p:nvSpPr>
        <p:spPr>
          <a:xfrm>
            <a:off x="731520" y="1828800"/>
            <a:ext cx="4736592" cy="4572000"/>
          </a:xfrm>
          <a:prstGeom prst="roundRect">
            <a:avLst>
              <a:gd name="adj" fmla="val 2400"/>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5" name="iconbg-389"/>
          <p:cNvSpPr/>
          <p:nvPr/>
        </p:nvSpPr>
        <p:spPr>
          <a:xfrm>
            <a:off x="1097280" y="2194560"/>
            <a:ext cx="1005840" cy="1005840"/>
          </a:xfrm>
          <a:prstGeom prst="ellipse">
            <a:avLst/>
          </a:prstGeom>
          <a:solidFill>
            <a:srgbClr val="E8F3F6"/>
          </a:solidFill>
          <a:ln w="15875">
            <a:solidFill>
              <a:srgbClr val="0E7490"/>
            </a:solidFill>
            <a:prstDash val="solid"/>
          </a:ln>
        </p:spPr>
      </p:sp>
      <p:pic>
        <p:nvPicPr>
          <p:cNvPr id="6" name="icon-390" descr="preencoded.png">    </p:cNvPr>
          <p:cNvPicPr>
            <a:picLocks noChangeAspect="1"/>
          </p:cNvPicPr>
          <p:nvPr/>
        </p:nvPicPr>
        <p:blipFill>
          <a:blip r:embed="rId1"/>
          <a:stretch>
            <a:fillRect/>
          </a:stretch>
        </p:blipFill>
        <p:spPr>
          <a:xfrm>
            <a:off x="1358798" y="2456078"/>
            <a:ext cx="482803" cy="482803"/>
          </a:xfrm>
          <a:prstGeom prst="rect">
            <a:avLst/>
          </a:prstGeom>
        </p:spPr>
      </p:pic>
      <p:sp>
        <p:nvSpPr>
          <p:cNvPr id="7" name="text-391"/>
          <p:cNvSpPr txBox="1"/>
          <p:nvPr/>
        </p:nvSpPr>
        <p:spPr>
          <a:xfrm>
            <a:off x="1097280" y="3429000"/>
            <a:ext cx="4023360" cy="868680"/>
          </a:xfrm>
          <a:prstGeom prst="rect">
            <a:avLst/>
          </a:prstGeom>
          <a:noFill/>
          <a:ln/>
        </p:spPr>
        <p:txBody>
          <a:bodyPr wrap="square" lIns="0" tIns="0" rIns="0" bIns="0" rtlCol="0" anchor="t"/>
          <a:lstStyle/>
          <a:p>
            <a:pPr algn="l" indent="0" marL="0">
              <a:lnSpc>
                <a:spcPct val="105000"/>
              </a:lnSpc>
              <a:buNone/>
            </a:pPr>
            <a:r>
              <a:rPr lang="en-US" sz="2000" b="1" dirty="0">
                <a:solidFill>
                  <a:srgbClr val="0D1B2A"/>
                </a:solidFill>
                <a:latin typeface="Cambria" pitchFamily="34" charset="0"/>
                <a:ea typeface="Cambria" pitchFamily="34" charset="-122"/>
                <a:cs typeface="Cambria" pitchFamily="34" charset="-120"/>
              </a:rPr>
              <a:t>Trusted updates and status</a:t>
            </a:r>
            <a:endParaRPr lang="en-US" sz="2000" dirty="0"/>
          </a:p>
        </p:txBody>
      </p:sp>
      <p:sp>
        <p:nvSpPr>
          <p:cNvPr id="8" name="text-392"/>
          <p:cNvSpPr txBox="1"/>
          <p:nvPr/>
        </p:nvSpPr>
        <p:spPr>
          <a:xfrm>
            <a:off x="1097280" y="4343400"/>
            <a:ext cx="4023360" cy="1920240"/>
          </a:xfrm>
          <a:prstGeom prst="rect">
            <a:avLst/>
          </a:prstGeom>
          <a:noFill/>
          <a:ln/>
        </p:spPr>
        <p:txBody>
          <a:bodyPr wrap="square" lIns="0" tIns="0" rIns="0" bIns="0" rtlCol="0" anchor="t"/>
          <a:lstStyle/>
          <a:p>
            <a:pPr algn="l" indent="0" marL="0">
              <a:lnSpc>
                <a:spcPct val="105000"/>
              </a:lnSpc>
              <a:buNone/>
            </a:pPr>
            <a:r>
              <a:rPr lang="en-US" sz="1700" dirty="0">
                <a:solidFill>
                  <a:srgbClr val="33475B"/>
                </a:solidFill>
                <a:latin typeface="Calibri" pitchFamily="34" charset="0"/>
                <a:ea typeface="Calibri" pitchFamily="34" charset="-122"/>
                <a:cs typeface="Calibri" pitchFamily="34" charset="-120"/>
              </a:rPr>
              <a:t>Workflow-bound Ed25519 signing and sealed beacons with HMAC and persistent counters stop forged and replayed firmware and status.</a:t>
            </a:r>
            <a:endParaRPr lang="en-US" sz="1700" dirty="0"/>
          </a:p>
        </p:txBody>
      </p:sp>
      <p:sp>
        <p:nvSpPr>
          <p:cNvPr id="9" name="card-393"/>
          <p:cNvSpPr/>
          <p:nvPr/>
        </p:nvSpPr>
        <p:spPr>
          <a:xfrm>
            <a:off x="5760720" y="1828800"/>
            <a:ext cx="4736592" cy="4572000"/>
          </a:xfrm>
          <a:prstGeom prst="roundRect">
            <a:avLst>
              <a:gd name="adj" fmla="val 2400"/>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10" name="iconbg-394"/>
          <p:cNvSpPr/>
          <p:nvPr/>
        </p:nvSpPr>
        <p:spPr>
          <a:xfrm>
            <a:off x="6126480" y="2194560"/>
            <a:ext cx="1005840" cy="1005840"/>
          </a:xfrm>
          <a:prstGeom prst="ellipse">
            <a:avLst/>
          </a:prstGeom>
          <a:solidFill>
            <a:srgbClr val="E8F5EF"/>
          </a:solidFill>
          <a:ln w="15875">
            <a:solidFill>
              <a:srgbClr val="067A55"/>
            </a:solidFill>
            <a:prstDash val="solid"/>
          </a:ln>
        </p:spPr>
      </p:sp>
      <p:pic>
        <p:nvPicPr>
          <p:cNvPr id="11" name="icon-395" descr="preencoded.png">    </p:cNvPr>
          <p:cNvPicPr>
            <a:picLocks noChangeAspect="1"/>
          </p:cNvPicPr>
          <p:nvPr/>
        </p:nvPicPr>
        <p:blipFill>
          <a:blip r:embed="rId2"/>
          <a:stretch>
            <a:fillRect/>
          </a:stretch>
        </p:blipFill>
        <p:spPr>
          <a:xfrm>
            <a:off x="6387998" y="2456078"/>
            <a:ext cx="482803" cy="482803"/>
          </a:xfrm>
          <a:prstGeom prst="rect">
            <a:avLst/>
          </a:prstGeom>
        </p:spPr>
      </p:pic>
      <p:sp>
        <p:nvSpPr>
          <p:cNvPr id="12" name="text-396"/>
          <p:cNvSpPr txBox="1"/>
          <p:nvPr/>
        </p:nvSpPr>
        <p:spPr>
          <a:xfrm>
            <a:off x="6126480" y="3429000"/>
            <a:ext cx="4023360" cy="868680"/>
          </a:xfrm>
          <a:prstGeom prst="rect">
            <a:avLst/>
          </a:prstGeom>
          <a:noFill/>
          <a:ln/>
        </p:spPr>
        <p:txBody>
          <a:bodyPr wrap="square" lIns="0" tIns="0" rIns="0" bIns="0" rtlCol="0" anchor="t"/>
          <a:lstStyle/>
          <a:p>
            <a:pPr algn="l" indent="0" marL="0">
              <a:lnSpc>
                <a:spcPct val="105000"/>
              </a:lnSpc>
              <a:buNone/>
            </a:pPr>
            <a:r>
              <a:rPr lang="en-US" sz="2000" b="1" dirty="0">
                <a:solidFill>
                  <a:srgbClr val="0D1B2A"/>
                </a:solidFill>
                <a:latin typeface="Cambria" pitchFamily="34" charset="0"/>
                <a:ea typeface="Cambria" pitchFamily="34" charset="-122"/>
                <a:cs typeface="Cambria" pitchFamily="34" charset="-120"/>
              </a:rPr>
              <a:t>Cheap rejection of bad packages</a:t>
            </a:r>
            <a:endParaRPr lang="en-US" sz="2000" dirty="0"/>
          </a:p>
        </p:txBody>
      </p:sp>
      <p:sp>
        <p:nvSpPr>
          <p:cNvPr id="13" name="text-397"/>
          <p:cNvSpPr txBox="1"/>
          <p:nvPr/>
        </p:nvSpPr>
        <p:spPr>
          <a:xfrm>
            <a:off x="6126480" y="4343400"/>
            <a:ext cx="4023360" cy="1920240"/>
          </a:xfrm>
          <a:prstGeom prst="rect">
            <a:avLst/>
          </a:prstGeom>
          <a:noFill/>
          <a:ln/>
        </p:spPr>
        <p:txBody>
          <a:bodyPr wrap="square" lIns="0" tIns="0" rIns="0" bIns="0" rtlCol="0" anchor="t"/>
          <a:lstStyle/>
          <a:p>
            <a:pPr algn="l" indent="0" marL="0">
              <a:lnSpc>
                <a:spcPct val="105000"/>
              </a:lnSpc>
              <a:buNone/>
            </a:pPr>
            <a:r>
              <a:rPr lang="en-US" sz="1700" dirty="0">
                <a:solidFill>
                  <a:srgbClr val="33475B"/>
                </a:solidFill>
                <a:latin typeface="Calibri" pitchFamily="34" charset="0"/>
                <a:ea typeface="Calibri" pitchFamily="34" charset="-122"/>
                <a:cs typeface="Calibri" pitchFamily="34" charset="-120"/>
              </a:rPr>
              <a:t>86.7% of invalid packages are dropped before the signature gate; the time spent on a bad package falls by about 75% on all three boards.</a:t>
            </a:r>
            <a:endParaRPr lang="en-US" sz="1700" dirty="0"/>
          </a:p>
        </p:txBody>
      </p:sp>
      <p:sp>
        <p:nvSpPr>
          <p:cNvPr id="14" name="card-398"/>
          <p:cNvSpPr/>
          <p:nvPr/>
        </p:nvSpPr>
        <p:spPr>
          <a:xfrm>
            <a:off x="10789920" y="1828800"/>
            <a:ext cx="4736592" cy="4572000"/>
          </a:xfrm>
          <a:prstGeom prst="roundRect">
            <a:avLst>
              <a:gd name="adj" fmla="val 2400"/>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15" name="iconbg-399"/>
          <p:cNvSpPr/>
          <p:nvPr/>
        </p:nvSpPr>
        <p:spPr>
          <a:xfrm>
            <a:off x="11155680" y="2194560"/>
            <a:ext cx="1005840" cy="1005840"/>
          </a:xfrm>
          <a:prstGeom prst="ellipse">
            <a:avLst/>
          </a:prstGeom>
          <a:solidFill>
            <a:srgbClr val="FBF4E6"/>
          </a:solidFill>
          <a:ln w="15875">
            <a:solidFill>
              <a:srgbClr val="96650A"/>
            </a:solidFill>
            <a:prstDash val="solid"/>
          </a:ln>
        </p:spPr>
      </p:sp>
      <p:pic>
        <p:nvPicPr>
          <p:cNvPr id="16" name="icon-400" descr="preencoded.png">    </p:cNvPr>
          <p:cNvPicPr>
            <a:picLocks noChangeAspect="1"/>
          </p:cNvPicPr>
          <p:nvPr/>
        </p:nvPicPr>
        <p:blipFill>
          <a:blip r:embed="rId3"/>
          <a:stretch>
            <a:fillRect/>
          </a:stretch>
        </p:blipFill>
        <p:spPr>
          <a:xfrm>
            <a:off x="11417198" y="2456078"/>
            <a:ext cx="482803" cy="482803"/>
          </a:xfrm>
          <a:prstGeom prst="rect">
            <a:avLst/>
          </a:prstGeom>
        </p:spPr>
      </p:pic>
      <p:sp>
        <p:nvSpPr>
          <p:cNvPr id="17" name="text-401"/>
          <p:cNvSpPr txBox="1"/>
          <p:nvPr/>
        </p:nvSpPr>
        <p:spPr>
          <a:xfrm>
            <a:off x="11155680" y="3429000"/>
            <a:ext cx="4023360" cy="868680"/>
          </a:xfrm>
          <a:prstGeom prst="rect">
            <a:avLst/>
          </a:prstGeom>
          <a:noFill/>
          <a:ln/>
        </p:spPr>
        <p:txBody>
          <a:bodyPr wrap="square" lIns="0" tIns="0" rIns="0" bIns="0" rtlCol="0" anchor="t"/>
          <a:lstStyle/>
          <a:p>
            <a:pPr algn="l" indent="0" marL="0">
              <a:lnSpc>
                <a:spcPct val="105000"/>
              </a:lnSpc>
              <a:buNone/>
            </a:pPr>
            <a:r>
              <a:rPr lang="en-US" sz="2000" b="1" dirty="0">
                <a:solidFill>
                  <a:srgbClr val="0D1B2A"/>
                </a:solidFill>
                <a:latin typeface="Cambria" pitchFamily="34" charset="0"/>
                <a:ea typeface="Cambria" pitchFamily="34" charset="-122"/>
                <a:cs typeface="Cambria" pitchFamily="34" charset="-120"/>
              </a:rPr>
              <a:t>Self-healing fleet</a:t>
            </a:r>
            <a:endParaRPr lang="en-US" sz="2000" dirty="0"/>
          </a:p>
        </p:txBody>
      </p:sp>
      <p:sp>
        <p:nvSpPr>
          <p:cNvPr id="18" name="text-402"/>
          <p:cNvSpPr txBox="1"/>
          <p:nvPr/>
        </p:nvSpPr>
        <p:spPr>
          <a:xfrm>
            <a:off x="11155680" y="4343400"/>
            <a:ext cx="4023360" cy="1920240"/>
          </a:xfrm>
          <a:prstGeom prst="rect">
            <a:avLst/>
          </a:prstGeom>
          <a:noFill/>
          <a:ln/>
        </p:spPr>
        <p:txBody>
          <a:bodyPr wrap="square" lIns="0" tIns="0" rIns="0" bIns="0" rtlCol="0" anchor="t"/>
          <a:lstStyle/>
          <a:p>
            <a:pPr algn="l" indent="0" marL="0">
              <a:lnSpc>
                <a:spcPct val="105000"/>
              </a:lnSpc>
              <a:buNone/>
            </a:pPr>
            <a:r>
              <a:rPr lang="en-US" sz="1700" dirty="0">
                <a:solidFill>
                  <a:srgbClr val="33475B"/>
                </a:solidFill>
                <a:latin typeface="Calibri" pitchFamily="34" charset="0"/>
                <a:ea typeface="Calibri" pitchFamily="34" charset="-122"/>
                <a:cs typeface="Calibri" pitchFamily="34" charset="-120"/>
              </a:rPr>
              <a:t>Post-boot self-test, automatic rollback and health-score quarantine remove failing devices from the update cycle without an operator.</a:t>
            </a:r>
            <a:endParaRPr lang="en-US" sz="1700" dirty="0"/>
          </a:p>
        </p:txBody>
      </p:sp>
      <p:sp>
        <p:nvSpPr>
          <p:cNvPr id="19" name="card-403"/>
          <p:cNvSpPr/>
          <p:nvPr/>
        </p:nvSpPr>
        <p:spPr>
          <a:xfrm>
            <a:off x="731520" y="6766560"/>
            <a:ext cx="14794992" cy="1463040"/>
          </a:xfrm>
          <a:prstGeom prst="roundRect">
            <a:avLst>
              <a:gd name="adj" fmla="val 7500"/>
            </a:avLst>
          </a:prstGeom>
          <a:solidFill>
            <a:srgbClr val="0D1B2A"/>
          </a:solidFill>
          <a:ln w="15875">
            <a:solidFill>
              <a:srgbClr val="0D1B2A"/>
            </a:solidFill>
            <a:prstDash val="solid"/>
          </a:ln>
          <a:effectLst>
            <a:outerShdw sx="100000" sy="100000" kx="0" ky="0" algn="bl" rotWithShape="0" blurRad="76200" dist="25400" dir="5400000">
              <a:srgbClr val="9AAEC2">
                <a:alpha val="18000"/>
              </a:srgbClr>
            </a:outerShdw>
          </a:effectLst>
        </p:spPr>
      </p:sp>
      <p:sp>
        <p:nvSpPr>
          <p:cNvPr id="20" name="text-404"/>
          <p:cNvSpPr txBox="1"/>
          <p:nvPr/>
        </p:nvSpPr>
        <p:spPr>
          <a:xfrm>
            <a:off x="1188720" y="6766560"/>
            <a:ext cx="13880592" cy="1463040"/>
          </a:xfrm>
          <a:prstGeom prst="rect">
            <a:avLst/>
          </a:prstGeom>
          <a:noFill/>
          <a:ln/>
        </p:spPr>
        <p:txBody>
          <a:bodyPr wrap="square" lIns="0" tIns="0" rIns="0" bIns="0" rtlCol="0" anchor="ctr"/>
          <a:lstStyle/>
          <a:p>
            <a:pPr algn="l" indent="0" marL="0">
              <a:lnSpc>
                <a:spcPct val="105000"/>
              </a:lnSpc>
              <a:buNone/>
            </a:pPr>
            <a:r>
              <a:rPr lang="en-US" sz="2000" b="1" dirty="0">
                <a:solidFill>
                  <a:srgbClr val="FFFFFF"/>
                </a:solidFill>
                <a:latin typeface="Cambria" pitchFamily="34" charset="0"/>
                <a:ea typeface="Cambria" pitchFamily="34" charset="-122"/>
                <a:cs typeface="Cambria" pitchFamily="34" charset="-120"/>
              </a:rPr>
              <a:t>SecureOTA gives low-cost, mixed IoT hardware verified updates and an authenticated live view of the fleet, at a flash cost of 11 KB to 30 KB.</a:t>
            </a:r>
            <a:endParaRPr lang="en-US" sz="20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10. Future Enhancements</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Next steps named in the paper</a:t>
            </a:r>
            <a:endParaRPr lang="en-US" sz="1600" dirty="0"/>
          </a:p>
        </p:txBody>
      </p:sp>
      <p:sp>
        <p:nvSpPr>
          <p:cNvPr id="4" name="card-405"/>
          <p:cNvSpPr/>
          <p:nvPr/>
        </p:nvSpPr>
        <p:spPr>
          <a:xfrm>
            <a:off x="731520" y="1828800"/>
            <a:ext cx="4736592" cy="2926080"/>
          </a:xfrm>
          <a:prstGeom prst="roundRect">
            <a:avLst>
              <a:gd name="adj" fmla="val 3750"/>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5" name="iconbg-406"/>
          <p:cNvSpPr/>
          <p:nvPr/>
        </p:nvSpPr>
        <p:spPr>
          <a:xfrm>
            <a:off x="1097280" y="2194560"/>
            <a:ext cx="868680" cy="868680"/>
          </a:xfrm>
          <a:prstGeom prst="ellipse">
            <a:avLst/>
          </a:prstGeom>
          <a:solidFill>
            <a:srgbClr val="E8F3F6"/>
          </a:solidFill>
          <a:ln w="15875">
            <a:solidFill>
              <a:srgbClr val="0E7490"/>
            </a:solidFill>
            <a:prstDash val="solid"/>
          </a:ln>
        </p:spPr>
      </p:sp>
      <p:pic>
        <p:nvPicPr>
          <p:cNvPr id="6" name="icon-407" descr="preencoded.png">    </p:cNvPr>
          <p:cNvPicPr>
            <a:picLocks noChangeAspect="1"/>
          </p:cNvPicPr>
          <p:nvPr/>
        </p:nvPicPr>
        <p:blipFill>
          <a:blip r:embed="rId1"/>
          <a:stretch>
            <a:fillRect/>
          </a:stretch>
        </p:blipFill>
        <p:spPr>
          <a:xfrm>
            <a:off x="1323137" y="2420417"/>
            <a:ext cx="416966" cy="416966"/>
          </a:xfrm>
          <a:prstGeom prst="rect">
            <a:avLst/>
          </a:prstGeom>
        </p:spPr>
      </p:pic>
      <p:sp>
        <p:nvSpPr>
          <p:cNvPr id="7" name="text-408"/>
          <p:cNvSpPr txBox="1"/>
          <p:nvPr/>
        </p:nvSpPr>
        <p:spPr>
          <a:xfrm>
            <a:off x="4389120" y="2240280"/>
            <a:ext cx="731520" cy="457200"/>
          </a:xfrm>
          <a:prstGeom prst="rect">
            <a:avLst/>
          </a:prstGeom>
          <a:noFill/>
          <a:ln/>
        </p:spPr>
        <p:txBody>
          <a:bodyPr wrap="square" lIns="0" tIns="0" rIns="0" bIns="0" rtlCol="0" anchor="t"/>
          <a:lstStyle/>
          <a:p>
            <a:pPr algn="r" indent="0" marL="0">
              <a:lnSpc>
                <a:spcPct val="105000"/>
              </a:lnSpc>
              <a:buNone/>
            </a:pPr>
            <a:r>
              <a:rPr lang="en-US" sz="2000" b="1" dirty="0">
                <a:solidFill>
                  <a:srgbClr val="C9D4DE"/>
                </a:solidFill>
                <a:latin typeface="Cambria" pitchFamily="34" charset="0"/>
                <a:ea typeface="Cambria" pitchFamily="34" charset="-122"/>
                <a:cs typeface="Cambria" pitchFamily="34" charset="-120"/>
              </a:rPr>
              <a:t>01</a:t>
            </a:r>
            <a:endParaRPr lang="en-US" sz="2000" dirty="0"/>
          </a:p>
        </p:txBody>
      </p:sp>
      <p:sp>
        <p:nvSpPr>
          <p:cNvPr id="8" name="text-409"/>
          <p:cNvSpPr txBox="1"/>
          <p:nvPr/>
        </p:nvSpPr>
        <p:spPr>
          <a:xfrm>
            <a:off x="1097280" y="3246120"/>
            <a:ext cx="4023360" cy="502920"/>
          </a:xfrm>
          <a:prstGeom prst="rect">
            <a:avLst/>
          </a:prstGeom>
          <a:noFill/>
          <a:ln/>
        </p:spPr>
        <p:txBody>
          <a:bodyPr wrap="square" lIns="0" tIns="0" rIns="0" bIns="0" rtlCol="0" anchor="t"/>
          <a:lstStyle/>
          <a:p>
            <a:pPr algn="l" indent="0" marL="0">
              <a:lnSpc>
                <a:spcPct val="105000"/>
              </a:lnSpc>
              <a:buNone/>
            </a:pPr>
            <a:r>
              <a:rPr lang="en-US" sz="1800" b="1" dirty="0">
                <a:solidFill>
                  <a:srgbClr val="0D1B2A"/>
                </a:solidFill>
                <a:latin typeface="Cambria" pitchFamily="34" charset="0"/>
                <a:ea typeface="Cambria" pitchFamily="34" charset="-122"/>
                <a:cs typeface="Cambria" pitchFamily="34" charset="-120"/>
              </a:rPr>
              <a:t>STM32F103 measurements</a:t>
            </a:r>
            <a:endParaRPr lang="en-US" sz="1800" dirty="0"/>
          </a:p>
        </p:txBody>
      </p:sp>
      <p:sp>
        <p:nvSpPr>
          <p:cNvPr id="9" name="text-410"/>
          <p:cNvSpPr txBox="1"/>
          <p:nvPr/>
        </p:nvSpPr>
        <p:spPr>
          <a:xfrm>
            <a:off x="1097280" y="3749040"/>
            <a:ext cx="4023360" cy="868680"/>
          </a:xfrm>
          <a:prstGeom prst="rect">
            <a:avLst/>
          </a:prstGeom>
          <a:noFill/>
          <a:ln/>
        </p:spPr>
        <p:txBody>
          <a:bodyPr wrap="square" lIns="0" tIns="0" rIns="0" bIns="0" rtlCol="0" anchor="t"/>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Complete the timing and memory evaluation on the Cortex-M3 board.</a:t>
            </a:r>
            <a:endParaRPr lang="en-US" sz="1500" dirty="0"/>
          </a:p>
        </p:txBody>
      </p:sp>
      <p:sp>
        <p:nvSpPr>
          <p:cNvPr id="10" name="card-411"/>
          <p:cNvSpPr/>
          <p:nvPr/>
        </p:nvSpPr>
        <p:spPr>
          <a:xfrm>
            <a:off x="5760720" y="1828800"/>
            <a:ext cx="4736592" cy="2926080"/>
          </a:xfrm>
          <a:prstGeom prst="roundRect">
            <a:avLst>
              <a:gd name="adj" fmla="val 3750"/>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11" name="iconbg-412"/>
          <p:cNvSpPr/>
          <p:nvPr/>
        </p:nvSpPr>
        <p:spPr>
          <a:xfrm>
            <a:off x="6126480" y="2194560"/>
            <a:ext cx="868680" cy="868680"/>
          </a:xfrm>
          <a:prstGeom prst="ellipse">
            <a:avLst/>
          </a:prstGeom>
          <a:solidFill>
            <a:srgbClr val="E8F3F6"/>
          </a:solidFill>
          <a:ln w="15875">
            <a:solidFill>
              <a:srgbClr val="0E7490"/>
            </a:solidFill>
            <a:prstDash val="solid"/>
          </a:ln>
        </p:spPr>
      </p:sp>
      <p:pic>
        <p:nvPicPr>
          <p:cNvPr id="12" name="icon-413" descr="preencoded.png">    </p:cNvPr>
          <p:cNvPicPr>
            <a:picLocks noChangeAspect="1"/>
          </p:cNvPicPr>
          <p:nvPr/>
        </p:nvPicPr>
        <p:blipFill>
          <a:blip r:embed="rId2"/>
          <a:stretch>
            <a:fillRect/>
          </a:stretch>
        </p:blipFill>
        <p:spPr>
          <a:xfrm>
            <a:off x="6352337" y="2420417"/>
            <a:ext cx="416966" cy="416966"/>
          </a:xfrm>
          <a:prstGeom prst="rect">
            <a:avLst/>
          </a:prstGeom>
        </p:spPr>
      </p:pic>
      <p:sp>
        <p:nvSpPr>
          <p:cNvPr id="13" name="text-414"/>
          <p:cNvSpPr txBox="1"/>
          <p:nvPr/>
        </p:nvSpPr>
        <p:spPr>
          <a:xfrm>
            <a:off x="9418320" y="2240280"/>
            <a:ext cx="731520" cy="457200"/>
          </a:xfrm>
          <a:prstGeom prst="rect">
            <a:avLst/>
          </a:prstGeom>
          <a:noFill/>
          <a:ln/>
        </p:spPr>
        <p:txBody>
          <a:bodyPr wrap="square" lIns="0" tIns="0" rIns="0" bIns="0" rtlCol="0" anchor="t"/>
          <a:lstStyle/>
          <a:p>
            <a:pPr algn="r" indent="0" marL="0">
              <a:lnSpc>
                <a:spcPct val="105000"/>
              </a:lnSpc>
              <a:buNone/>
            </a:pPr>
            <a:r>
              <a:rPr lang="en-US" sz="2000" b="1" dirty="0">
                <a:solidFill>
                  <a:srgbClr val="C9D4DE"/>
                </a:solidFill>
                <a:latin typeface="Cambria" pitchFamily="34" charset="0"/>
                <a:ea typeface="Cambria" pitchFamily="34" charset="-122"/>
                <a:cs typeface="Cambria" pitchFamily="34" charset="-120"/>
              </a:rPr>
              <a:t>02</a:t>
            </a:r>
            <a:endParaRPr lang="en-US" sz="2000" dirty="0"/>
          </a:p>
        </p:txBody>
      </p:sp>
      <p:sp>
        <p:nvSpPr>
          <p:cNvPr id="14" name="text-415"/>
          <p:cNvSpPr txBox="1"/>
          <p:nvPr/>
        </p:nvSpPr>
        <p:spPr>
          <a:xfrm>
            <a:off x="6126480" y="3246120"/>
            <a:ext cx="4023360" cy="502920"/>
          </a:xfrm>
          <a:prstGeom prst="rect">
            <a:avLst/>
          </a:prstGeom>
          <a:noFill/>
          <a:ln/>
        </p:spPr>
        <p:txBody>
          <a:bodyPr wrap="square" lIns="0" tIns="0" rIns="0" bIns="0" rtlCol="0" anchor="t"/>
          <a:lstStyle/>
          <a:p>
            <a:pPr algn="l" indent="0" marL="0">
              <a:lnSpc>
                <a:spcPct val="105000"/>
              </a:lnSpc>
              <a:buNone/>
            </a:pPr>
            <a:r>
              <a:rPr lang="en-US" sz="1800" b="1" dirty="0">
                <a:solidFill>
                  <a:srgbClr val="0D1B2A"/>
                </a:solidFill>
                <a:latin typeface="Cambria" pitchFamily="34" charset="0"/>
                <a:ea typeface="Cambria" pitchFamily="34" charset="-122"/>
                <a:cs typeface="Cambria" pitchFamily="34" charset="-120"/>
              </a:rPr>
              <a:t>Key provisioning and rotation</a:t>
            </a:r>
            <a:endParaRPr lang="en-US" sz="1800" dirty="0"/>
          </a:p>
        </p:txBody>
      </p:sp>
      <p:sp>
        <p:nvSpPr>
          <p:cNvPr id="15" name="text-416"/>
          <p:cNvSpPr txBox="1"/>
          <p:nvPr/>
        </p:nvSpPr>
        <p:spPr>
          <a:xfrm>
            <a:off x="6126480" y="3749040"/>
            <a:ext cx="4023360" cy="868680"/>
          </a:xfrm>
          <a:prstGeom prst="rect">
            <a:avLst/>
          </a:prstGeom>
          <a:noFill/>
          <a:ln/>
        </p:spPr>
        <p:txBody>
          <a:bodyPr wrap="square" lIns="0" tIns="0" rIns="0" bIns="0" rtlCol="0" anchor="t"/>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Secure first-time key provisioning and scheduled rotation of device keys.</a:t>
            </a:r>
            <a:endParaRPr lang="en-US" sz="1500" dirty="0"/>
          </a:p>
        </p:txBody>
      </p:sp>
      <p:sp>
        <p:nvSpPr>
          <p:cNvPr id="16" name="card-417"/>
          <p:cNvSpPr/>
          <p:nvPr/>
        </p:nvSpPr>
        <p:spPr>
          <a:xfrm>
            <a:off x="10789920" y="1828800"/>
            <a:ext cx="4736592" cy="2926080"/>
          </a:xfrm>
          <a:prstGeom prst="roundRect">
            <a:avLst>
              <a:gd name="adj" fmla="val 3750"/>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17" name="iconbg-418"/>
          <p:cNvSpPr/>
          <p:nvPr/>
        </p:nvSpPr>
        <p:spPr>
          <a:xfrm>
            <a:off x="11155680" y="2194560"/>
            <a:ext cx="868680" cy="868680"/>
          </a:xfrm>
          <a:prstGeom prst="ellipse">
            <a:avLst/>
          </a:prstGeom>
          <a:solidFill>
            <a:srgbClr val="E8F3F6"/>
          </a:solidFill>
          <a:ln w="15875">
            <a:solidFill>
              <a:srgbClr val="0E7490"/>
            </a:solidFill>
            <a:prstDash val="solid"/>
          </a:ln>
        </p:spPr>
      </p:sp>
      <p:pic>
        <p:nvPicPr>
          <p:cNvPr id="18" name="icon-419" descr="preencoded.png">    </p:cNvPr>
          <p:cNvPicPr>
            <a:picLocks noChangeAspect="1"/>
          </p:cNvPicPr>
          <p:nvPr/>
        </p:nvPicPr>
        <p:blipFill>
          <a:blip r:embed="rId3"/>
          <a:stretch>
            <a:fillRect/>
          </a:stretch>
        </p:blipFill>
        <p:spPr>
          <a:xfrm>
            <a:off x="11381537" y="2420417"/>
            <a:ext cx="416966" cy="416966"/>
          </a:xfrm>
          <a:prstGeom prst="rect">
            <a:avLst/>
          </a:prstGeom>
        </p:spPr>
      </p:pic>
      <p:sp>
        <p:nvSpPr>
          <p:cNvPr id="19" name="text-420"/>
          <p:cNvSpPr txBox="1"/>
          <p:nvPr/>
        </p:nvSpPr>
        <p:spPr>
          <a:xfrm>
            <a:off x="14447520" y="2240280"/>
            <a:ext cx="731520" cy="457200"/>
          </a:xfrm>
          <a:prstGeom prst="rect">
            <a:avLst/>
          </a:prstGeom>
          <a:noFill/>
          <a:ln/>
        </p:spPr>
        <p:txBody>
          <a:bodyPr wrap="square" lIns="0" tIns="0" rIns="0" bIns="0" rtlCol="0" anchor="t"/>
          <a:lstStyle/>
          <a:p>
            <a:pPr algn="r" indent="0" marL="0">
              <a:lnSpc>
                <a:spcPct val="105000"/>
              </a:lnSpc>
              <a:buNone/>
            </a:pPr>
            <a:r>
              <a:rPr lang="en-US" sz="2000" b="1" dirty="0">
                <a:solidFill>
                  <a:srgbClr val="C9D4DE"/>
                </a:solidFill>
                <a:latin typeface="Cambria" pitchFamily="34" charset="0"/>
                <a:ea typeface="Cambria" pitchFamily="34" charset="-122"/>
                <a:cs typeface="Cambria" pitchFamily="34" charset="-120"/>
              </a:rPr>
              <a:t>03</a:t>
            </a:r>
            <a:endParaRPr lang="en-US" sz="2000" dirty="0"/>
          </a:p>
        </p:txBody>
      </p:sp>
      <p:sp>
        <p:nvSpPr>
          <p:cNvPr id="20" name="text-421"/>
          <p:cNvSpPr txBox="1"/>
          <p:nvPr/>
        </p:nvSpPr>
        <p:spPr>
          <a:xfrm>
            <a:off x="11155680" y="3246120"/>
            <a:ext cx="4023360" cy="502920"/>
          </a:xfrm>
          <a:prstGeom prst="rect">
            <a:avLst/>
          </a:prstGeom>
          <a:noFill/>
          <a:ln/>
        </p:spPr>
        <p:txBody>
          <a:bodyPr wrap="square" lIns="0" tIns="0" rIns="0" bIns="0" rtlCol="0" anchor="t"/>
          <a:lstStyle/>
          <a:p>
            <a:pPr algn="l" indent="0" marL="0">
              <a:lnSpc>
                <a:spcPct val="105000"/>
              </a:lnSpc>
              <a:buNone/>
            </a:pPr>
            <a:r>
              <a:rPr lang="en-US" sz="1800" b="1" dirty="0">
                <a:solidFill>
                  <a:srgbClr val="0D1B2A"/>
                </a:solidFill>
                <a:latin typeface="Cambria" pitchFamily="34" charset="0"/>
                <a:ea typeface="Cambria" pitchFamily="34" charset="-122"/>
                <a:cs typeface="Cambria" pitchFamily="34" charset="-120"/>
              </a:rPr>
              <a:t>Energy per update</a:t>
            </a:r>
            <a:endParaRPr lang="en-US" sz="1800" dirty="0"/>
          </a:p>
        </p:txBody>
      </p:sp>
      <p:sp>
        <p:nvSpPr>
          <p:cNvPr id="21" name="text-422"/>
          <p:cNvSpPr txBox="1"/>
          <p:nvPr/>
        </p:nvSpPr>
        <p:spPr>
          <a:xfrm>
            <a:off x="11155680" y="3749040"/>
            <a:ext cx="4023360" cy="868680"/>
          </a:xfrm>
          <a:prstGeom prst="rect">
            <a:avLst/>
          </a:prstGeom>
          <a:noFill/>
          <a:ln/>
        </p:spPr>
        <p:txBody>
          <a:bodyPr wrap="square" lIns="0" tIns="0" rIns="0" bIns="0" rtlCol="0" anchor="t"/>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Measure the energy each update costs on battery-powered nodes.</a:t>
            </a:r>
            <a:endParaRPr lang="en-US" sz="1500" dirty="0"/>
          </a:p>
        </p:txBody>
      </p:sp>
      <p:sp>
        <p:nvSpPr>
          <p:cNvPr id="22" name="card-423"/>
          <p:cNvSpPr/>
          <p:nvPr/>
        </p:nvSpPr>
        <p:spPr>
          <a:xfrm>
            <a:off x="731520" y="5029200"/>
            <a:ext cx="4736592" cy="2926080"/>
          </a:xfrm>
          <a:prstGeom prst="roundRect">
            <a:avLst>
              <a:gd name="adj" fmla="val 3750"/>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23" name="iconbg-424"/>
          <p:cNvSpPr/>
          <p:nvPr/>
        </p:nvSpPr>
        <p:spPr>
          <a:xfrm>
            <a:off x="1097280" y="5394960"/>
            <a:ext cx="868680" cy="868680"/>
          </a:xfrm>
          <a:prstGeom prst="ellipse">
            <a:avLst/>
          </a:prstGeom>
          <a:solidFill>
            <a:srgbClr val="E8F3F6"/>
          </a:solidFill>
          <a:ln w="15875">
            <a:solidFill>
              <a:srgbClr val="0E7490"/>
            </a:solidFill>
            <a:prstDash val="solid"/>
          </a:ln>
        </p:spPr>
      </p:sp>
      <p:pic>
        <p:nvPicPr>
          <p:cNvPr id="24" name="icon-425" descr="preencoded.png">    </p:cNvPr>
          <p:cNvPicPr>
            <a:picLocks noChangeAspect="1"/>
          </p:cNvPicPr>
          <p:nvPr/>
        </p:nvPicPr>
        <p:blipFill>
          <a:blip r:embed="rId4"/>
          <a:stretch>
            <a:fillRect/>
          </a:stretch>
        </p:blipFill>
        <p:spPr>
          <a:xfrm>
            <a:off x="1323137" y="5620817"/>
            <a:ext cx="416966" cy="416966"/>
          </a:xfrm>
          <a:prstGeom prst="rect">
            <a:avLst/>
          </a:prstGeom>
        </p:spPr>
      </p:pic>
      <p:sp>
        <p:nvSpPr>
          <p:cNvPr id="25" name="text-426"/>
          <p:cNvSpPr txBox="1"/>
          <p:nvPr/>
        </p:nvSpPr>
        <p:spPr>
          <a:xfrm>
            <a:off x="4389120" y="5440680"/>
            <a:ext cx="731520" cy="457200"/>
          </a:xfrm>
          <a:prstGeom prst="rect">
            <a:avLst/>
          </a:prstGeom>
          <a:noFill/>
          <a:ln/>
        </p:spPr>
        <p:txBody>
          <a:bodyPr wrap="square" lIns="0" tIns="0" rIns="0" bIns="0" rtlCol="0" anchor="t"/>
          <a:lstStyle/>
          <a:p>
            <a:pPr algn="r" indent="0" marL="0">
              <a:lnSpc>
                <a:spcPct val="105000"/>
              </a:lnSpc>
              <a:buNone/>
            </a:pPr>
            <a:r>
              <a:rPr lang="en-US" sz="2000" b="1" dirty="0">
                <a:solidFill>
                  <a:srgbClr val="C9D4DE"/>
                </a:solidFill>
                <a:latin typeface="Cambria" pitchFamily="34" charset="0"/>
                <a:ea typeface="Cambria" pitchFamily="34" charset="-122"/>
                <a:cs typeface="Cambria" pitchFamily="34" charset="-120"/>
              </a:rPr>
              <a:t>04</a:t>
            </a:r>
            <a:endParaRPr lang="en-US" sz="2000" dirty="0"/>
          </a:p>
        </p:txBody>
      </p:sp>
      <p:sp>
        <p:nvSpPr>
          <p:cNvPr id="26" name="text-427"/>
          <p:cNvSpPr txBox="1"/>
          <p:nvPr/>
        </p:nvSpPr>
        <p:spPr>
          <a:xfrm>
            <a:off x="1097280" y="6446520"/>
            <a:ext cx="4023360" cy="502920"/>
          </a:xfrm>
          <a:prstGeom prst="rect">
            <a:avLst/>
          </a:prstGeom>
          <a:noFill/>
          <a:ln/>
        </p:spPr>
        <p:txBody>
          <a:bodyPr wrap="square" lIns="0" tIns="0" rIns="0" bIns="0" rtlCol="0" anchor="t"/>
          <a:lstStyle/>
          <a:p>
            <a:pPr algn="l" indent="0" marL="0">
              <a:lnSpc>
                <a:spcPct val="105000"/>
              </a:lnSpc>
              <a:buNone/>
            </a:pPr>
            <a:r>
              <a:rPr lang="en-US" sz="1800" b="1" dirty="0">
                <a:solidFill>
                  <a:srgbClr val="0D1B2A"/>
                </a:solidFill>
                <a:latin typeface="Cambria" pitchFamily="34" charset="0"/>
                <a:ea typeface="Cambria" pitchFamily="34" charset="-122"/>
                <a:cs typeface="Cambria" pitchFamily="34" charset="-120"/>
              </a:rPr>
              <a:t>Larger fleets, noisy links</a:t>
            </a:r>
            <a:endParaRPr lang="en-US" sz="1800" dirty="0"/>
          </a:p>
        </p:txBody>
      </p:sp>
      <p:sp>
        <p:nvSpPr>
          <p:cNvPr id="27" name="text-428"/>
          <p:cNvSpPr txBox="1"/>
          <p:nvPr/>
        </p:nvSpPr>
        <p:spPr>
          <a:xfrm>
            <a:off x="1097280" y="6949440"/>
            <a:ext cx="4023360" cy="868680"/>
          </a:xfrm>
          <a:prstGeom prst="rect">
            <a:avLst/>
          </a:prstGeom>
          <a:noFill/>
          <a:ln/>
        </p:spPr>
        <p:txBody>
          <a:bodyPr wrap="square" lIns="0" tIns="0" rIns="0" bIns="0" rtlCol="0" anchor="t"/>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Evaluate bigger fleets over lossy, congested wireless networks.</a:t>
            </a:r>
            <a:endParaRPr lang="en-US" sz="1500" dirty="0"/>
          </a:p>
        </p:txBody>
      </p:sp>
      <p:sp>
        <p:nvSpPr>
          <p:cNvPr id="28" name="card-429"/>
          <p:cNvSpPr/>
          <p:nvPr/>
        </p:nvSpPr>
        <p:spPr>
          <a:xfrm>
            <a:off x="5760720" y="5029200"/>
            <a:ext cx="4736592" cy="2926080"/>
          </a:xfrm>
          <a:prstGeom prst="roundRect">
            <a:avLst>
              <a:gd name="adj" fmla="val 3750"/>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29" name="iconbg-430"/>
          <p:cNvSpPr/>
          <p:nvPr/>
        </p:nvSpPr>
        <p:spPr>
          <a:xfrm>
            <a:off x="6126480" y="5394960"/>
            <a:ext cx="868680" cy="868680"/>
          </a:xfrm>
          <a:prstGeom prst="ellipse">
            <a:avLst/>
          </a:prstGeom>
          <a:solidFill>
            <a:srgbClr val="E8F3F6"/>
          </a:solidFill>
          <a:ln w="15875">
            <a:solidFill>
              <a:srgbClr val="0E7490"/>
            </a:solidFill>
            <a:prstDash val="solid"/>
          </a:ln>
        </p:spPr>
      </p:sp>
      <p:pic>
        <p:nvPicPr>
          <p:cNvPr id="30" name="icon-431" descr="preencoded.png">    </p:cNvPr>
          <p:cNvPicPr>
            <a:picLocks noChangeAspect="1"/>
          </p:cNvPicPr>
          <p:nvPr/>
        </p:nvPicPr>
        <p:blipFill>
          <a:blip r:embed="rId5"/>
          <a:stretch>
            <a:fillRect/>
          </a:stretch>
        </p:blipFill>
        <p:spPr>
          <a:xfrm>
            <a:off x="6352337" y="5620817"/>
            <a:ext cx="416966" cy="416966"/>
          </a:xfrm>
          <a:prstGeom prst="rect">
            <a:avLst/>
          </a:prstGeom>
        </p:spPr>
      </p:pic>
      <p:sp>
        <p:nvSpPr>
          <p:cNvPr id="31" name="text-432"/>
          <p:cNvSpPr txBox="1"/>
          <p:nvPr/>
        </p:nvSpPr>
        <p:spPr>
          <a:xfrm>
            <a:off x="9418320" y="5440680"/>
            <a:ext cx="731520" cy="457200"/>
          </a:xfrm>
          <a:prstGeom prst="rect">
            <a:avLst/>
          </a:prstGeom>
          <a:noFill/>
          <a:ln/>
        </p:spPr>
        <p:txBody>
          <a:bodyPr wrap="square" lIns="0" tIns="0" rIns="0" bIns="0" rtlCol="0" anchor="t"/>
          <a:lstStyle/>
          <a:p>
            <a:pPr algn="r" indent="0" marL="0">
              <a:lnSpc>
                <a:spcPct val="105000"/>
              </a:lnSpc>
              <a:buNone/>
            </a:pPr>
            <a:r>
              <a:rPr lang="en-US" sz="2000" b="1" dirty="0">
                <a:solidFill>
                  <a:srgbClr val="C9D4DE"/>
                </a:solidFill>
                <a:latin typeface="Cambria" pitchFamily="34" charset="0"/>
                <a:ea typeface="Cambria" pitchFamily="34" charset="-122"/>
                <a:cs typeface="Cambria" pitchFamily="34" charset="-120"/>
              </a:rPr>
              <a:t>05</a:t>
            </a:r>
            <a:endParaRPr lang="en-US" sz="2000" dirty="0"/>
          </a:p>
        </p:txBody>
      </p:sp>
      <p:sp>
        <p:nvSpPr>
          <p:cNvPr id="32" name="text-433"/>
          <p:cNvSpPr txBox="1"/>
          <p:nvPr/>
        </p:nvSpPr>
        <p:spPr>
          <a:xfrm>
            <a:off x="6126480" y="6446520"/>
            <a:ext cx="4023360" cy="502920"/>
          </a:xfrm>
          <a:prstGeom prst="rect">
            <a:avLst/>
          </a:prstGeom>
          <a:noFill/>
          <a:ln/>
        </p:spPr>
        <p:txBody>
          <a:bodyPr wrap="square" lIns="0" tIns="0" rIns="0" bIns="0" rtlCol="0" anchor="t"/>
          <a:lstStyle/>
          <a:p>
            <a:pPr algn="l" indent="0" marL="0">
              <a:lnSpc>
                <a:spcPct val="105000"/>
              </a:lnSpc>
              <a:buNone/>
            </a:pPr>
            <a:r>
              <a:rPr lang="en-US" sz="1800" b="1" dirty="0">
                <a:solidFill>
                  <a:srgbClr val="0D1B2A"/>
                </a:solidFill>
                <a:latin typeface="Cambria" pitchFamily="34" charset="0"/>
                <a:ea typeface="Cambria" pitchFamily="34" charset="-122"/>
                <a:cs typeface="Cambria" pitchFamily="34" charset="-120"/>
              </a:rPr>
              <a:t>Adaptive gate ordering</a:t>
            </a:r>
            <a:endParaRPr lang="en-US" sz="1800" dirty="0"/>
          </a:p>
        </p:txBody>
      </p:sp>
      <p:sp>
        <p:nvSpPr>
          <p:cNvPr id="33" name="text-434"/>
          <p:cNvSpPr txBox="1"/>
          <p:nvPr/>
        </p:nvSpPr>
        <p:spPr>
          <a:xfrm>
            <a:off x="6126480" y="6949440"/>
            <a:ext cx="4023360" cy="868680"/>
          </a:xfrm>
          <a:prstGeom prst="rect">
            <a:avLst/>
          </a:prstGeom>
          <a:noFill/>
          <a:ln/>
        </p:spPr>
        <p:txBody>
          <a:bodyPr wrap="square" lIns="0" tIns="0" rIns="0" bIns="0" rtlCol="0" anchor="t"/>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Re-order the gates online as the observed rejection rates change.</a:t>
            </a:r>
            <a:endParaRPr lang="en-US" sz="1500" dirty="0"/>
          </a:p>
        </p:txBody>
      </p:sp>
      <p:sp>
        <p:nvSpPr>
          <p:cNvPr id="34" name="card-435"/>
          <p:cNvSpPr/>
          <p:nvPr/>
        </p:nvSpPr>
        <p:spPr>
          <a:xfrm>
            <a:off x="10789920" y="5029200"/>
            <a:ext cx="4736592" cy="2926080"/>
          </a:xfrm>
          <a:prstGeom prst="roundRect">
            <a:avLst>
              <a:gd name="adj" fmla="val 3750"/>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35" name="iconbg-436"/>
          <p:cNvSpPr/>
          <p:nvPr/>
        </p:nvSpPr>
        <p:spPr>
          <a:xfrm>
            <a:off x="11155680" y="5394960"/>
            <a:ext cx="868680" cy="868680"/>
          </a:xfrm>
          <a:prstGeom prst="ellipse">
            <a:avLst/>
          </a:prstGeom>
          <a:solidFill>
            <a:srgbClr val="E8F3F6"/>
          </a:solidFill>
          <a:ln w="15875">
            <a:solidFill>
              <a:srgbClr val="0E7490"/>
            </a:solidFill>
            <a:prstDash val="solid"/>
          </a:ln>
        </p:spPr>
      </p:sp>
      <p:pic>
        <p:nvPicPr>
          <p:cNvPr id="36" name="icon-437" descr="preencoded.png">    </p:cNvPr>
          <p:cNvPicPr>
            <a:picLocks noChangeAspect="1"/>
          </p:cNvPicPr>
          <p:nvPr/>
        </p:nvPicPr>
        <p:blipFill>
          <a:blip r:embed="rId6"/>
          <a:stretch>
            <a:fillRect/>
          </a:stretch>
        </p:blipFill>
        <p:spPr>
          <a:xfrm>
            <a:off x="11381537" y="5620817"/>
            <a:ext cx="416966" cy="416966"/>
          </a:xfrm>
          <a:prstGeom prst="rect">
            <a:avLst/>
          </a:prstGeom>
        </p:spPr>
      </p:pic>
      <p:sp>
        <p:nvSpPr>
          <p:cNvPr id="37" name="text-438"/>
          <p:cNvSpPr txBox="1"/>
          <p:nvPr/>
        </p:nvSpPr>
        <p:spPr>
          <a:xfrm>
            <a:off x="14447520" y="5440680"/>
            <a:ext cx="731520" cy="457200"/>
          </a:xfrm>
          <a:prstGeom prst="rect">
            <a:avLst/>
          </a:prstGeom>
          <a:noFill/>
          <a:ln/>
        </p:spPr>
        <p:txBody>
          <a:bodyPr wrap="square" lIns="0" tIns="0" rIns="0" bIns="0" rtlCol="0" anchor="t"/>
          <a:lstStyle/>
          <a:p>
            <a:pPr algn="r" indent="0" marL="0">
              <a:lnSpc>
                <a:spcPct val="105000"/>
              </a:lnSpc>
              <a:buNone/>
            </a:pPr>
            <a:r>
              <a:rPr lang="en-US" sz="2000" b="1" dirty="0">
                <a:solidFill>
                  <a:srgbClr val="C9D4DE"/>
                </a:solidFill>
                <a:latin typeface="Cambria" pitchFamily="34" charset="0"/>
                <a:ea typeface="Cambria" pitchFamily="34" charset="-122"/>
                <a:cs typeface="Cambria" pitchFamily="34" charset="-120"/>
              </a:rPr>
              <a:t>06</a:t>
            </a:r>
            <a:endParaRPr lang="en-US" sz="2000" dirty="0"/>
          </a:p>
        </p:txBody>
      </p:sp>
      <p:sp>
        <p:nvSpPr>
          <p:cNvPr id="38" name="text-439"/>
          <p:cNvSpPr txBox="1"/>
          <p:nvPr/>
        </p:nvSpPr>
        <p:spPr>
          <a:xfrm>
            <a:off x="11155680" y="6446520"/>
            <a:ext cx="4023360" cy="502920"/>
          </a:xfrm>
          <a:prstGeom prst="rect">
            <a:avLst/>
          </a:prstGeom>
          <a:noFill/>
          <a:ln/>
        </p:spPr>
        <p:txBody>
          <a:bodyPr wrap="square" lIns="0" tIns="0" rIns="0" bIns="0" rtlCol="0" anchor="t"/>
          <a:lstStyle/>
          <a:p>
            <a:pPr algn="l" indent="0" marL="0">
              <a:lnSpc>
                <a:spcPct val="105000"/>
              </a:lnSpc>
              <a:buNone/>
            </a:pPr>
            <a:r>
              <a:rPr lang="en-US" sz="1800" b="1" dirty="0">
                <a:solidFill>
                  <a:srgbClr val="0D1B2A"/>
                </a:solidFill>
                <a:latin typeface="Cambria" pitchFamily="34" charset="0"/>
                <a:ea typeface="Cambria" pitchFamily="34" charset="-122"/>
                <a:cs typeface="Cambria" pitchFamily="34" charset="-120"/>
              </a:rPr>
              <a:t>Post-quantum signatures</a:t>
            </a:r>
            <a:endParaRPr lang="en-US" sz="1800" dirty="0"/>
          </a:p>
        </p:txBody>
      </p:sp>
      <p:sp>
        <p:nvSpPr>
          <p:cNvPr id="39" name="text-440"/>
          <p:cNvSpPr txBox="1"/>
          <p:nvPr/>
        </p:nvSpPr>
        <p:spPr>
          <a:xfrm>
            <a:off x="11155680" y="6949440"/>
            <a:ext cx="4023360" cy="868680"/>
          </a:xfrm>
          <a:prstGeom prst="rect">
            <a:avLst/>
          </a:prstGeom>
          <a:noFill/>
          <a:ln/>
        </p:spPr>
        <p:txBody>
          <a:bodyPr wrap="square" lIns="0" tIns="0" rIns="0" bIns="0" rtlCol="0" anchor="t"/>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Support post-quantum signature schemes alongside Ed25519.</a:t>
            </a:r>
            <a:endParaRPr lang="en-US" sz="15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11. Patent / Paper Publications</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Research output from this project</a:t>
            </a:r>
            <a:endParaRPr lang="en-US" sz="1600" dirty="0"/>
          </a:p>
        </p:txBody>
      </p:sp>
      <p:sp>
        <p:nvSpPr>
          <p:cNvPr id="4" name="card-441"/>
          <p:cNvSpPr/>
          <p:nvPr/>
        </p:nvSpPr>
        <p:spPr>
          <a:xfrm>
            <a:off x="731520" y="1828800"/>
            <a:ext cx="9509760" cy="6355080"/>
          </a:xfrm>
          <a:prstGeom prst="roundRect">
            <a:avLst>
              <a:gd name="adj" fmla="val 1727"/>
            </a:avLst>
          </a:prstGeom>
          <a:solidFill>
            <a:srgbClr val="FFFFFF"/>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5" name="iconbg-442"/>
          <p:cNvSpPr/>
          <p:nvPr/>
        </p:nvSpPr>
        <p:spPr>
          <a:xfrm>
            <a:off x="1097280" y="2194560"/>
            <a:ext cx="914400" cy="914400"/>
          </a:xfrm>
          <a:prstGeom prst="ellipse">
            <a:avLst/>
          </a:prstGeom>
          <a:solidFill>
            <a:srgbClr val="E8F3F6"/>
          </a:solidFill>
          <a:ln w="15875">
            <a:solidFill>
              <a:srgbClr val="0E7490"/>
            </a:solidFill>
            <a:prstDash val="solid"/>
          </a:ln>
        </p:spPr>
      </p:sp>
      <p:pic>
        <p:nvPicPr>
          <p:cNvPr id="6" name="icon-443" descr="preencoded.png">    </p:cNvPr>
          <p:cNvPicPr>
            <a:picLocks noChangeAspect="1"/>
          </p:cNvPicPr>
          <p:nvPr/>
        </p:nvPicPr>
        <p:blipFill>
          <a:blip r:embed="rId1"/>
          <a:stretch>
            <a:fillRect/>
          </a:stretch>
        </p:blipFill>
        <p:spPr>
          <a:xfrm>
            <a:off x="1335024" y="2432304"/>
            <a:ext cx="438912" cy="438912"/>
          </a:xfrm>
          <a:prstGeom prst="rect">
            <a:avLst/>
          </a:prstGeom>
        </p:spPr>
      </p:pic>
      <p:sp>
        <p:nvSpPr>
          <p:cNvPr id="7" name="text-444"/>
          <p:cNvSpPr txBox="1"/>
          <p:nvPr/>
        </p:nvSpPr>
        <p:spPr>
          <a:xfrm>
            <a:off x="2240280" y="2286000"/>
            <a:ext cx="5486400" cy="274320"/>
          </a:xfrm>
          <a:prstGeom prst="rect">
            <a:avLst/>
          </a:prstGeom>
          <a:noFill/>
          <a:ln/>
        </p:spPr>
        <p:txBody>
          <a:bodyPr wrap="square" lIns="0" tIns="0" rIns="0" bIns="0" rtlCol="0" anchor="t"/>
          <a:lstStyle/>
          <a:p>
            <a:pPr algn="l" indent="0" marL="0">
              <a:lnSpc>
                <a:spcPct val="100000"/>
              </a:lnSpc>
              <a:buNone/>
            </a:pPr>
            <a:r>
              <a:rPr lang="en-US" sz="1100" b="1" dirty="0">
                <a:solidFill>
                  <a:srgbClr val="0E7490"/>
                </a:solidFill>
                <a:latin typeface="Calibri" pitchFamily="34" charset="0"/>
                <a:ea typeface="Calibri" pitchFamily="34" charset="-122"/>
                <a:cs typeface="Calibri" pitchFamily="34" charset="-120"/>
              </a:rPr>
              <a:t>CONFERENCE PAPER</a:t>
            </a:r>
            <a:endParaRPr lang="en-US" sz="1100" dirty="0"/>
          </a:p>
        </p:txBody>
      </p:sp>
      <p:sp>
        <p:nvSpPr>
          <p:cNvPr id="8" name="text-445"/>
          <p:cNvSpPr txBox="1"/>
          <p:nvPr/>
        </p:nvSpPr>
        <p:spPr>
          <a:xfrm>
            <a:off x="2240280" y="2651760"/>
            <a:ext cx="7680960" cy="1188720"/>
          </a:xfrm>
          <a:prstGeom prst="rect">
            <a:avLst/>
          </a:prstGeom>
          <a:noFill/>
          <a:ln/>
        </p:spPr>
        <p:txBody>
          <a:bodyPr wrap="square" lIns="0" tIns="0" rIns="0" bIns="0" rtlCol="0" anchor="t"/>
          <a:lstStyle/>
          <a:p>
            <a:pPr algn="l" indent="0" marL="0">
              <a:lnSpc>
                <a:spcPct val="105000"/>
              </a:lnSpc>
              <a:buNone/>
            </a:pPr>
            <a:r>
              <a:rPr lang="en-US" sz="2000" b="1" dirty="0">
                <a:solidFill>
                  <a:srgbClr val="0D1B2A"/>
                </a:solidFill>
                <a:latin typeface="Cambria" pitchFamily="34" charset="0"/>
                <a:ea typeface="Cambria" pitchFamily="34" charset="-122"/>
                <a:cs typeface="Cambria" pitchFamily="34" charset="-120"/>
              </a:rPr>
              <a:t>SecureOTA: A Secure Heterogeneous OTA Update Mechanism for Resource-Constrained IoT Devices</a:t>
            </a:r>
            <a:endParaRPr lang="en-US" sz="2000" dirty="0"/>
          </a:p>
        </p:txBody>
      </p:sp>
      <p:sp>
        <p:nvSpPr>
          <p:cNvPr id="9" name="text-446"/>
          <p:cNvSpPr txBox="1"/>
          <p:nvPr/>
        </p:nvSpPr>
        <p:spPr>
          <a:xfrm>
            <a:off x="2240280" y="3886200"/>
            <a:ext cx="7680960" cy="411480"/>
          </a:xfrm>
          <a:prstGeom prst="rect">
            <a:avLst/>
          </a:prstGeom>
          <a:noFill/>
          <a:ln/>
        </p:spPr>
        <p:txBody>
          <a:bodyPr wrap="square" lIns="0" tIns="0" rIns="0" bIns="0" rtlCol="0" anchor="t"/>
          <a:lstStyle/>
          <a:p>
            <a:pPr algn="l" indent="0" marL="0">
              <a:lnSpc>
                <a:spcPct val="105000"/>
              </a:lnSpc>
              <a:buNone/>
            </a:pPr>
            <a:r>
              <a:rPr lang="en-US" sz="1600" dirty="0">
                <a:solidFill>
                  <a:srgbClr val="33475B"/>
                </a:solidFill>
                <a:latin typeface="Calibri" pitchFamily="34" charset="0"/>
                <a:ea typeface="Calibri" pitchFamily="34" charset="-122"/>
                <a:cs typeface="Calibri" pitchFamily="34" charset="-120"/>
              </a:rPr>
              <a:t>Priyankaa Devi S, Rithik Sharma A, Ritesh V, and the project guide</a:t>
            </a:r>
            <a:endParaRPr lang="en-US" sz="1600" dirty="0"/>
          </a:p>
        </p:txBody>
      </p:sp>
      <p:sp>
        <p:nvSpPr>
          <p:cNvPr id="10" name="text-447"/>
          <p:cNvSpPr txBox="1"/>
          <p:nvPr/>
        </p:nvSpPr>
        <p:spPr>
          <a:xfrm>
            <a:off x="2240280" y="4297680"/>
            <a:ext cx="7680960" cy="411480"/>
          </a:xfrm>
          <a:prstGeom prst="rect">
            <a:avLst/>
          </a:prstGeom>
          <a:noFill/>
          <a:ln/>
        </p:spPr>
        <p:txBody>
          <a:bodyPr wrap="square" lIns="0" tIns="0" rIns="0" bIns="0" rtlCol="0" anchor="t"/>
          <a:lstStyle/>
          <a:p>
            <a:pPr algn="l" indent="0" marL="0">
              <a:lnSpc>
                <a:spcPct val="105000"/>
              </a:lnSpc>
              <a:buNone/>
            </a:pPr>
            <a:r>
              <a:rPr lang="en-US" sz="1500" dirty="0">
                <a:solidFill>
                  <a:srgbClr val="6B7D91"/>
                </a:solidFill>
                <a:latin typeface="Calibri" pitchFamily="34" charset="0"/>
                <a:ea typeface="Calibri" pitchFamily="34" charset="-122"/>
                <a:cs typeface="Calibri" pitchFamily="34" charset="-120"/>
              </a:rPr>
              <a:t>Department of Cybersecurity Engineering, KCG College of Technology, Chennai</a:t>
            </a:r>
            <a:endParaRPr lang="en-US" sz="1500" dirty="0"/>
          </a:p>
        </p:txBody>
      </p:sp>
      <p:sp>
        <p:nvSpPr>
          <p:cNvPr id="11" name="card-448"/>
          <p:cNvSpPr/>
          <p:nvPr/>
        </p:nvSpPr>
        <p:spPr>
          <a:xfrm>
            <a:off x="1097280" y="5074920"/>
            <a:ext cx="8778240" cy="731520"/>
          </a:xfrm>
          <a:prstGeom prst="roundRect">
            <a:avLst>
              <a:gd name="adj" fmla="val 15000"/>
            </a:avLst>
          </a:prstGeom>
          <a:solidFill>
            <a:srgbClr val="F3F6F9"/>
          </a:solidFill>
          <a:ln w="15875">
            <a:solidFill>
              <a:srgbClr val="C9D4DE"/>
            </a:solidFill>
            <a:prstDash val="solid"/>
          </a:ln>
        </p:spPr>
      </p:sp>
      <p:sp>
        <p:nvSpPr>
          <p:cNvPr id="12" name="text-449"/>
          <p:cNvSpPr txBox="1"/>
          <p:nvPr/>
        </p:nvSpPr>
        <p:spPr>
          <a:xfrm>
            <a:off x="1371600" y="5074920"/>
            <a:ext cx="2194560" cy="731520"/>
          </a:xfrm>
          <a:prstGeom prst="rect">
            <a:avLst/>
          </a:prstGeom>
          <a:noFill/>
          <a:ln/>
        </p:spPr>
        <p:txBody>
          <a:bodyPr wrap="square" lIns="0" tIns="0" rIns="0" bIns="0" rtlCol="0" anchor="ctr"/>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Status</a:t>
            </a:r>
            <a:endParaRPr lang="en-US" sz="1500" dirty="0"/>
          </a:p>
        </p:txBody>
      </p:sp>
      <p:sp>
        <p:nvSpPr>
          <p:cNvPr id="13" name="text-450"/>
          <p:cNvSpPr txBox="1"/>
          <p:nvPr/>
        </p:nvSpPr>
        <p:spPr>
          <a:xfrm>
            <a:off x="3566160" y="5074920"/>
            <a:ext cx="6126480" cy="731520"/>
          </a:xfrm>
          <a:prstGeom prst="rect">
            <a:avLst/>
          </a:prstGeom>
          <a:noFill/>
          <a:ln/>
        </p:spPr>
        <p:txBody>
          <a:bodyPr wrap="square" lIns="0" tIns="0" rIns="0" bIns="0" rtlCol="0" anchor="ctr"/>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Prepared for submission</a:t>
            </a:r>
            <a:endParaRPr lang="en-US" sz="1500" dirty="0"/>
          </a:p>
        </p:txBody>
      </p:sp>
      <p:sp>
        <p:nvSpPr>
          <p:cNvPr id="14" name="card-451"/>
          <p:cNvSpPr/>
          <p:nvPr/>
        </p:nvSpPr>
        <p:spPr>
          <a:xfrm>
            <a:off x="1097280" y="5989320"/>
            <a:ext cx="8778240" cy="731520"/>
          </a:xfrm>
          <a:prstGeom prst="roundRect">
            <a:avLst>
              <a:gd name="adj" fmla="val 15000"/>
            </a:avLst>
          </a:prstGeom>
          <a:solidFill>
            <a:srgbClr val="F3F6F9"/>
          </a:solidFill>
          <a:ln w="15875">
            <a:solidFill>
              <a:srgbClr val="C9D4DE"/>
            </a:solidFill>
            <a:prstDash val="solid"/>
          </a:ln>
        </p:spPr>
      </p:sp>
      <p:sp>
        <p:nvSpPr>
          <p:cNvPr id="15" name="text-452"/>
          <p:cNvSpPr txBox="1"/>
          <p:nvPr/>
        </p:nvSpPr>
        <p:spPr>
          <a:xfrm>
            <a:off x="1371600" y="5989320"/>
            <a:ext cx="2194560" cy="731520"/>
          </a:xfrm>
          <a:prstGeom prst="rect">
            <a:avLst/>
          </a:prstGeom>
          <a:noFill/>
          <a:ln/>
        </p:spPr>
        <p:txBody>
          <a:bodyPr wrap="square" lIns="0" tIns="0" rIns="0" bIns="0" rtlCol="0" anchor="ctr"/>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Target venue</a:t>
            </a:r>
            <a:endParaRPr lang="en-US" sz="1500" dirty="0"/>
          </a:p>
        </p:txBody>
      </p:sp>
      <p:sp>
        <p:nvSpPr>
          <p:cNvPr id="16" name="text-453"/>
          <p:cNvSpPr txBox="1"/>
          <p:nvPr/>
        </p:nvSpPr>
        <p:spPr>
          <a:xfrm>
            <a:off x="3566160" y="5989320"/>
            <a:ext cx="6126480" cy="731520"/>
          </a:xfrm>
          <a:prstGeom prst="rect">
            <a:avLst/>
          </a:prstGeom>
          <a:noFill/>
          <a:ln/>
        </p:spPr>
        <p:txBody>
          <a:bodyPr wrap="square" lIns="0" tIns="0" rIns="0" bIns="0" rtlCol="0" anchor="ctr"/>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[IEEE conference name, year]</a:t>
            </a:r>
            <a:endParaRPr lang="en-US" sz="1500" dirty="0"/>
          </a:p>
        </p:txBody>
      </p:sp>
      <p:sp>
        <p:nvSpPr>
          <p:cNvPr id="17" name="card-454"/>
          <p:cNvSpPr/>
          <p:nvPr/>
        </p:nvSpPr>
        <p:spPr>
          <a:xfrm>
            <a:off x="1097280" y="6903720"/>
            <a:ext cx="8778240" cy="731520"/>
          </a:xfrm>
          <a:prstGeom prst="roundRect">
            <a:avLst>
              <a:gd name="adj" fmla="val 15000"/>
            </a:avLst>
          </a:prstGeom>
          <a:solidFill>
            <a:srgbClr val="F3F6F9"/>
          </a:solidFill>
          <a:ln w="15875">
            <a:solidFill>
              <a:srgbClr val="C9D4DE"/>
            </a:solidFill>
            <a:prstDash val="solid"/>
          </a:ln>
        </p:spPr>
      </p:sp>
      <p:sp>
        <p:nvSpPr>
          <p:cNvPr id="18" name="text-455"/>
          <p:cNvSpPr txBox="1"/>
          <p:nvPr/>
        </p:nvSpPr>
        <p:spPr>
          <a:xfrm>
            <a:off x="1371600" y="6903720"/>
            <a:ext cx="2194560" cy="731520"/>
          </a:xfrm>
          <a:prstGeom prst="rect">
            <a:avLst/>
          </a:prstGeom>
          <a:noFill/>
          <a:ln/>
        </p:spPr>
        <p:txBody>
          <a:bodyPr wrap="square" lIns="0" tIns="0" rIns="0" bIns="0" rtlCol="0" anchor="ctr"/>
          <a:lstStyle/>
          <a:p>
            <a:pPr algn="l" indent="0" marL="0">
              <a:lnSpc>
                <a:spcPct val="105000"/>
              </a:lnSpc>
              <a:buNone/>
            </a:pPr>
            <a:r>
              <a:rPr lang="en-US" sz="1500" b="1" dirty="0">
                <a:solidFill>
                  <a:srgbClr val="0D1B2A"/>
                </a:solidFill>
                <a:latin typeface="Calibri" pitchFamily="34" charset="0"/>
                <a:ea typeface="Calibri" pitchFamily="34" charset="-122"/>
                <a:cs typeface="Calibri" pitchFamily="34" charset="-120"/>
              </a:rPr>
              <a:t>Format</a:t>
            </a:r>
            <a:endParaRPr lang="en-US" sz="1500" dirty="0"/>
          </a:p>
        </p:txBody>
      </p:sp>
      <p:sp>
        <p:nvSpPr>
          <p:cNvPr id="19" name="text-456"/>
          <p:cNvSpPr txBox="1"/>
          <p:nvPr/>
        </p:nvSpPr>
        <p:spPr>
          <a:xfrm>
            <a:off x="3566160" y="6903720"/>
            <a:ext cx="6126480" cy="731520"/>
          </a:xfrm>
          <a:prstGeom prst="rect">
            <a:avLst/>
          </a:prstGeom>
          <a:noFill/>
          <a:ln/>
        </p:spPr>
        <p:txBody>
          <a:bodyPr wrap="square" lIns="0" tIns="0" rIns="0" bIns="0" rtlCol="0" anchor="ctr"/>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IEEE conference paper, 16 references</a:t>
            </a:r>
            <a:endParaRPr lang="en-US" sz="1500" dirty="0"/>
          </a:p>
        </p:txBody>
      </p:sp>
      <p:sp>
        <p:nvSpPr>
          <p:cNvPr id="20" name="card-457"/>
          <p:cNvSpPr/>
          <p:nvPr/>
        </p:nvSpPr>
        <p:spPr>
          <a:xfrm>
            <a:off x="10561320" y="1828800"/>
            <a:ext cx="4965192" cy="6355080"/>
          </a:xfrm>
          <a:prstGeom prst="roundRect">
            <a:avLst>
              <a:gd name="adj" fmla="val 2210"/>
            </a:avLst>
          </a:prstGeom>
          <a:solidFill>
            <a:srgbClr val="F3F6F9"/>
          </a:solidFill>
          <a:ln w="15875">
            <a:solidFill>
              <a:srgbClr val="C9D4DE"/>
            </a:solidFill>
            <a:prstDash val="solid"/>
          </a:ln>
          <a:effectLst>
            <a:outerShdw sx="100000" sy="100000" kx="0" ky="0" algn="bl" rotWithShape="0" blurRad="76200" dist="25400" dir="5400000">
              <a:srgbClr val="9AAEC2">
                <a:alpha val="18000"/>
              </a:srgbClr>
            </a:outerShdw>
          </a:effectLst>
        </p:spPr>
      </p:sp>
      <p:sp>
        <p:nvSpPr>
          <p:cNvPr id="21" name="iconbg-458"/>
          <p:cNvSpPr/>
          <p:nvPr/>
        </p:nvSpPr>
        <p:spPr>
          <a:xfrm>
            <a:off x="10927080" y="2194560"/>
            <a:ext cx="914400" cy="914400"/>
          </a:xfrm>
          <a:prstGeom prst="ellipse">
            <a:avLst/>
          </a:prstGeom>
          <a:solidFill>
            <a:srgbClr val="FBF4E6"/>
          </a:solidFill>
          <a:ln w="15875">
            <a:solidFill>
              <a:srgbClr val="96650A"/>
            </a:solidFill>
            <a:prstDash val="solid"/>
          </a:ln>
        </p:spPr>
      </p:sp>
      <p:pic>
        <p:nvPicPr>
          <p:cNvPr id="22" name="icon-459" descr="preencoded.png">    </p:cNvPr>
          <p:cNvPicPr>
            <a:picLocks noChangeAspect="1"/>
          </p:cNvPicPr>
          <p:nvPr/>
        </p:nvPicPr>
        <p:blipFill>
          <a:blip r:embed="rId2"/>
          <a:stretch>
            <a:fillRect/>
          </a:stretch>
        </p:blipFill>
        <p:spPr>
          <a:xfrm>
            <a:off x="11164824" y="2432304"/>
            <a:ext cx="438912" cy="438912"/>
          </a:xfrm>
          <a:prstGeom prst="rect">
            <a:avLst/>
          </a:prstGeom>
        </p:spPr>
      </p:pic>
      <p:sp>
        <p:nvSpPr>
          <p:cNvPr id="23" name="text-460"/>
          <p:cNvSpPr txBox="1"/>
          <p:nvPr/>
        </p:nvSpPr>
        <p:spPr>
          <a:xfrm>
            <a:off x="12070080" y="2286000"/>
            <a:ext cx="2743200" cy="274320"/>
          </a:xfrm>
          <a:prstGeom prst="rect">
            <a:avLst/>
          </a:prstGeom>
          <a:noFill/>
          <a:ln/>
        </p:spPr>
        <p:txBody>
          <a:bodyPr wrap="square" lIns="0" tIns="0" rIns="0" bIns="0" rtlCol="0" anchor="t"/>
          <a:lstStyle/>
          <a:p>
            <a:pPr algn="l" indent="0" marL="0">
              <a:lnSpc>
                <a:spcPct val="100000"/>
              </a:lnSpc>
              <a:buNone/>
            </a:pPr>
            <a:r>
              <a:rPr lang="en-US" sz="1100" b="1" dirty="0">
                <a:solidFill>
                  <a:srgbClr val="96650A"/>
                </a:solidFill>
                <a:latin typeface="Calibri" pitchFamily="34" charset="0"/>
                <a:ea typeface="Calibri" pitchFamily="34" charset="-122"/>
                <a:cs typeface="Calibri" pitchFamily="34" charset="-120"/>
              </a:rPr>
              <a:t>PATENT</a:t>
            </a:r>
            <a:endParaRPr lang="en-US" sz="1100" dirty="0"/>
          </a:p>
        </p:txBody>
      </p:sp>
      <p:sp>
        <p:nvSpPr>
          <p:cNvPr id="24" name="text-461"/>
          <p:cNvSpPr txBox="1"/>
          <p:nvPr/>
        </p:nvSpPr>
        <p:spPr>
          <a:xfrm>
            <a:off x="10927080" y="3429000"/>
            <a:ext cx="4297680" cy="731520"/>
          </a:xfrm>
          <a:prstGeom prst="rect">
            <a:avLst/>
          </a:prstGeom>
          <a:noFill/>
          <a:ln/>
        </p:spPr>
        <p:txBody>
          <a:bodyPr wrap="square" lIns="0" tIns="0" rIns="0" bIns="0" rtlCol="0" anchor="t"/>
          <a:lstStyle/>
          <a:p>
            <a:pPr algn="l" indent="0" marL="0">
              <a:lnSpc>
                <a:spcPct val="105000"/>
              </a:lnSpc>
              <a:buNone/>
            </a:pPr>
            <a:r>
              <a:rPr lang="en-US" sz="1800" b="1" dirty="0">
                <a:solidFill>
                  <a:srgbClr val="0D1B2A"/>
                </a:solidFill>
                <a:latin typeface="Cambria" pitchFamily="34" charset="0"/>
                <a:ea typeface="Cambria" pitchFamily="34" charset="-122"/>
                <a:cs typeface="Cambria" pitchFamily="34" charset="-120"/>
              </a:rPr>
              <a:t>[Patent status to be confirmed]</a:t>
            </a:r>
            <a:endParaRPr lang="en-US" sz="1800" dirty="0"/>
          </a:p>
        </p:txBody>
      </p:sp>
      <p:sp>
        <p:nvSpPr>
          <p:cNvPr id="25" name="text-462"/>
          <p:cNvSpPr txBox="1"/>
          <p:nvPr/>
        </p:nvSpPr>
        <p:spPr>
          <a:xfrm>
            <a:off x="10927080" y="4251960"/>
            <a:ext cx="4297680" cy="3200400"/>
          </a:xfrm>
          <a:prstGeom prst="rect">
            <a:avLst/>
          </a:prstGeom>
          <a:noFill/>
          <a:ln/>
        </p:spPr>
        <p:txBody>
          <a:bodyPr wrap="square" lIns="0" tIns="0" rIns="0" bIns="0" rtlCol="0" anchor="t"/>
          <a:lstStyle/>
          <a:p>
            <a:pPr algn="l" indent="0" marL="0">
              <a:lnSpc>
                <a:spcPct val="105000"/>
              </a:lnSpc>
              <a:buNone/>
            </a:pPr>
            <a:r>
              <a:rPr lang="en-US" sz="1500" dirty="0">
                <a:solidFill>
                  <a:srgbClr val="33475B"/>
                </a:solidFill>
                <a:latin typeface="Calibri" pitchFamily="34" charset="0"/>
                <a:ea typeface="Calibri" pitchFamily="34" charset="-122"/>
                <a:cs typeface="Calibri" pitchFamily="34" charset="-120"/>
              </a:rPr>
              <a:t>Candidate novel elements: the cost-ordered five-gate verification pipeline (TCV) and the health-score quarantine loop. Prior disclosure in the paper should be checked with the institution before filing.</a:t>
            </a:r>
            <a:endParaRPr lang="en-US" sz="15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4794992" cy="731520"/>
          </a:xfrm>
          <a:prstGeom prst="rect">
            <a:avLst/>
          </a:prstGeom>
          <a:noFill/>
          <a:ln/>
        </p:spPr>
        <p:txBody>
          <a:bodyPr wrap="square" lIns="0" tIns="0" rIns="0" bIns="0" rtlCol="0" anchor="ctr"/>
          <a:lstStyle/>
          <a:p>
            <a:pPr algn="l" indent="0" marL="0">
              <a:buNone/>
            </a:pPr>
            <a:r>
              <a:rPr lang="en-US" sz="3200" b="1" dirty="0">
                <a:solidFill>
                  <a:srgbClr val="0D1B2A"/>
                </a:solidFill>
                <a:latin typeface="Cambria" pitchFamily="34" charset="0"/>
                <a:ea typeface="Cambria" pitchFamily="34" charset="-122"/>
                <a:cs typeface="Cambria" pitchFamily="34" charset="-120"/>
              </a:rPr>
              <a:t>12. References</a:t>
            </a:r>
            <a:endParaRPr lang="en-US" sz="3200" dirty="0"/>
          </a:p>
        </p:txBody>
      </p:sp>
      <p:sp>
        <p:nvSpPr>
          <p:cNvPr id="3" name="Text 0"/>
          <p:cNvSpPr/>
          <p:nvPr>
            <p:ph idx="101" type="body" hasCustomPrompt="1"/>
          </p:nvPr>
        </p:nvSpPr>
        <p:spPr>
          <a:xfrm>
            <a:off x="731520" y="1143000"/>
            <a:ext cx="14794992" cy="457200"/>
          </a:xfrm>
          <a:prstGeom prst="rect">
            <a:avLst/>
          </a:prstGeom>
          <a:noFill/>
          <a:ln/>
        </p:spPr>
        <p:txBody>
          <a:bodyPr wrap="square" lIns="0" tIns="0" rIns="0" bIns="0" rtlCol="0" anchor="t"/>
          <a:lstStyle/>
          <a:p>
            <a:pPr algn="l" indent="0" marL="0">
              <a:buNone/>
            </a:pPr>
            <a:r>
              <a:rPr lang="en-US" sz="1600" dirty="0">
                <a:solidFill>
                  <a:srgbClr val="6B7D91"/>
                </a:solidFill>
                <a:latin typeface="Calibri" pitchFamily="34" charset="0"/>
                <a:ea typeface="Calibri" pitchFamily="34" charset="-122"/>
                <a:cs typeface="Calibri" pitchFamily="34" charset="-120"/>
              </a:rPr>
              <a:t>As cited in the paper</a:t>
            </a:r>
            <a:endParaRPr lang="en-US" sz="1600" dirty="0"/>
          </a:p>
        </p:txBody>
      </p:sp>
      <p:sp>
        <p:nvSpPr>
          <p:cNvPr id="4" name="refs-463"/>
          <p:cNvSpPr txBox="1"/>
          <p:nvPr/>
        </p:nvSpPr>
        <p:spPr>
          <a:xfrm>
            <a:off x="731520" y="1783080"/>
            <a:ext cx="7223760" cy="6583680"/>
          </a:xfrm>
          <a:prstGeom prst="rect">
            <a:avLst/>
          </a:prstGeom>
          <a:noFill/>
          <a:ln/>
        </p:spPr>
        <p:txBody>
          <a:bodyPr wrap="square" lIns="0" tIns="0" rIns="0" bIns="0" rtlCol="0" anchor="t"/>
          <a:lstStyle/>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[1]  Noprianto, N. Funabiki, H. H. S. Kyaw, K. C. Brata, I. N. D. Kotama, "A proposal of secure and automated over-the-air firmware update mechanism for IoT devices using CI/CD," Sensors, vol. 26, no. 5, 1535, 2026.</a:t>
            </a:r>
            <a:endParaRPr lang="en-US" sz="1300" dirty="0"/>
          </a:p>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[2]  H. S. Mehdy, M. E. Rusli, H. K. Hoomod, "A secured parallel multi-broker MQTT framework with chaos-enhanced hybrid encryption for repetition-resistant IoT security," Computers, vol. 15, no. 10, 650, 2026.</a:t>
            </a:r>
            <a:endParaRPr lang="en-US" sz="1300" dirty="0"/>
          </a:p>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[3]  G. Amirkhanova et al., "A lightweight, end-to-end encrypted data pipeline for IIoT: An AES-GCM implementation for ESP32, MQTT, and Raspberry Pi," Information, vol. 17, no. 1, 33, 2026.</a:t>
            </a:r>
            <a:endParaRPr lang="en-US" sz="1300" dirty="0"/>
          </a:p>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[4]  W. Y. Leong, "Quantum-resistant encryption for IoT communication in critical engineering infrastructure," Eng. Proc., vol. 134, no. 1, 76, 2026.</a:t>
            </a:r>
            <a:endParaRPr lang="en-US" sz="1300" dirty="0"/>
          </a:p>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[5]  C.-Y. Park, S.-J. Lee, I.-G. Lee, "Secure and lightweight firmware over-the-air update mechanism for Internet of Things," Electronics, vol. 14, no. 8, 1583, 2025.</a:t>
            </a:r>
            <a:endParaRPr lang="en-US" sz="1300" dirty="0"/>
          </a:p>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[6]  L. Formanek, M. Kubaščík, O. Karpíš, P. Kolok, "Advanced system for remote updates on ESP32-based devices using over-the-air update technology," Computers, vol. 14, no. 12, 531, 2025.</a:t>
            </a:r>
            <a:endParaRPr lang="en-US" sz="1300" dirty="0"/>
          </a:p>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[7]  F. Serepas et al., "Lightweight embedded IoT gateway for smart homes based on an ESP32 microcontroller," Computers, vol. 14, no. 9, 391, 2025.</a:t>
            </a:r>
            <a:endParaRPr lang="en-US" sz="1300" dirty="0"/>
          </a:p>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[8]  C.-G. Dumitrache, P. Anghelescu, "Design and implementation of a secure communication architecture for IoT devices," J. Sens. Actuator Netw., vol. 14, no. 4, 64, 2025.</a:t>
            </a:r>
            <a:endParaRPr lang="en-US" sz="1300" dirty="0"/>
          </a:p>
        </p:txBody>
      </p:sp>
      <p:sp>
        <p:nvSpPr>
          <p:cNvPr id="5" name="refs-464"/>
          <p:cNvSpPr txBox="1"/>
          <p:nvPr/>
        </p:nvSpPr>
        <p:spPr>
          <a:xfrm>
            <a:off x="8302752" y="1783080"/>
            <a:ext cx="7223760" cy="6583680"/>
          </a:xfrm>
          <a:prstGeom prst="rect">
            <a:avLst/>
          </a:prstGeom>
          <a:noFill/>
          <a:ln/>
        </p:spPr>
        <p:txBody>
          <a:bodyPr wrap="square" lIns="0" tIns="0" rIns="0" bIns="0" rtlCol="0" anchor="t"/>
          <a:lstStyle/>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[9]  V. P. Ojha, S. Chauhan, S. Yarahmadian, D. Carvalho, "Unfolding post-quantum cryptosystems: CRYSTALS-Dilithium, McEliece, BIKE, and HQC," Mathematics, vol. 13, no. 17, 2841, 2025.</a:t>
            </a:r>
            <a:endParaRPr lang="en-US" sz="1300" dirty="0"/>
          </a:p>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[10]  Y. Shin, S. Jeon, "MQTree: Secure OTA protocol using MQTT and MerkleTree," Sensors, vol. 24, no. 5, 1447, 2024.</a:t>
            </a:r>
            <a:endParaRPr lang="en-US" sz="1300" dirty="0"/>
          </a:p>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[11]  V. Bhargava, N. S. Raghava, "Version control system gateway to optimize firmware over the air (FOTA) update for IoT wireless devices," Wireless Pers. Commun., vol. 134, no. 1, pp. 249-265, 2024.</a:t>
            </a:r>
            <a:endParaRPr lang="en-US" sz="1300" dirty="0"/>
          </a:p>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[12]  C. Silva, V. A. Cunha, J. P. Barraca, R. L. Aguiar, "Analysis of the cryptographic algorithms in IoT communications," Inf. Syst. Front., vol. 26, pp. 1243-1260, 2024.</a:t>
            </a:r>
            <a:endParaRPr lang="en-US" sz="1300" dirty="0"/>
          </a:p>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[13]  I. Radhakrishnan, S. Jadon, P. B. Honnavalli, "Efficiency and security evaluation of lightweight cryptographic algorithms for resource-constrained IoT devices," Sensors, vol. 24, no. 12, 4008, 2024.</a:t>
            </a:r>
            <a:endParaRPr lang="en-US" sz="1300" dirty="0"/>
          </a:p>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[14]  F. C. Andriulo, M. N. Postorino, "Edge computing and cloud computing for Internet of Things: A review," Informatics, vol. 11, no. 4, 71, 2024.</a:t>
            </a:r>
            <a:endParaRPr lang="en-US" sz="1300" dirty="0"/>
          </a:p>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[15]  L. Carnevale et al., "Secure and energy efficient filtered over-the-air Internet of Things setup in a wireless mesh network for firmware freshness," Proc. IEEE BigData, Sorrento, Italy, pp. 3904-3913, 2023.</a:t>
            </a:r>
            <a:endParaRPr lang="en-US" sz="1300" dirty="0"/>
          </a:p>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[16]  Z. Dewamuni, B. Shanmugam, S. Azam, S. Thennadil, "Bibliometric analysis of IoT lightweight cryptography," Information, vol. 14, no. 12, 635, 2023.</a:t>
            </a:r>
            <a:endParaRPr lang="en-US" sz="1300" dirty="0"/>
          </a:p>
        </p:txBody>
      </p:sp>
      <p:sp>
        <p:nvSpPr>
          <p:cNvPr id="25" name="Slide Number Placeholder 0"/>
          <p:cNvSpPr>
            <a:spLocks noGrp="1"/>
          </p:cNvSpPr>
          <p:nvPr>
            <p:ph type="sldNum" sz="quarter" idx="4294967295"/>
          </p:nvPr>
        </p:nvSpPr>
        <p:spPr>
          <a:xfrm>
            <a:off x="14612112" y="854964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B7D91"/>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SecureOTA Exam">
  <a:themeElements>
    <a:clrScheme name="SecureOTA Exam">
      <a:dk1>
        <a:srgbClr val="0D1B2A"/>
      </a:dk1>
      <a:lt1>
        <a:srgbClr val="FFFFFF"/>
      </a:lt1>
      <a:dk2>
        <a:srgbClr val="33475B"/>
      </a:dk2>
      <a:lt2>
        <a:srgbClr val="F3F6F9"/>
      </a:lt2>
      <a:accent1>
        <a:srgbClr val="0E7490"/>
      </a:accent1>
      <a:accent2>
        <a:srgbClr val="067A55"/>
      </a:accent2>
      <a:accent3>
        <a:srgbClr val="96650A"/>
      </a:accent3>
      <a:accent4>
        <a:srgbClr val="B4322A"/>
      </a:accent4>
      <a:accent5>
        <a:srgbClr val="6B7D91"/>
      </a:accent5>
      <a:accent6>
        <a:srgbClr val="C9D4DE"/>
      </a:accent6>
      <a:hlink>
        <a:srgbClr val="0E7490"/>
      </a:hlink>
      <a:folHlink>
        <a:srgbClr val="33475B"/>
      </a:folHlink>
    </a:clrScheme>
    <a:fontScheme name="SecureOTA Exa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KCG College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SecureOTA: A Secure Heterogeneous OTA Update Mechanism for Resource-Constrained IoT Devices</dc:title>
  <dc:subject>Final year project, model exam</dc:subject>
  <dc:creator>Priyankaa Devi S, Rithik Sharma A, Ritesh V</dc:creator>
  <cp:lastModifiedBy>Priyankaa Devi S, Rithik Sharma A, Ritesh V</cp:lastModifiedBy>
  <cp:revision>1</cp:revision>
  <dcterms:created xsi:type="dcterms:W3CDTF">2026-10-21T18:56:11Z</dcterms:created>
  <dcterms:modified xsi:type="dcterms:W3CDTF">2026-10-21T18:56:11Z</dcterms:modified>
</cp:coreProperties>
</file>