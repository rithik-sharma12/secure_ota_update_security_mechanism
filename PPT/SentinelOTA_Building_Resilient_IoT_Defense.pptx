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9" r:id="rId6"/>
    <p:sldId id="266" r:id="rId7"/>
    <p:sldId id="267" r:id="rId8"/>
    <p:sldId id="268" r:id="rId9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80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898063" y="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84A60-3592-46EF-90C5-DF4A66171FEF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88025" y="1219200"/>
            <a:ext cx="5899150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47838" y="4694238"/>
            <a:ext cx="13979525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898063" y="9264650"/>
            <a:ext cx="757237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1309C-A2E5-442B-B1E6-2EE119B4B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493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A1309C-A2E5-442B-B1E6-2EE119B4B85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857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rgbClr val="081F3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rgbClr val="081F3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rgbClr val="081F3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50" b="0" i="0">
                <a:solidFill>
                  <a:srgbClr val="081F3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899" y="649816"/>
            <a:ext cx="15763400" cy="1104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50" b="0" i="0">
                <a:solidFill>
                  <a:srgbClr val="081F3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6818" y="1610783"/>
            <a:ext cx="15838169" cy="416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3" Type="http://schemas.openxmlformats.org/officeDocument/2006/relationships/image" Target="../media/image16.jpg"/><Relationship Id="rId7" Type="http://schemas.openxmlformats.org/officeDocument/2006/relationships/image" Target="../media/image20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jpg"/><Relationship Id="rId5" Type="http://schemas.openxmlformats.org/officeDocument/2006/relationships/image" Target="../media/image18.jp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35000"/>
            <a:ext cx="11963400" cy="9093200"/>
            <a:chOff x="0" y="635000"/>
            <a:chExt cx="11963400" cy="9093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5000"/>
              <a:ext cx="11963400" cy="90932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1200" y="4267200"/>
              <a:ext cx="1003300" cy="939800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9153702" y="7299325"/>
            <a:ext cx="39814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25" dirty="0">
                <a:solidFill>
                  <a:srgbClr val="010818"/>
                </a:solidFill>
                <a:latin typeface="Consolas"/>
                <a:cs typeface="Consolas"/>
              </a:rPr>
              <a:t>120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37395" y="5756095"/>
            <a:ext cx="2237105" cy="10246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145">
              <a:lnSpc>
                <a:spcPts val="3879"/>
              </a:lnSpc>
              <a:spcBef>
                <a:spcPts val="90"/>
              </a:spcBef>
            </a:pPr>
            <a:r>
              <a:rPr sz="3550" spc="-135" dirty="0">
                <a:solidFill>
                  <a:srgbClr val="2F9054"/>
                </a:solidFill>
                <a:latin typeface="Arial MT"/>
                <a:cs typeface="Arial MT"/>
              </a:rPr>
              <a:t>SYSTEM</a:t>
            </a:r>
            <a:r>
              <a:rPr sz="3550" spc="-105" dirty="0">
                <a:solidFill>
                  <a:srgbClr val="2F9054"/>
                </a:solidFill>
                <a:latin typeface="Arial MT"/>
                <a:cs typeface="Arial MT"/>
              </a:rPr>
              <a:t> </a:t>
            </a:r>
            <a:endParaRPr sz="3550" dirty="0">
              <a:latin typeface="Arial MT"/>
              <a:cs typeface="Arial MT"/>
            </a:endParaRPr>
          </a:p>
          <a:p>
            <a:pPr marL="12700">
              <a:lnSpc>
                <a:spcPts val="4000"/>
              </a:lnSpc>
            </a:pPr>
            <a:r>
              <a:rPr sz="3650" spc="-100" dirty="0">
                <a:solidFill>
                  <a:srgbClr val="2A8C4D"/>
                </a:solidFill>
                <a:latin typeface="Arial MT"/>
                <a:cs typeface="Arial MT"/>
              </a:rPr>
              <a:t>HEALTHY</a:t>
            </a:r>
            <a:endParaRPr sz="36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82252" y="7132931"/>
            <a:ext cx="1104265" cy="47244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100" spc="-60" dirty="0">
                <a:solidFill>
                  <a:srgbClr val="0F0F0F"/>
                </a:solidFill>
                <a:latin typeface="Courier New"/>
                <a:cs typeface="Courier New"/>
              </a:rPr>
              <a:t>SF€URU7STATUS!</a:t>
            </a:r>
            <a:endParaRPr sz="1100">
              <a:latin typeface="Courier New"/>
              <a:cs typeface="Courier New"/>
            </a:endParaRPr>
          </a:p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650" spc="-10" dirty="0">
                <a:solidFill>
                  <a:srgbClr val="070C26"/>
                </a:solidFill>
                <a:latin typeface="Arial MT"/>
                <a:cs typeface="Arial MT"/>
              </a:rPr>
              <a:t>ACTIVE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2614730" y="547158"/>
            <a:ext cx="4150360" cy="946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6050" spc="-170" dirty="0">
                <a:solidFill>
                  <a:srgbClr val="081C42"/>
                </a:solidFill>
              </a:rPr>
              <a:t>SentinelOTA</a:t>
            </a:r>
            <a:endParaRPr sz="6050" dirty="0"/>
          </a:p>
        </p:txBody>
      </p:sp>
      <p:sp>
        <p:nvSpPr>
          <p:cNvPr id="9" name="object 9"/>
          <p:cNvSpPr txBox="1"/>
          <p:nvPr/>
        </p:nvSpPr>
        <p:spPr>
          <a:xfrm>
            <a:off x="12175310" y="6042660"/>
            <a:ext cx="5029200" cy="282448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404495" marR="5080" indent="-392430" algn="r">
              <a:lnSpc>
                <a:spcPct val="85100"/>
              </a:lnSpc>
              <a:spcBef>
                <a:spcPts val="815"/>
              </a:spcBef>
            </a:pPr>
            <a:r>
              <a:rPr sz="3950" dirty="0">
                <a:solidFill>
                  <a:srgbClr val="0A1A3B"/>
                </a:solidFill>
                <a:latin typeface="Arial MT"/>
                <a:cs typeface="Arial MT"/>
              </a:rPr>
              <a:t>Bridging</a:t>
            </a:r>
            <a:r>
              <a:rPr sz="3950" spc="-75" dirty="0">
                <a:solidFill>
                  <a:srgbClr val="0A1A3B"/>
                </a:solidFill>
                <a:latin typeface="Arial MT"/>
                <a:cs typeface="Arial MT"/>
              </a:rPr>
              <a:t> </a:t>
            </a:r>
            <a:r>
              <a:rPr sz="3950" spc="-20" dirty="0">
                <a:solidFill>
                  <a:srgbClr val="0F1D44"/>
                </a:solidFill>
                <a:latin typeface="Arial MT"/>
                <a:cs typeface="Arial MT"/>
              </a:rPr>
              <a:t>Embedded </a:t>
            </a:r>
            <a:r>
              <a:rPr sz="4100" spc="-20" dirty="0">
                <a:solidFill>
                  <a:srgbClr val="0E1C41"/>
                </a:solidFill>
                <a:latin typeface="Arial MT"/>
                <a:cs typeface="Arial MT"/>
              </a:rPr>
              <a:t>Constraints</a:t>
            </a:r>
            <a:r>
              <a:rPr sz="4100" spc="-190" dirty="0">
                <a:solidFill>
                  <a:srgbClr val="0E1C41"/>
                </a:solidFill>
                <a:latin typeface="Arial MT"/>
                <a:cs typeface="Arial MT"/>
              </a:rPr>
              <a:t> </a:t>
            </a:r>
            <a:r>
              <a:rPr sz="4100" spc="-25" dirty="0">
                <a:solidFill>
                  <a:srgbClr val="081334"/>
                </a:solidFill>
                <a:latin typeface="Arial MT"/>
                <a:cs typeface="Arial MT"/>
              </a:rPr>
              <a:t>and </a:t>
            </a:r>
            <a:r>
              <a:rPr sz="4100" spc="-20" dirty="0">
                <a:solidFill>
                  <a:srgbClr val="051536"/>
                </a:solidFill>
                <a:latin typeface="Arial MT"/>
                <a:cs typeface="Arial MT"/>
              </a:rPr>
              <a:t>Lifecycle</a:t>
            </a:r>
            <a:r>
              <a:rPr sz="4100" spc="-225" dirty="0">
                <a:solidFill>
                  <a:srgbClr val="051536"/>
                </a:solidFill>
                <a:latin typeface="Arial MT"/>
                <a:cs typeface="Arial MT"/>
              </a:rPr>
              <a:t> </a:t>
            </a:r>
            <a:r>
              <a:rPr sz="4100" spc="-10" dirty="0">
                <a:solidFill>
                  <a:srgbClr val="03112F"/>
                </a:solidFill>
                <a:latin typeface="Arial MT"/>
                <a:cs typeface="Arial MT"/>
              </a:rPr>
              <a:t>Security</a:t>
            </a:r>
            <a:endParaRPr sz="4100" dirty="0">
              <a:latin typeface="Arial MT"/>
              <a:cs typeface="Arial MT"/>
            </a:endParaRPr>
          </a:p>
          <a:p>
            <a:pPr marL="311150" marR="50800" indent="5080">
              <a:lnSpc>
                <a:spcPts val="2400"/>
              </a:lnSpc>
              <a:spcBef>
                <a:spcPts val="1760"/>
              </a:spcBef>
            </a:pPr>
            <a:r>
              <a:rPr sz="2150" spc="-290" dirty="0">
                <a:solidFill>
                  <a:srgbClr val="383838"/>
                </a:solidFill>
                <a:latin typeface="Arial MT"/>
                <a:cs typeface="Arial MT"/>
              </a:rPr>
              <a:t>A</a:t>
            </a:r>
            <a:r>
              <a:rPr sz="2150" spc="6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2150" dirty="0">
                <a:solidFill>
                  <a:srgbClr val="313131"/>
                </a:solidFill>
                <a:latin typeface="Arial MT"/>
                <a:cs typeface="Arial MT"/>
              </a:rPr>
              <a:t>Unified,</a:t>
            </a:r>
            <a:r>
              <a:rPr sz="2150" spc="-15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2150" spc="-45" dirty="0">
                <a:solidFill>
                  <a:srgbClr val="2B2B2B"/>
                </a:solidFill>
                <a:latin typeface="Arial MT"/>
                <a:cs typeface="Arial MT"/>
              </a:rPr>
              <a:t>Resilient</a:t>
            </a:r>
            <a:r>
              <a:rPr sz="2150" spc="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2150" spc="-30" dirty="0">
                <a:solidFill>
                  <a:srgbClr val="2D2D2D"/>
                </a:solidFill>
                <a:latin typeface="Arial MT"/>
                <a:cs typeface="Arial MT"/>
              </a:rPr>
              <a:t>Framework</a:t>
            </a:r>
            <a:r>
              <a:rPr sz="2150" spc="13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2150" spc="-25" dirty="0">
                <a:solidFill>
                  <a:srgbClr val="2D2D2D"/>
                </a:solidFill>
                <a:latin typeface="Arial MT"/>
                <a:cs typeface="Arial MT"/>
              </a:rPr>
              <a:t>for </a:t>
            </a:r>
            <a:r>
              <a:rPr sz="215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2150" spc="-7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2150" dirty="0">
                <a:solidFill>
                  <a:srgbClr val="2F2F2F"/>
                </a:solidFill>
                <a:latin typeface="Arial MT"/>
                <a:cs typeface="Arial MT"/>
              </a:rPr>
              <a:t>Industry</a:t>
            </a:r>
            <a:r>
              <a:rPr sz="2150" spc="114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150" spc="-40" dirty="0">
                <a:solidFill>
                  <a:srgbClr val="212121"/>
                </a:solidFill>
                <a:latin typeface="Arial MT"/>
                <a:cs typeface="Arial MT"/>
              </a:rPr>
              <a:t>5.0</a:t>
            </a:r>
            <a:r>
              <a:rPr sz="215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1F1F1F"/>
                </a:solidFill>
                <a:latin typeface="Arial MT"/>
                <a:cs typeface="Arial MT"/>
              </a:rPr>
              <a:t>Heterogeneous </a:t>
            </a:r>
            <a:r>
              <a:rPr sz="2150" spc="-135" dirty="0">
                <a:solidFill>
                  <a:srgbClr val="2F2F2F"/>
                </a:solidFill>
                <a:latin typeface="Arial MT"/>
                <a:cs typeface="Arial MT"/>
              </a:rPr>
              <a:t>IoT</a:t>
            </a:r>
            <a:r>
              <a:rPr sz="2150" spc="-1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2150" spc="-10" dirty="0">
                <a:solidFill>
                  <a:srgbClr val="1C1C1C"/>
                </a:solidFill>
                <a:latin typeface="Arial MT"/>
                <a:cs typeface="Arial MT"/>
              </a:rPr>
              <a:t>Ecosystem.</a:t>
            </a:r>
            <a:endParaRPr sz="2150" dirty="0">
              <a:latin typeface="Arial MT"/>
              <a:cs typeface="Arial MT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6887D0EA-2158-A7D2-F8DB-6D9101B002B6}"/>
              </a:ext>
            </a:extLst>
          </p:cNvPr>
          <p:cNvSpPr txBox="1"/>
          <p:nvPr/>
        </p:nvSpPr>
        <p:spPr>
          <a:xfrm>
            <a:off x="12319000" y="1600200"/>
            <a:ext cx="5029200" cy="1935786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404495" marR="5080" indent="-392430" algn="l">
              <a:lnSpc>
                <a:spcPct val="85100"/>
              </a:lnSpc>
              <a:spcBef>
                <a:spcPts val="815"/>
              </a:spcBef>
            </a:pP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   A Resilient, Heterogeneous Lifecycle Framework for Industry 5.0</a:t>
            </a:r>
            <a:endParaRPr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3467100"/>
            <a:ext cx="3225800" cy="3136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4600" y="3911600"/>
            <a:ext cx="4445000" cy="1930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99700" y="3594100"/>
            <a:ext cx="6248400" cy="2921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59800" y="990600"/>
            <a:ext cx="1092200" cy="558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91289" y="710141"/>
            <a:ext cx="9856470" cy="1009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045200" algn="l"/>
              </a:tabLst>
            </a:pPr>
            <a:r>
              <a:rPr sz="6450" spc="320" dirty="0">
                <a:solidFill>
                  <a:srgbClr val="051D38"/>
                </a:solidFill>
                <a:latin typeface="Calibri"/>
                <a:cs typeface="Calibri"/>
              </a:rPr>
              <a:t>The</a:t>
            </a:r>
            <a:r>
              <a:rPr sz="6450" spc="-275" dirty="0">
                <a:solidFill>
                  <a:srgbClr val="051D38"/>
                </a:solidFill>
                <a:latin typeface="Calibri"/>
                <a:cs typeface="Calibri"/>
              </a:rPr>
              <a:t> </a:t>
            </a:r>
            <a:r>
              <a:rPr sz="6450" spc="225" dirty="0">
                <a:solidFill>
                  <a:srgbClr val="051834"/>
                </a:solidFill>
                <a:latin typeface="Calibri"/>
                <a:cs typeface="Calibri"/>
              </a:rPr>
              <a:t>Industry</a:t>
            </a:r>
            <a:r>
              <a:rPr sz="6450" dirty="0">
                <a:solidFill>
                  <a:srgbClr val="051834"/>
                </a:solidFill>
                <a:latin typeface="Calibri"/>
                <a:cs typeface="Calibri"/>
              </a:rPr>
              <a:t>	</a:t>
            </a:r>
            <a:r>
              <a:rPr sz="6450" spc="125" dirty="0">
                <a:solidFill>
                  <a:srgbClr val="071A36"/>
                </a:solidFill>
                <a:latin typeface="Calibri"/>
                <a:cs typeface="Calibri"/>
              </a:rPr>
              <a:t>Imperative</a:t>
            </a:r>
            <a:endParaRPr sz="64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93246" y="1755422"/>
            <a:ext cx="13887450" cy="14471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9845" algn="ctr">
              <a:lnSpc>
                <a:spcPct val="100000"/>
              </a:lnSpc>
              <a:spcBef>
                <a:spcPts val="125"/>
              </a:spcBef>
            </a:pPr>
            <a:r>
              <a:rPr sz="4000" spc="-10" dirty="0">
                <a:solidFill>
                  <a:srgbClr val="0F0F0F"/>
                </a:solidFill>
                <a:latin typeface="Arial MT"/>
                <a:cs typeface="Arial MT"/>
              </a:rPr>
              <a:t>From</a:t>
            </a:r>
            <a:r>
              <a:rPr sz="4000" spc="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131313"/>
                </a:solidFill>
                <a:latin typeface="Arial MT"/>
                <a:cs typeface="Arial MT"/>
              </a:rPr>
              <a:t>Connected</a:t>
            </a:r>
            <a:r>
              <a:rPr sz="4000" spc="229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05162F"/>
                </a:solidFill>
                <a:latin typeface="Arial MT"/>
                <a:cs typeface="Arial MT"/>
              </a:rPr>
              <a:t>to</a:t>
            </a:r>
            <a:r>
              <a:rPr sz="4000" spc="-100" dirty="0">
                <a:solidFill>
                  <a:srgbClr val="05162F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0F0F0F"/>
                </a:solidFill>
                <a:latin typeface="Arial MT"/>
                <a:cs typeface="Arial MT"/>
              </a:rPr>
              <a:t>Resilient.</a:t>
            </a:r>
            <a:endParaRPr sz="4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400"/>
              </a:spcBef>
              <a:tabLst>
                <a:tab pos="11594465" algn="l"/>
              </a:tabLst>
            </a:pPr>
            <a:r>
              <a:rPr sz="3300" spc="145" dirty="0">
                <a:solidFill>
                  <a:srgbClr val="05132D"/>
                </a:solidFill>
                <a:latin typeface="Calibri"/>
                <a:cs typeface="Calibri"/>
              </a:rPr>
              <a:t>Industry</a:t>
            </a:r>
            <a:r>
              <a:rPr sz="3300" spc="185" dirty="0">
                <a:solidFill>
                  <a:srgbClr val="05132D"/>
                </a:solidFill>
                <a:latin typeface="Calibri"/>
                <a:cs typeface="Calibri"/>
              </a:rPr>
              <a:t> </a:t>
            </a:r>
            <a:r>
              <a:rPr sz="3300" spc="110" dirty="0">
                <a:solidFill>
                  <a:srgbClr val="01112A"/>
                </a:solidFill>
                <a:latin typeface="Calibri"/>
                <a:cs typeface="Calibri"/>
              </a:rPr>
              <a:t>4.0</a:t>
            </a:r>
            <a:r>
              <a:rPr sz="3300" dirty="0">
                <a:solidFill>
                  <a:srgbClr val="01112A"/>
                </a:solidFill>
                <a:latin typeface="Calibri"/>
                <a:cs typeface="Calibri"/>
              </a:rPr>
              <a:t>	</a:t>
            </a:r>
            <a:r>
              <a:rPr sz="3300" spc="145" dirty="0">
                <a:solidFill>
                  <a:srgbClr val="011128"/>
                </a:solidFill>
                <a:latin typeface="Calibri"/>
                <a:cs typeface="Calibri"/>
              </a:rPr>
              <a:t>Industry</a:t>
            </a:r>
            <a:r>
              <a:rPr sz="3300" spc="200" dirty="0">
                <a:solidFill>
                  <a:srgbClr val="011128"/>
                </a:solidFill>
                <a:latin typeface="Calibri"/>
                <a:cs typeface="Calibri"/>
              </a:rPr>
              <a:t> </a:t>
            </a:r>
            <a:r>
              <a:rPr sz="3300" spc="105" dirty="0">
                <a:solidFill>
                  <a:srgbClr val="081834"/>
                </a:solidFill>
                <a:latin typeface="Calibri"/>
                <a:cs typeface="Calibri"/>
              </a:rPr>
              <a:t>5.0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1981" y="6847769"/>
            <a:ext cx="1867535" cy="105283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065" marR="5080" indent="2540" algn="ctr">
              <a:lnSpc>
                <a:spcPts val="2600"/>
              </a:lnSpc>
              <a:spcBef>
                <a:spcPts val="450"/>
              </a:spcBef>
            </a:pPr>
            <a:r>
              <a:rPr sz="2400" spc="210" dirty="0" err="1">
                <a:latin typeface="Calibri"/>
                <a:cs typeface="Calibri"/>
              </a:rPr>
              <a:t>Effic</a:t>
            </a:r>
            <a:r>
              <a:rPr lang="en-IN" sz="2400" spc="210" dirty="0" err="1">
                <a:latin typeface="Calibri"/>
                <a:cs typeface="Calibri"/>
              </a:rPr>
              <a:t>i</a:t>
            </a:r>
            <a:r>
              <a:rPr sz="2400" spc="210" dirty="0" err="1">
                <a:latin typeface="Calibri"/>
                <a:cs typeface="Calibri"/>
              </a:rPr>
              <a:t>ency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175" dirty="0">
                <a:latin typeface="Calibri"/>
                <a:cs typeface="Calibri"/>
              </a:rPr>
              <a:t>Connectivity </a:t>
            </a:r>
            <a:r>
              <a:rPr sz="2300" spc="229" dirty="0">
                <a:latin typeface="Calibri"/>
                <a:cs typeface="Calibri"/>
              </a:rPr>
              <a:t>Frag1le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00417" y="6855177"/>
            <a:ext cx="5456555" cy="104394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 indent="20320">
              <a:lnSpc>
                <a:spcPts val="3850"/>
              </a:lnSpc>
              <a:spcBef>
                <a:spcPts val="490"/>
              </a:spcBef>
            </a:pPr>
            <a:r>
              <a:rPr sz="3450" dirty="0">
                <a:solidFill>
                  <a:srgbClr val="0F0F0F"/>
                </a:solidFill>
                <a:latin typeface="Calibri"/>
                <a:cs typeface="Calibri"/>
              </a:rPr>
              <a:t>In</a:t>
            </a:r>
            <a:r>
              <a:rPr sz="3450" spc="4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131313"/>
                </a:solidFill>
                <a:latin typeface="Calibri"/>
                <a:cs typeface="Calibri"/>
              </a:rPr>
              <a:t>Industry</a:t>
            </a:r>
            <a:r>
              <a:rPr sz="3450" spc="409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111111"/>
                </a:solidFill>
                <a:latin typeface="Calibri"/>
                <a:cs typeface="Calibri"/>
              </a:rPr>
              <a:t>5.0,</a:t>
            </a:r>
            <a:r>
              <a:rPr sz="3450" spc="16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450" spc="165" dirty="0">
                <a:solidFill>
                  <a:srgbClr val="111111"/>
                </a:solidFill>
                <a:latin typeface="Calibri"/>
                <a:cs typeface="Calibri"/>
              </a:rPr>
              <a:t>a</a:t>
            </a:r>
            <a:r>
              <a:rPr sz="3450" spc="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3450" spc="90" dirty="0">
                <a:solidFill>
                  <a:srgbClr val="0F0F0F"/>
                </a:solidFill>
                <a:latin typeface="Calibri"/>
                <a:cs typeface="Calibri"/>
              </a:rPr>
              <a:t>system</a:t>
            </a:r>
            <a:r>
              <a:rPr sz="3450" spc="9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450" spc="-20" dirty="0">
                <a:solidFill>
                  <a:srgbClr val="0A0A0A"/>
                </a:solidFill>
                <a:latin typeface="Calibri"/>
                <a:cs typeface="Calibri"/>
              </a:rPr>
              <a:t>that </a:t>
            </a:r>
            <a:r>
              <a:rPr sz="3450" dirty="0">
                <a:solidFill>
                  <a:srgbClr val="0F0F0F"/>
                </a:solidFill>
                <a:latin typeface="Calibri"/>
                <a:cs typeface="Calibri"/>
              </a:rPr>
              <a:t>cannot</a:t>
            </a:r>
            <a:r>
              <a:rPr sz="3450" spc="35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0A0A0A"/>
                </a:solidFill>
                <a:latin typeface="Calibri"/>
                <a:cs typeface="Calibri"/>
              </a:rPr>
              <a:t>heal</a:t>
            </a:r>
            <a:r>
              <a:rPr sz="3450" spc="10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01071C"/>
                </a:solidFill>
                <a:latin typeface="Calibri"/>
                <a:cs typeface="Calibri"/>
              </a:rPr>
              <a:t>itself</a:t>
            </a:r>
            <a:r>
              <a:rPr sz="3450" spc="270" dirty="0">
                <a:solidFill>
                  <a:srgbClr val="01071C"/>
                </a:solidFill>
                <a:latin typeface="Calibri"/>
                <a:cs typeface="Calibri"/>
              </a:rPr>
              <a:t> </a:t>
            </a:r>
            <a:r>
              <a:rPr sz="3450" dirty="0">
                <a:solidFill>
                  <a:srgbClr val="01081A"/>
                </a:solidFill>
                <a:latin typeface="Calibri"/>
                <a:cs typeface="Calibri"/>
              </a:rPr>
              <a:t>is</a:t>
            </a:r>
            <a:r>
              <a:rPr sz="3450" spc="390" dirty="0">
                <a:solidFill>
                  <a:srgbClr val="01081A"/>
                </a:solidFill>
                <a:latin typeface="Calibri"/>
                <a:cs typeface="Calibri"/>
              </a:rPr>
              <a:t> </a:t>
            </a:r>
            <a:r>
              <a:rPr sz="3450" spc="165" dirty="0">
                <a:solidFill>
                  <a:srgbClr val="000716"/>
                </a:solidFill>
                <a:latin typeface="Calibri"/>
                <a:cs typeface="Calibri"/>
              </a:rPr>
              <a:t>a</a:t>
            </a:r>
            <a:r>
              <a:rPr sz="3450" spc="-55" dirty="0">
                <a:solidFill>
                  <a:srgbClr val="000716"/>
                </a:solidFill>
                <a:latin typeface="Calibri"/>
                <a:cs typeface="Calibri"/>
              </a:rPr>
              <a:t> </a:t>
            </a:r>
            <a:r>
              <a:rPr sz="3450" spc="-10" dirty="0">
                <a:solidFill>
                  <a:srgbClr val="0A0A0A"/>
                </a:solidFill>
                <a:latin typeface="Calibri"/>
                <a:cs typeface="Calibri"/>
              </a:rPr>
              <a:t>liability.</a:t>
            </a:r>
            <a:endParaRPr sz="3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514768" y="6838950"/>
            <a:ext cx="2058670" cy="106553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 marR="5080" indent="-22860" algn="ctr">
              <a:lnSpc>
                <a:spcPts val="2600"/>
              </a:lnSpc>
              <a:spcBef>
                <a:spcPts val="520"/>
              </a:spcBef>
            </a:pPr>
            <a:r>
              <a:rPr sz="2500" spc="-85" dirty="0">
                <a:latin typeface="Consolas"/>
                <a:cs typeface="Consolas"/>
              </a:rPr>
              <a:t>Resilience </a:t>
            </a:r>
            <a:r>
              <a:rPr sz="2350" spc="-75" dirty="0">
                <a:latin typeface="Consolas"/>
                <a:cs typeface="Consolas"/>
              </a:rPr>
              <a:t>human-</a:t>
            </a:r>
            <a:r>
              <a:rPr sz="2350" spc="-60" dirty="0">
                <a:latin typeface="Consolas"/>
                <a:cs typeface="Consolas"/>
              </a:rPr>
              <a:t>Centric </a:t>
            </a:r>
            <a:r>
              <a:rPr sz="2400" spc="-20" dirty="0">
                <a:latin typeface="Consolas"/>
                <a:cs typeface="Consolas"/>
              </a:rPr>
              <a:t>Sustainable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77803" y="8567208"/>
            <a:ext cx="13810615" cy="704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2680"/>
              </a:lnSpc>
              <a:spcBef>
                <a:spcPts val="90"/>
              </a:spcBef>
            </a:pP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spc="-110" dirty="0">
                <a:latin typeface="Arial MT"/>
                <a:cs typeface="Arial MT"/>
              </a:rPr>
              <a:t>As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factory</a:t>
            </a:r>
            <a:r>
              <a:rPr sz="2300" spc="-14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floors</a:t>
            </a:r>
            <a:r>
              <a:rPr sz="2300" spc="-140" dirty="0">
                <a:latin typeface="Arial MT"/>
                <a:cs typeface="Arial MT"/>
              </a:rPr>
              <a:t> </a:t>
            </a:r>
            <a:r>
              <a:rPr sz="2300" spc="-50" dirty="0">
                <a:latin typeface="Arial MT"/>
                <a:cs typeface="Arial MT"/>
              </a:rPr>
              <a:t>rely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45" dirty="0">
                <a:latin typeface="Arial MT"/>
                <a:cs typeface="Arial MT"/>
              </a:rPr>
              <a:t>on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spc="-65" dirty="0">
                <a:latin typeface="Arial MT"/>
                <a:cs typeface="Arial MT"/>
              </a:rPr>
              <a:t>mixed</a:t>
            </a:r>
            <a:r>
              <a:rPr sz="2300" spc="-9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fleets</a:t>
            </a:r>
            <a:r>
              <a:rPr sz="2300" spc="-1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80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devices,</a:t>
            </a:r>
            <a:r>
              <a:rPr sz="2300" spc="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the</a:t>
            </a:r>
            <a:r>
              <a:rPr sz="2300" spc="-15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risk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shifts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from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85" dirty="0">
                <a:latin typeface="Arial MT"/>
                <a:cs typeface="Arial MT"/>
              </a:rPr>
              <a:t>simple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downtime</a:t>
            </a:r>
            <a:r>
              <a:rPr sz="2300" spc="-10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to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spc="-80" dirty="0">
                <a:latin typeface="Arial MT"/>
                <a:cs typeface="Arial MT"/>
              </a:rPr>
              <a:t>human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safety.</a:t>
            </a:r>
            <a:endParaRPr sz="2300" dirty="0">
              <a:latin typeface="Arial MT"/>
              <a:cs typeface="Arial MT"/>
            </a:endParaRPr>
          </a:p>
          <a:p>
            <a:pPr marR="19685" algn="ctr">
              <a:lnSpc>
                <a:spcPts val="2680"/>
              </a:lnSpc>
            </a:pPr>
            <a:r>
              <a:rPr sz="2300" spc="-95" dirty="0">
                <a:latin typeface="Arial MT"/>
                <a:cs typeface="Arial MT"/>
              </a:rPr>
              <a:t>Resilience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95" dirty="0">
                <a:latin typeface="Arial MT"/>
                <a:cs typeface="Arial MT"/>
              </a:rPr>
              <a:t>means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automatically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50" dirty="0">
                <a:latin typeface="Arial MT"/>
                <a:cs typeface="Arial MT"/>
              </a:rPr>
              <a:t>recovering</a:t>
            </a:r>
            <a:r>
              <a:rPr sz="2300" spc="-10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from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spc="-65" dirty="0">
                <a:latin typeface="Arial MT"/>
                <a:cs typeface="Arial MT"/>
              </a:rPr>
              <a:t>compromise, </a:t>
            </a:r>
            <a:r>
              <a:rPr sz="2300" dirty="0">
                <a:latin typeface="Arial MT"/>
                <a:cs typeface="Arial MT"/>
              </a:rPr>
              <a:t>not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just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40" dirty="0">
                <a:latin typeface="Arial MT"/>
                <a:cs typeface="Arial MT"/>
              </a:rPr>
              <a:t>preventing </a:t>
            </a:r>
            <a:r>
              <a:rPr sz="2300" spc="-25" dirty="0">
                <a:latin typeface="Arial MT"/>
                <a:cs typeface="Arial MT"/>
              </a:rPr>
              <a:t>it.</a:t>
            </a:r>
            <a:endParaRPr sz="23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270" y="2864362"/>
            <a:ext cx="6516343" cy="23241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55714" y="245996"/>
            <a:ext cx="15763400" cy="1104900"/>
          </a:xfrm>
          <a:prstGeom prst="rect">
            <a:avLst/>
          </a:prstGeom>
        </p:spPr>
        <p:txBody>
          <a:bodyPr vert="horz" wrap="square" lIns="0" tIns="200942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135"/>
              </a:spcBef>
            </a:pPr>
            <a:r>
              <a:rPr sz="5450" dirty="0">
                <a:solidFill>
                  <a:srgbClr val="0A1C3B"/>
                </a:solidFill>
              </a:rPr>
              <a:t>The</a:t>
            </a:r>
            <a:r>
              <a:rPr sz="5450" spc="-254" dirty="0">
                <a:solidFill>
                  <a:srgbClr val="0A1C3B"/>
                </a:solidFill>
              </a:rPr>
              <a:t> </a:t>
            </a:r>
            <a:r>
              <a:rPr sz="5450" spc="75" dirty="0">
                <a:solidFill>
                  <a:srgbClr val="081C38"/>
                </a:solidFill>
              </a:rPr>
              <a:t>Attack</a:t>
            </a:r>
            <a:r>
              <a:rPr sz="5450" spc="-280" dirty="0">
                <a:solidFill>
                  <a:srgbClr val="081C38"/>
                </a:solidFill>
              </a:rPr>
              <a:t> </a:t>
            </a:r>
            <a:r>
              <a:rPr sz="5450" spc="-35" dirty="0">
                <a:solidFill>
                  <a:srgbClr val="081A34"/>
                </a:solidFill>
              </a:rPr>
              <a:t>Surface:</a:t>
            </a:r>
            <a:r>
              <a:rPr sz="5450" spc="-395" dirty="0">
                <a:solidFill>
                  <a:srgbClr val="081A34"/>
                </a:solidFill>
              </a:rPr>
              <a:t> </a:t>
            </a:r>
            <a:r>
              <a:rPr sz="5450" dirty="0">
                <a:solidFill>
                  <a:srgbClr val="0C213F"/>
                </a:solidFill>
              </a:rPr>
              <a:t>Updates</a:t>
            </a:r>
            <a:r>
              <a:rPr sz="5450" spc="-220" dirty="0">
                <a:solidFill>
                  <a:srgbClr val="0C213F"/>
                </a:solidFill>
              </a:rPr>
              <a:t> </a:t>
            </a:r>
            <a:r>
              <a:rPr sz="5450" spc="-65" dirty="0">
                <a:solidFill>
                  <a:srgbClr val="0E2142"/>
                </a:solidFill>
              </a:rPr>
              <a:t>as</a:t>
            </a:r>
            <a:r>
              <a:rPr sz="5450" spc="-395" dirty="0">
                <a:solidFill>
                  <a:srgbClr val="0E2142"/>
                </a:solidFill>
              </a:rPr>
              <a:t> </a:t>
            </a:r>
            <a:r>
              <a:rPr sz="5450" spc="120" dirty="0">
                <a:solidFill>
                  <a:srgbClr val="07213F"/>
                </a:solidFill>
              </a:rPr>
              <a:t>the</a:t>
            </a:r>
            <a:r>
              <a:rPr sz="5450" spc="-550" dirty="0">
                <a:solidFill>
                  <a:srgbClr val="07213F"/>
                </a:solidFill>
              </a:rPr>
              <a:t> </a:t>
            </a:r>
            <a:r>
              <a:rPr sz="5450" dirty="0">
                <a:solidFill>
                  <a:srgbClr val="0A1C3B"/>
                </a:solidFill>
              </a:rPr>
              <a:t>Primary</a:t>
            </a:r>
            <a:r>
              <a:rPr sz="5450" spc="-120" dirty="0">
                <a:solidFill>
                  <a:srgbClr val="0A1C3B"/>
                </a:solidFill>
              </a:rPr>
              <a:t> </a:t>
            </a:r>
            <a:r>
              <a:rPr sz="5450" spc="-10" dirty="0">
                <a:solidFill>
                  <a:srgbClr val="0A1A34"/>
                </a:solidFill>
              </a:rPr>
              <a:t>Vector</a:t>
            </a:r>
            <a:endParaRPr sz="5450" dirty="0"/>
          </a:p>
        </p:txBody>
      </p:sp>
      <p:sp>
        <p:nvSpPr>
          <p:cNvPr id="6" name="object 6"/>
          <p:cNvSpPr txBox="1"/>
          <p:nvPr/>
        </p:nvSpPr>
        <p:spPr>
          <a:xfrm>
            <a:off x="2601409" y="1498468"/>
            <a:ext cx="12272010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110" dirty="0">
                <a:latin typeface="Arial MT"/>
                <a:cs typeface="Arial MT"/>
              </a:rPr>
              <a:t>Viewing</a:t>
            </a:r>
            <a:r>
              <a:rPr sz="3750" spc="-150" dirty="0">
                <a:latin typeface="Arial MT"/>
                <a:cs typeface="Arial MT"/>
              </a:rPr>
              <a:t> </a:t>
            </a:r>
            <a:r>
              <a:rPr sz="3750" dirty="0">
                <a:latin typeface="Arial MT"/>
                <a:cs typeface="Arial MT"/>
              </a:rPr>
              <a:t>the</a:t>
            </a:r>
            <a:r>
              <a:rPr sz="3750" spc="-260" dirty="0">
                <a:latin typeface="Arial MT"/>
                <a:cs typeface="Arial MT"/>
              </a:rPr>
              <a:t> </a:t>
            </a:r>
            <a:r>
              <a:rPr sz="3750" spc="-85" dirty="0">
                <a:latin typeface="Arial MT"/>
                <a:cs typeface="Arial MT"/>
              </a:rPr>
              <a:t>update</a:t>
            </a:r>
            <a:r>
              <a:rPr sz="3750" spc="-175" dirty="0">
                <a:latin typeface="Arial MT"/>
                <a:cs typeface="Arial MT"/>
              </a:rPr>
              <a:t> </a:t>
            </a:r>
            <a:r>
              <a:rPr sz="3750" spc="-40" dirty="0">
                <a:latin typeface="Arial MT"/>
                <a:cs typeface="Arial MT"/>
              </a:rPr>
              <a:t>cycle</a:t>
            </a:r>
            <a:r>
              <a:rPr sz="3750" spc="-220" dirty="0">
                <a:latin typeface="Arial MT"/>
                <a:cs typeface="Arial MT"/>
              </a:rPr>
              <a:t> </a:t>
            </a:r>
            <a:r>
              <a:rPr sz="3750" spc="-40" dirty="0">
                <a:latin typeface="Arial MT"/>
                <a:cs typeface="Arial MT"/>
              </a:rPr>
              <a:t>through</a:t>
            </a:r>
            <a:r>
              <a:rPr sz="3750" spc="-180" dirty="0">
                <a:latin typeface="Arial MT"/>
                <a:cs typeface="Arial MT"/>
              </a:rPr>
              <a:t> </a:t>
            </a:r>
            <a:r>
              <a:rPr sz="3750" spc="-220" dirty="0">
                <a:latin typeface="Arial MT"/>
                <a:cs typeface="Arial MT"/>
              </a:rPr>
              <a:t>an</a:t>
            </a:r>
            <a:r>
              <a:rPr sz="3750" spc="-85" dirty="0">
                <a:latin typeface="Arial MT"/>
                <a:cs typeface="Arial MT"/>
              </a:rPr>
              <a:t> </a:t>
            </a:r>
            <a:r>
              <a:rPr sz="3750" spc="-70" dirty="0">
                <a:latin typeface="Arial MT"/>
                <a:cs typeface="Arial MT"/>
              </a:rPr>
              <a:t>Offensive</a:t>
            </a:r>
            <a:r>
              <a:rPr sz="3750" spc="-40" dirty="0">
                <a:latin typeface="Arial MT"/>
                <a:cs typeface="Arial MT"/>
              </a:rPr>
              <a:t> </a:t>
            </a:r>
            <a:r>
              <a:rPr sz="3750" spc="-85" dirty="0">
                <a:latin typeface="Arial MT"/>
                <a:cs typeface="Arial MT"/>
              </a:rPr>
              <a:t>Security</a:t>
            </a:r>
            <a:r>
              <a:rPr sz="3750" spc="-75" dirty="0">
                <a:latin typeface="Arial MT"/>
                <a:cs typeface="Arial MT"/>
              </a:rPr>
              <a:t> </a:t>
            </a:r>
            <a:r>
              <a:rPr sz="3750" spc="-10" dirty="0">
                <a:latin typeface="Arial MT"/>
                <a:cs typeface="Arial MT"/>
              </a:rPr>
              <a:t>lens.</a:t>
            </a:r>
            <a:endParaRPr sz="37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4061" y="5280805"/>
            <a:ext cx="982980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20" dirty="0">
                <a:latin typeface="Arial MT"/>
                <a:cs typeface="Arial MT"/>
              </a:rPr>
              <a:t>Server</a:t>
            </a:r>
            <a:endParaRPr sz="26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1237" y="2138123"/>
            <a:ext cx="4530725" cy="5016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100" spc="-20" dirty="0">
                <a:solidFill>
                  <a:srgbClr val="05162F"/>
                </a:solidFill>
                <a:latin typeface="Arial MT"/>
                <a:cs typeface="Arial MT"/>
              </a:rPr>
              <a:t>Anatomy</a:t>
            </a:r>
            <a:r>
              <a:rPr sz="3100" spc="-80" dirty="0">
                <a:solidFill>
                  <a:srgbClr val="05162F"/>
                </a:solidFill>
                <a:latin typeface="Arial MT"/>
                <a:cs typeface="Arial MT"/>
              </a:rPr>
              <a:t> </a:t>
            </a:r>
            <a:r>
              <a:rPr sz="3100" dirty="0">
                <a:solidFill>
                  <a:srgbClr val="030C1C"/>
                </a:solidFill>
                <a:latin typeface="Arial MT"/>
                <a:cs typeface="Arial MT"/>
              </a:rPr>
              <a:t>of</a:t>
            </a:r>
            <a:r>
              <a:rPr sz="3100" spc="-150" dirty="0">
                <a:solidFill>
                  <a:srgbClr val="030C1C"/>
                </a:solidFill>
                <a:latin typeface="Arial MT"/>
                <a:cs typeface="Arial MT"/>
              </a:rPr>
              <a:t> </a:t>
            </a:r>
            <a:r>
              <a:rPr sz="3100" spc="-80" dirty="0">
                <a:solidFill>
                  <a:srgbClr val="05152B"/>
                </a:solidFill>
                <a:latin typeface="Arial MT"/>
                <a:cs typeface="Arial MT"/>
              </a:rPr>
              <a:t>an</a:t>
            </a:r>
            <a:r>
              <a:rPr sz="3100" spc="-240" dirty="0">
                <a:solidFill>
                  <a:srgbClr val="05152B"/>
                </a:solidFill>
                <a:latin typeface="Arial MT"/>
                <a:cs typeface="Arial MT"/>
              </a:rPr>
              <a:t> </a:t>
            </a:r>
            <a:r>
              <a:rPr sz="3100" spc="-280" dirty="0">
                <a:solidFill>
                  <a:srgbClr val="071328"/>
                </a:solidFill>
                <a:latin typeface="Arial MT"/>
                <a:cs typeface="Arial MT"/>
              </a:rPr>
              <a:t>OTA</a:t>
            </a:r>
            <a:r>
              <a:rPr sz="3100" spc="10" dirty="0">
                <a:solidFill>
                  <a:srgbClr val="071328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011126"/>
                </a:solidFill>
                <a:latin typeface="Arial MT"/>
                <a:cs typeface="Arial MT"/>
              </a:rPr>
              <a:t>Attack</a:t>
            </a:r>
            <a:endParaRPr sz="31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77243" y="5238889"/>
            <a:ext cx="982980" cy="4289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2700" dirty="0" err="1">
                <a:latin typeface="Arial MT"/>
                <a:cs typeface="Arial MT"/>
              </a:rPr>
              <a:t>MiTM</a:t>
            </a:r>
            <a:endParaRPr sz="270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94005" y="5280805"/>
            <a:ext cx="1019175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20" dirty="0">
                <a:latin typeface="Arial MT"/>
                <a:cs typeface="Arial MT"/>
              </a:rPr>
              <a:t>Device</a:t>
            </a:r>
            <a:endParaRPr sz="260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9742" y="6447954"/>
            <a:ext cx="6497871" cy="145129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 marR="5080" indent="5715">
              <a:lnSpc>
                <a:spcPct val="83300"/>
              </a:lnSpc>
              <a:spcBef>
                <a:spcPts val="650"/>
              </a:spcBef>
            </a:pPr>
            <a:r>
              <a:rPr sz="2700" spc="-75" dirty="0">
                <a:latin typeface="Arial MT"/>
                <a:cs typeface="Arial MT"/>
              </a:rPr>
              <a:t>The</a:t>
            </a:r>
            <a:r>
              <a:rPr sz="2700" spc="-175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Deploy-and-</a:t>
            </a:r>
            <a:r>
              <a:rPr sz="2700" spc="-10" dirty="0">
                <a:latin typeface="Arial MT"/>
                <a:cs typeface="Arial MT"/>
              </a:rPr>
              <a:t>Forget </a:t>
            </a:r>
            <a:r>
              <a:rPr sz="2700" spc="-60" dirty="0">
                <a:latin typeface="Arial MT"/>
                <a:cs typeface="Arial MT"/>
              </a:rPr>
              <a:t>Risk:</a:t>
            </a:r>
            <a:r>
              <a:rPr sz="2700" spc="-130" dirty="0">
                <a:latin typeface="Arial MT"/>
                <a:cs typeface="Arial MT"/>
              </a:rPr>
              <a:t> </a:t>
            </a:r>
            <a:r>
              <a:rPr sz="2700" spc="-85" dirty="0">
                <a:latin typeface="Arial MT"/>
                <a:cs typeface="Arial MT"/>
              </a:rPr>
              <a:t>Current</a:t>
            </a:r>
            <a:r>
              <a:rPr sz="2700" spc="-2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systems </a:t>
            </a:r>
            <a:r>
              <a:rPr sz="2700" spc="-40" dirty="0">
                <a:latin typeface="Arial MT"/>
                <a:cs typeface="Arial MT"/>
              </a:rPr>
              <a:t>confirm</a:t>
            </a:r>
            <a:r>
              <a:rPr sz="2700" spc="-150" dirty="0">
                <a:latin typeface="Arial MT"/>
                <a:cs typeface="Arial MT"/>
              </a:rPr>
              <a:t> </a:t>
            </a:r>
            <a:r>
              <a:rPr sz="2700" spc="-50" dirty="0">
                <a:latin typeface="Arial MT"/>
                <a:cs typeface="Arial MT"/>
              </a:rPr>
              <a:t>code</a:t>
            </a:r>
            <a:r>
              <a:rPr sz="2700" spc="-135" dirty="0">
                <a:latin typeface="Arial MT"/>
                <a:cs typeface="Arial MT"/>
              </a:rPr>
              <a:t> </a:t>
            </a:r>
            <a:r>
              <a:rPr sz="2700" spc="-60" dirty="0">
                <a:latin typeface="Arial MT"/>
                <a:cs typeface="Arial MT"/>
              </a:rPr>
              <a:t>delivery</a:t>
            </a:r>
            <a:r>
              <a:rPr sz="2700" spc="-80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but fail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75" dirty="0">
                <a:latin typeface="Arial MT"/>
                <a:cs typeface="Arial MT"/>
              </a:rPr>
              <a:t> </a:t>
            </a:r>
            <a:r>
              <a:rPr sz="2700" spc="-45" dirty="0">
                <a:latin typeface="Arial MT"/>
                <a:cs typeface="Arial MT"/>
              </a:rPr>
              <a:t>verify</a:t>
            </a:r>
            <a:r>
              <a:rPr sz="2700" spc="-40" dirty="0">
                <a:latin typeface="Arial MT"/>
                <a:cs typeface="Arial MT"/>
              </a:rPr>
              <a:t> </a:t>
            </a:r>
            <a:r>
              <a:rPr sz="2700" spc="-185" dirty="0">
                <a:latin typeface="Arial MT"/>
                <a:cs typeface="Arial MT"/>
              </a:rPr>
              <a:t>post</a:t>
            </a:r>
            <a:r>
              <a:rPr lang="en-IN" sz="2700" spc="-185" dirty="0">
                <a:latin typeface="Arial MT"/>
                <a:cs typeface="Arial MT"/>
              </a:rPr>
              <a:t> </a:t>
            </a:r>
            <a:r>
              <a:rPr sz="2700" spc="-65" dirty="0">
                <a:latin typeface="Arial MT"/>
                <a:cs typeface="Arial MT"/>
              </a:rPr>
              <a:t>deployment</a:t>
            </a:r>
            <a:endParaRPr sz="2700" dirty="0">
              <a:latin typeface="Arial MT"/>
              <a:cs typeface="Arial MT"/>
            </a:endParaRPr>
          </a:p>
          <a:p>
            <a:pPr marL="29845">
              <a:lnSpc>
                <a:spcPts val="2550"/>
              </a:lnSpc>
            </a:pPr>
            <a:r>
              <a:rPr sz="2700" spc="-40" dirty="0">
                <a:latin typeface="Arial MT"/>
                <a:cs typeface="Arial MT"/>
              </a:rPr>
              <a:t>behaviour.</a:t>
            </a:r>
            <a:endParaRPr sz="2700" dirty="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56600" y="6841379"/>
            <a:ext cx="9652000" cy="15613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3035"/>
              </a:lnSpc>
              <a:spcBef>
                <a:spcPts val="135"/>
              </a:spcBef>
            </a:pPr>
            <a:r>
              <a:rPr sz="2600" spc="-85" dirty="0">
                <a:latin typeface="Arial MT"/>
                <a:cs typeface="Arial MT"/>
              </a:rPr>
              <a:t>Top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Threats:</a:t>
            </a:r>
            <a:endParaRPr sz="2600" dirty="0">
              <a:latin typeface="Arial MT"/>
              <a:cs typeface="Arial MT"/>
            </a:endParaRPr>
          </a:p>
          <a:p>
            <a:pPr marL="493395" marR="5080" indent="-370205">
              <a:lnSpc>
                <a:spcPct val="92000"/>
              </a:lnSpc>
              <a:spcBef>
                <a:spcPts val="165"/>
              </a:spcBef>
              <a:buAutoNum type="arabicPeriod"/>
              <a:tabLst>
                <a:tab pos="493395" algn="l"/>
                <a:tab pos="502284" algn="l"/>
              </a:tabLst>
            </a:pPr>
            <a:r>
              <a:rPr sz="2600" dirty="0">
                <a:latin typeface="Arial MT"/>
                <a:cs typeface="Arial MT"/>
              </a:rPr>
              <a:t>	Man-in-the-</a:t>
            </a:r>
            <a:r>
              <a:rPr sz="2600" spc="-10" dirty="0">
                <a:latin typeface="Arial MT"/>
                <a:cs typeface="Arial MT"/>
              </a:rPr>
              <a:t>Middle </a:t>
            </a:r>
            <a:r>
              <a:rPr sz="2700" spc="-35" dirty="0">
                <a:latin typeface="Arial MT"/>
                <a:cs typeface="Arial MT"/>
              </a:rPr>
              <a:t>(MitM)</a:t>
            </a:r>
            <a:r>
              <a:rPr sz="2700" spc="-15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attacks </a:t>
            </a:r>
            <a:r>
              <a:rPr sz="2600" dirty="0">
                <a:latin typeface="Arial MT"/>
                <a:cs typeface="Arial MT"/>
              </a:rPr>
              <a:t>intercepting</a:t>
            </a:r>
            <a:r>
              <a:rPr sz="2600" spc="70" dirty="0">
                <a:latin typeface="Arial MT"/>
                <a:cs typeface="Arial MT"/>
              </a:rPr>
              <a:t> </a:t>
            </a:r>
            <a:r>
              <a:rPr sz="2600" spc="-35" dirty="0">
                <a:latin typeface="Arial MT"/>
                <a:cs typeface="Arial MT"/>
              </a:rPr>
              <a:t>firmware.</a:t>
            </a:r>
            <a:endParaRPr sz="2600" dirty="0">
              <a:latin typeface="Arial MT"/>
              <a:cs typeface="Arial MT"/>
            </a:endParaRPr>
          </a:p>
          <a:p>
            <a:pPr marL="499745" marR="589915" indent="-362585">
              <a:lnSpc>
                <a:spcPct val="93400"/>
              </a:lnSpc>
              <a:spcBef>
                <a:spcPts val="35"/>
              </a:spcBef>
              <a:buAutoNum type="arabicPeriod"/>
              <a:tabLst>
                <a:tab pos="499745" algn="l"/>
                <a:tab pos="501650" algn="l"/>
              </a:tabLst>
            </a:pPr>
            <a:r>
              <a:rPr sz="2550" dirty="0">
                <a:latin typeface="Arial MT"/>
                <a:cs typeface="Arial MT"/>
              </a:rPr>
              <a:t>	</a:t>
            </a:r>
            <a:r>
              <a:rPr sz="2550" spc="-25" dirty="0">
                <a:latin typeface="Arial MT"/>
                <a:cs typeface="Arial MT"/>
              </a:rPr>
              <a:t>Rollback</a:t>
            </a:r>
            <a:r>
              <a:rPr sz="2550" spc="-5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attacks </a:t>
            </a:r>
            <a:r>
              <a:rPr sz="2700" spc="-35" dirty="0">
                <a:latin typeface="Arial MT"/>
                <a:cs typeface="Arial MT"/>
              </a:rPr>
              <a:t>forcing</a:t>
            </a:r>
            <a:r>
              <a:rPr sz="2700" spc="-95" dirty="0">
                <a:latin typeface="Arial MT"/>
                <a:cs typeface="Arial MT"/>
              </a:rPr>
              <a:t> </a:t>
            </a:r>
            <a:r>
              <a:rPr sz="2700" spc="-75" dirty="0">
                <a:latin typeface="Arial MT"/>
                <a:cs typeface="Arial MT"/>
              </a:rPr>
              <a:t>devices</a:t>
            </a:r>
            <a:r>
              <a:rPr sz="2700" spc="-105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to </a:t>
            </a:r>
            <a:r>
              <a:rPr sz="2600" spc="-30" dirty="0">
                <a:latin typeface="Arial MT"/>
                <a:cs typeface="Arial MT"/>
              </a:rPr>
              <a:t>older,</a:t>
            </a:r>
            <a:r>
              <a:rPr sz="2600" spc="-1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vulnerable </a:t>
            </a:r>
            <a:r>
              <a:rPr sz="2550" spc="-10" dirty="0">
                <a:latin typeface="Arial MT"/>
                <a:cs typeface="Arial MT"/>
              </a:rPr>
              <a:t>versions.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5551" y="8777816"/>
            <a:ext cx="14284960" cy="533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00" i="1" spc="-110" dirty="0">
                <a:latin typeface="+mj-lt"/>
                <a:cs typeface="Arial"/>
              </a:rPr>
              <a:t>“I</a:t>
            </a:r>
            <a:r>
              <a:rPr sz="3300" i="1" spc="-130" dirty="0">
                <a:latin typeface="+mj-lt"/>
                <a:cs typeface="Arial"/>
              </a:rPr>
              <a:t> </a:t>
            </a:r>
            <a:r>
              <a:rPr sz="3300" i="1" spc="-330" dirty="0">
                <a:latin typeface="+mj-lt"/>
                <a:cs typeface="Arial"/>
              </a:rPr>
              <a:t>viewed</a:t>
            </a:r>
            <a:r>
              <a:rPr sz="3300" i="1" spc="170" dirty="0">
                <a:latin typeface="+mj-lt"/>
                <a:cs typeface="Arial"/>
              </a:rPr>
              <a:t> </a:t>
            </a:r>
            <a:r>
              <a:rPr sz="3300" i="1" spc="-265" dirty="0">
                <a:latin typeface="+mj-lt"/>
                <a:cs typeface="Arial"/>
              </a:rPr>
              <a:t>the</a:t>
            </a:r>
            <a:r>
              <a:rPr sz="3300" i="1" spc="-70" dirty="0">
                <a:latin typeface="+mj-lt"/>
                <a:cs typeface="Arial"/>
              </a:rPr>
              <a:t> </a:t>
            </a:r>
            <a:r>
              <a:rPr sz="3300" i="1" spc="-295" dirty="0">
                <a:latin typeface="+mj-lt"/>
                <a:cs typeface="Arial"/>
              </a:rPr>
              <a:t>update</a:t>
            </a:r>
            <a:r>
              <a:rPr sz="3300" i="1" spc="-145" dirty="0">
                <a:latin typeface="+mj-lt"/>
                <a:cs typeface="Arial"/>
              </a:rPr>
              <a:t> </a:t>
            </a:r>
            <a:r>
              <a:rPr sz="3300" i="1" spc="-250" dirty="0">
                <a:latin typeface="+mj-lt"/>
                <a:cs typeface="Arial"/>
              </a:rPr>
              <a:t>cycle</a:t>
            </a:r>
            <a:r>
              <a:rPr sz="3300" i="1" spc="-110" dirty="0">
                <a:latin typeface="+mj-lt"/>
                <a:cs typeface="Arial"/>
              </a:rPr>
              <a:t> </a:t>
            </a:r>
            <a:r>
              <a:rPr sz="3300" i="1" spc="-254" dirty="0">
                <a:latin typeface="+mj-lt"/>
                <a:cs typeface="Arial"/>
              </a:rPr>
              <a:t>not</a:t>
            </a:r>
            <a:r>
              <a:rPr sz="3300" i="1" spc="-30" dirty="0">
                <a:latin typeface="+mj-lt"/>
                <a:cs typeface="Arial"/>
              </a:rPr>
              <a:t> </a:t>
            </a:r>
            <a:r>
              <a:rPr sz="3300" i="1" spc="-385" dirty="0">
                <a:latin typeface="+mj-lt"/>
                <a:cs typeface="Arial"/>
              </a:rPr>
              <a:t>as</a:t>
            </a:r>
            <a:r>
              <a:rPr sz="3300" i="1" spc="-155" dirty="0">
                <a:latin typeface="+mj-lt"/>
                <a:cs typeface="Arial"/>
              </a:rPr>
              <a:t> </a:t>
            </a:r>
            <a:r>
              <a:rPr sz="3300" i="1" spc="-390" dirty="0">
                <a:latin typeface="+mj-lt"/>
                <a:cs typeface="Arial"/>
              </a:rPr>
              <a:t>a</a:t>
            </a:r>
            <a:r>
              <a:rPr sz="3300" i="1" spc="-75" dirty="0">
                <a:latin typeface="+mj-lt"/>
                <a:cs typeface="Arial"/>
              </a:rPr>
              <a:t> </a:t>
            </a:r>
            <a:r>
              <a:rPr sz="3300" i="1" spc="-275" dirty="0">
                <a:latin typeface="+mj-lt"/>
                <a:cs typeface="Arial"/>
              </a:rPr>
              <a:t>feature,</a:t>
            </a:r>
            <a:r>
              <a:rPr sz="3300" i="1" spc="95" dirty="0">
                <a:latin typeface="+mj-lt"/>
                <a:cs typeface="Arial"/>
              </a:rPr>
              <a:t> </a:t>
            </a:r>
            <a:r>
              <a:rPr sz="3300" i="1" spc="-254" dirty="0">
                <a:latin typeface="+mj-lt"/>
                <a:cs typeface="Arial"/>
              </a:rPr>
              <a:t>but</a:t>
            </a:r>
            <a:r>
              <a:rPr sz="3300" i="1" spc="-100" dirty="0">
                <a:latin typeface="+mj-lt"/>
                <a:cs typeface="Arial"/>
              </a:rPr>
              <a:t> </a:t>
            </a:r>
            <a:r>
              <a:rPr sz="3300" spc="-335" dirty="0">
                <a:latin typeface="+mj-lt"/>
                <a:cs typeface="Arial MT"/>
              </a:rPr>
              <a:t>as</a:t>
            </a:r>
            <a:r>
              <a:rPr sz="3300" spc="-229" dirty="0">
                <a:latin typeface="+mj-lt"/>
                <a:cs typeface="Arial MT"/>
              </a:rPr>
              <a:t> </a:t>
            </a:r>
            <a:r>
              <a:rPr sz="3300" i="1" spc="-240" dirty="0">
                <a:latin typeface="+mj-lt"/>
                <a:cs typeface="Arial"/>
              </a:rPr>
              <a:t>the</a:t>
            </a:r>
            <a:r>
              <a:rPr sz="3300" i="1" spc="-45" dirty="0">
                <a:latin typeface="+mj-lt"/>
                <a:cs typeface="Arial"/>
              </a:rPr>
              <a:t> </a:t>
            </a:r>
            <a:r>
              <a:rPr sz="3300" i="1" spc="-275" dirty="0">
                <a:latin typeface="+mj-lt"/>
                <a:cs typeface="Arial"/>
              </a:rPr>
              <a:t>largest</a:t>
            </a:r>
            <a:r>
              <a:rPr sz="3300" i="1" spc="5" dirty="0">
                <a:latin typeface="+mj-lt"/>
                <a:cs typeface="Arial"/>
              </a:rPr>
              <a:t> </a:t>
            </a:r>
            <a:r>
              <a:rPr sz="3300" i="1" spc="-320" dirty="0">
                <a:latin typeface="+mj-lt"/>
                <a:cs typeface="Arial"/>
              </a:rPr>
              <a:t>gap</a:t>
            </a:r>
            <a:r>
              <a:rPr sz="3300" i="1" spc="-140" dirty="0">
                <a:latin typeface="+mj-lt"/>
                <a:cs typeface="Arial"/>
              </a:rPr>
              <a:t> </a:t>
            </a:r>
            <a:r>
              <a:rPr sz="3300" i="1" spc="-254" dirty="0">
                <a:latin typeface="+mj-lt"/>
                <a:cs typeface="Arial"/>
              </a:rPr>
              <a:t>in</a:t>
            </a:r>
            <a:r>
              <a:rPr sz="3300" i="1" spc="-95" dirty="0">
                <a:latin typeface="+mj-lt"/>
                <a:cs typeface="Arial"/>
              </a:rPr>
              <a:t> </a:t>
            </a:r>
            <a:r>
              <a:rPr sz="3300" i="1" spc="-240" dirty="0">
                <a:latin typeface="+mj-lt"/>
                <a:cs typeface="Arial"/>
              </a:rPr>
              <a:t>the</a:t>
            </a:r>
            <a:r>
              <a:rPr sz="3300" i="1" spc="-190" dirty="0">
                <a:latin typeface="+mj-lt"/>
                <a:cs typeface="Arial"/>
              </a:rPr>
              <a:t> </a:t>
            </a:r>
            <a:r>
              <a:rPr sz="3300" i="1" spc="-229" dirty="0">
                <a:latin typeface="+mj-lt"/>
                <a:cs typeface="Arial"/>
              </a:rPr>
              <a:t>security</a:t>
            </a:r>
            <a:r>
              <a:rPr sz="3300" i="1" spc="135" dirty="0">
                <a:latin typeface="+mj-lt"/>
                <a:cs typeface="Arial"/>
              </a:rPr>
              <a:t> </a:t>
            </a:r>
            <a:r>
              <a:rPr sz="3300" i="1" spc="-305" dirty="0">
                <a:latin typeface="+mj-lt"/>
                <a:cs typeface="Arial"/>
              </a:rPr>
              <a:t>perimeter.”</a:t>
            </a:r>
            <a:endParaRPr sz="3300" dirty="0">
              <a:latin typeface="+mj-lt"/>
              <a:cs typeface="Arial"/>
            </a:endParaRPr>
          </a:p>
        </p:txBody>
      </p:sp>
      <p:pic>
        <p:nvPicPr>
          <p:cNvPr id="21" name="object 2">
            <a:extLst>
              <a:ext uri="{FF2B5EF4-FFF2-40B4-BE49-F238E27FC236}">
                <a16:creationId xmlns:a16="http://schemas.microsoft.com/office/drawing/2014/main" id="{FE176973-CFE8-3C76-41A8-3EC436B099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6775" y="2657301"/>
            <a:ext cx="6681839" cy="3613292"/>
          </a:xfrm>
          <a:prstGeom prst="rect">
            <a:avLst/>
          </a:prstGeom>
        </p:spPr>
      </p:pic>
      <p:sp>
        <p:nvSpPr>
          <p:cNvPr id="22" name="object 5"/>
          <p:cNvSpPr txBox="1"/>
          <p:nvPr/>
        </p:nvSpPr>
        <p:spPr>
          <a:xfrm>
            <a:off x="9349739" y="5843411"/>
            <a:ext cx="2544445" cy="68199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 marR="5080" indent="605790">
              <a:lnSpc>
                <a:spcPts val="2500"/>
              </a:lnSpc>
              <a:spcBef>
                <a:spcPts val="320"/>
              </a:spcBef>
            </a:pPr>
            <a:r>
              <a:rPr sz="2200" spc="-60" dirty="0">
                <a:latin typeface="Arial MT"/>
                <a:cs typeface="Arial MT"/>
              </a:rPr>
              <a:t>Linux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SBCs </a:t>
            </a:r>
            <a:r>
              <a:rPr sz="2200" spc="-120" dirty="0">
                <a:latin typeface="Arial MT"/>
                <a:cs typeface="Arial MT"/>
              </a:rPr>
              <a:t>(Managed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by</a:t>
            </a:r>
            <a:r>
              <a:rPr sz="2200" spc="-75" dirty="0">
                <a:latin typeface="Arial MT"/>
                <a:cs typeface="Arial MT"/>
              </a:rPr>
              <a:t> </a:t>
            </a:r>
            <a:r>
              <a:rPr sz="2200" spc="-114" dirty="0">
                <a:latin typeface="Arial MT"/>
                <a:cs typeface="Arial MT"/>
              </a:rPr>
              <a:t>Mender)</a:t>
            </a:r>
            <a:endParaRPr sz="2200" dirty="0">
              <a:latin typeface="Arial MT"/>
              <a:cs typeface="Arial MT"/>
            </a:endParaRPr>
          </a:p>
        </p:txBody>
      </p:sp>
      <p:sp>
        <p:nvSpPr>
          <p:cNvPr id="23" name="object 6"/>
          <p:cNvSpPr txBox="1"/>
          <p:nvPr/>
        </p:nvSpPr>
        <p:spPr>
          <a:xfrm>
            <a:off x="13611913" y="6197849"/>
            <a:ext cx="260286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30" dirty="0">
                <a:latin typeface="Arial MT"/>
                <a:cs typeface="Arial MT"/>
              </a:rPr>
              <a:t>(Managed</a:t>
            </a:r>
            <a:r>
              <a:rPr sz="2050" spc="-20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by</a:t>
            </a:r>
            <a:r>
              <a:rPr sz="2050" spc="-130" dirty="0">
                <a:latin typeface="Arial MT"/>
                <a:cs typeface="Arial MT"/>
              </a:rPr>
              <a:t> </a:t>
            </a:r>
            <a:r>
              <a:rPr sz="2050" spc="-105" dirty="0">
                <a:latin typeface="Arial MT"/>
                <a:cs typeface="Arial MT"/>
              </a:rPr>
              <a:t>ESP</a:t>
            </a:r>
            <a:r>
              <a:rPr sz="2050" spc="105" dirty="0">
                <a:latin typeface="Arial MT"/>
                <a:cs typeface="Arial MT"/>
              </a:rPr>
              <a:t> </a:t>
            </a:r>
            <a:r>
              <a:rPr sz="2050" spc="-70" dirty="0">
                <a:latin typeface="Arial MT"/>
                <a:cs typeface="Arial MT"/>
              </a:rPr>
              <a:t>IDF)</a:t>
            </a:r>
            <a:endParaRPr sz="20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2006600"/>
            <a:ext cx="11988800" cy="6946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95400" y="6477000"/>
            <a:ext cx="571500" cy="5334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95400" y="4292600"/>
            <a:ext cx="571500" cy="508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008100" y="2362200"/>
            <a:ext cx="419100" cy="533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51300" y="3035300"/>
            <a:ext cx="787400" cy="558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350" spc="60" dirty="0">
                <a:solidFill>
                  <a:srgbClr val="08132F"/>
                </a:solidFill>
              </a:rPr>
              <a:t>Architecture:</a:t>
            </a:r>
            <a:r>
              <a:rPr sz="5350" spc="-100" dirty="0">
                <a:solidFill>
                  <a:srgbClr val="08132F"/>
                </a:solidFill>
              </a:rPr>
              <a:t> </a:t>
            </a:r>
            <a:r>
              <a:rPr sz="5350" spc="-55" dirty="0">
                <a:solidFill>
                  <a:srgbClr val="0F1836"/>
                </a:solidFill>
              </a:rPr>
              <a:t>From</a:t>
            </a:r>
            <a:r>
              <a:rPr sz="5350" spc="-310" dirty="0">
                <a:solidFill>
                  <a:srgbClr val="0F1836"/>
                </a:solidFill>
              </a:rPr>
              <a:t> </a:t>
            </a:r>
            <a:r>
              <a:rPr sz="5350" dirty="0">
                <a:solidFill>
                  <a:srgbClr val="0C1A36"/>
                </a:solidFill>
              </a:rPr>
              <a:t>Central</a:t>
            </a:r>
            <a:r>
              <a:rPr sz="5350" spc="-245" dirty="0">
                <a:solidFill>
                  <a:srgbClr val="0C1A36"/>
                </a:solidFill>
              </a:rPr>
              <a:t> </a:t>
            </a:r>
            <a:r>
              <a:rPr sz="5350" dirty="0">
                <a:solidFill>
                  <a:srgbClr val="0A1331"/>
                </a:solidFill>
              </a:rPr>
              <a:t>Manager</a:t>
            </a:r>
            <a:r>
              <a:rPr sz="5350" spc="155" dirty="0">
                <a:solidFill>
                  <a:srgbClr val="0A1331"/>
                </a:solidFill>
              </a:rPr>
              <a:t> </a:t>
            </a:r>
            <a:r>
              <a:rPr sz="5350" dirty="0">
                <a:solidFill>
                  <a:srgbClr val="07132A"/>
                </a:solidFill>
              </a:rPr>
              <a:t>to</a:t>
            </a:r>
            <a:r>
              <a:rPr sz="5350" spc="-90" dirty="0">
                <a:solidFill>
                  <a:srgbClr val="07132A"/>
                </a:solidFill>
              </a:rPr>
              <a:t> </a:t>
            </a:r>
            <a:r>
              <a:rPr sz="5350" spc="-40" dirty="0">
                <a:solidFill>
                  <a:srgbClr val="0F1A34"/>
                </a:solidFill>
              </a:rPr>
              <a:t>Edge</a:t>
            </a:r>
            <a:r>
              <a:rPr sz="5350" spc="-365" dirty="0">
                <a:solidFill>
                  <a:srgbClr val="0F1A34"/>
                </a:solidFill>
              </a:rPr>
              <a:t> </a:t>
            </a:r>
            <a:r>
              <a:rPr sz="5350" spc="-10" dirty="0">
                <a:solidFill>
                  <a:srgbClr val="1A1A1A"/>
                </a:solidFill>
              </a:rPr>
              <a:t>Sensor</a:t>
            </a:r>
            <a:endParaRPr sz="5350"/>
          </a:p>
        </p:txBody>
      </p:sp>
      <p:sp>
        <p:nvSpPr>
          <p:cNvPr id="8" name="object 8"/>
          <p:cNvSpPr txBox="1"/>
          <p:nvPr/>
        </p:nvSpPr>
        <p:spPr>
          <a:xfrm>
            <a:off x="1158493" y="3451577"/>
            <a:ext cx="1170940" cy="5549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450" spc="-85" dirty="0">
                <a:solidFill>
                  <a:srgbClr val="343434"/>
                </a:solidFill>
                <a:latin typeface="Cambria"/>
                <a:cs typeface="Cambria"/>
              </a:rPr>
              <a:t>docter</a:t>
            </a:r>
            <a:endParaRPr sz="34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22530" y="3690762"/>
            <a:ext cx="1170941" cy="2250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z="1350" dirty="0">
                <a:latin typeface="Arial MT"/>
                <a:cs typeface="Arial MT"/>
              </a:rPr>
              <a:t>MOSQUITTO</a:t>
            </a:r>
            <a:endParaRPr sz="135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9463" y="4961466"/>
            <a:ext cx="1477010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dirty="0">
                <a:latin typeface="Arial MT"/>
                <a:cs typeface="Arial MT"/>
              </a:rPr>
              <a:t>Modbus</a:t>
            </a:r>
            <a:r>
              <a:rPr sz="2050" spc="-105" dirty="0">
                <a:latin typeface="Arial MT"/>
                <a:cs typeface="Arial MT"/>
              </a:rPr>
              <a:t> </a:t>
            </a:r>
            <a:r>
              <a:rPr sz="2050" spc="-130" dirty="0">
                <a:latin typeface="Arial MT"/>
                <a:cs typeface="Arial MT"/>
              </a:rPr>
              <a:t>TCP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03131" y="5270852"/>
            <a:ext cx="2205990" cy="831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10"/>
              </a:lnSpc>
              <a:spcBef>
                <a:spcPts val="95"/>
              </a:spcBef>
            </a:pPr>
            <a:r>
              <a:rPr sz="2850" spc="45" dirty="0">
                <a:solidFill>
                  <a:srgbClr val="0C0C0C"/>
                </a:solidFill>
                <a:latin typeface="Calibri"/>
                <a:cs typeface="Calibri"/>
              </a:rPr>
              <a:t>Protocol</a:t>
            </a:r>
            <a:endParaRPr sz="2850">
              <a:latin typeface="Calibri"/>
              <a:cs typeface="Calibri"/>
            </a:endParaRPr>
          </a:p>
          <a:p>
            <a:pPr marL="30480">
              <a:lnSpc>
                <a:spcPts val="3229"/>
              </a:lnSpc>
            </a:pPr>
            <a:r>
              <a:rPr sz="2950" spc="-100" dirty="0">
                <a:solidFill>
                  <a:srgbClr val="0E0E0E"/>
                </a:solidFill>
                <a:latin typeface="Arial MT"/>
                <a:cs typeface="Arial MT"/>
              </a:rPr>
              <a:t>Adapter</a:t>
            </a:r>
            <a:r>
              <a:rPr sz="2950" spc="-9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2950" spc="-140" dirty="0">
                <a:solidFill>
                  <a:srgbClr val="030A1A"/>
                </a:solidFill>
                <a:latin typeface="Arial MT"/>
                <a:cs typeface="Arial MT"/>
              </a:rPr>
              <a:t>Layer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26317" y="6032147"/>
            <a:ext cx="13246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265" dirty="0">
                <a:latin typeface="Arial MT"/>
                <a:cs typeface="Arial MT"/>
              </a:rPr>
              <a:t>BLE</a:t>
            </a:r>
            <a:r>
              <a:rPr sz="2150" spc="65" dirty="0">
                <a:latin typeface="Arial MT"/>
                <a:cs typeface="Arial MT"/>
              </a:rPr>
              <a:t> </a:t>
            </a:r>
            <a:r>
              <a:rPr sz="2150" spc="-100" dirty="0">
                <a:latin typeface="Arial MT"/>
                <a:cs typeface="Arial MT"/>
              </a:rPr>
              <a:t>Mesh</a:t>
            </a:r>
            <a:endParaRPr sz="215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34426" y="2587272"/>
            <a:ext cx="2600960" cy="817244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 indent="1027430">
              <a:lnSpc>
                <a:spcPts val="2900"/>
              </a:lnSpc>
              <a:spcBef>
                <a:spcPts val="555"/>
              </a:spcBef>
            </a:pPr>
            <a:r>
              <a:rPr sz="2750" spc="-10" dirty="0">
                <a:latin typeface="Arial MT"/>
                <a:cs typeface="Arial MT"/>
              </a:rPr>
              <a:t>Gateway</a:t>
            </a:r>
            <a:r>
              <a:rPr sz="2750" spc="-100" dirty="0">
                <a:latin typeface="Arial MT"/>
                <a:cs typeface="Arial MT"/>
              </a:rPr>
              <a:t> </a:t>
            </a:r>
            <a:r>
              <a:rPr sz="2750" spc="-50" dirty="0">
                <a:solidFill>
                  <a:srgbClr val="070707"/>
                </a:solidFill>
                <a:latin typeface="Arial MT"/>
                <a:cs typeface="Arial MT"/>
              </a:rPr>
              <a:t>/ </a:t>
            </a:r>
            <a:r>
              <a:rPr sz="2750" dirty="0">
                <a:latin typeface="Arial MT"/>
                <a:cs typeface="Arial MT"/>
              </a:rPr>
              <a:t>Central</a:t>
            </a:r>
            <a:r>
              <a:rPr sz="2750" spc="-125" dirty="0">
                <a:latin typeface="Arial MT"/>
                <a:cs typeface="Arial MT"/>
              </a:rPr>
              <a:t> </a:t>
            </a:r>
            <a:r>
              <a:rPr sz="2750" spc="-20" dirty="0">
                <a:solidFill>
                  <a:srgbClr val="050505"/>
                </a:solidFill>
                <a:latin typeface="Arial MT"/>
                <a:cs typeface="Arial MT"/>
              </a:rPr>
              <a:t>Manager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52707" y="3606447"/>
            <a:ext cx="1984375" cy="59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540"/>
              </a:lnSpc>
              <a:spcBef>
                <a:spcPts val="100"/>
              </a:spcBef>
              <a:tabLst>
                <a:tab pos="1409700" algn="l"/>
                <a:tab pos="1846580" algn="l"/>
              </a:tabLst>
            </a:pPr>
            <a:r>
              <a:rPr sz="2150" spc="-10" dirty="0">
                <a:latin typeface="Arial MT"/>
                <a:cs typeface="Arial MT"/>
              </a:rPr>
              <a:t>Raspberry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25" dirty="0">
                <a:latin typeface="Arial MT"/>
                <a:cs typeface="Arial MT"/>
              </a:rPr>
              <a:t>Pi</a:t>
            </a:r>
            <a:r>
              <a:rPr sz="2150" dirty="0">
                <a:latin typeface="Arial MT"/>
                <a:cs typeface="Arial MT"/>
              </a:rPr>
              <a:t>	</a:t>
            </a:r>
            <a:r>
              <a:rPr sz="2150" spc="-165" dirty="0">
                <a:latin typeface="Arial MT"/>
                <a:cs typeface="Arial MT"/>
              </a:rPr>
              <a:t>4</a:t>
            </a:r>
            <a:endParaRPr sz="2150">
              <a:latin typeface="Arial MT"/>
              <a:cs typeface="Arial MT"/>
            </a:endParaRPr>
          </a:p>
          <a:p>
            <a:pPr marL="19685">
              <a:lnSpc>
                <a:spcPts val="1939"/>
              </a:lnSpc>
              <a:tabLst>
                <a:tab pos="345440" algn="l"/>
              </a:tabLst>
            </a:pPr>
            <a:r>
              <a:rPr sz="1650" spc="-25" dirty="0">
                <a:latin typeface="Arial MT"/>
                <a:cs typeface="Arial MT"/>
              </a:rPr>
              <a:t>in</a:t>
            </a:r>
            <a:r>
              <a:rPr sz="1650" dirty="0">
                <a:latin typeface="Arial MT"/>
                <a:cs typeface="Arial MT"/>
              </a:rPr>
              <a:t>	</a:t>
            </a:r>
            <a:r>
              <a:rPr sz="1650" spc="-35" dirty="0">
                <a:latin typeface="Arial MT"/>
                <a:cs typeface="Arial MT"/>
              </a:rPr>
              <a:t>Jet</a:t>
            </a:r>
            <a:r>
              <a:rPr sz="1650" spc="295" dirty="0">
                <a:latin typeface="Arial MT"/>
                <a:cs typeface="Arial MT"/>
              </a:rPr>
              <a:t> </a:t>
            </a:r>
            <a:r>
              <a:rPr sz="1650" spc="85" dirty="0">
                <a:latin typeface="Arial MT"/>
                <a:cs typeface="Arial MT"/>
              </a:rPr>
              <a:t>Brains</a:t>
            </a:r>
            <a:r>
              <a:rPr sz="1650" spc="305" dirty="0">
                <a:latin typeface="Arial MT"/>
                <a:cs typeface="Arial MT"/>
              </a:rPr>
              <a:t> </a:t>
            </a:r>
            <a:r>
              <a:rPr sz="1650" spc="-20" dirty="0">
                <a:latin typeface="Arial MT"/>
                <a:cs typeface="Arial MT"/>
              </a:rPr>
              <a:t>bono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205859" y="5101166"/>
            <a:ext cx="2894965" cy="12998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  <a:tabLst>
                <a:tab pos="334645" algn="l"/>
                <a:tab pos="1068070" algn="l"/>
                <a:tab pos="1338580" algn="l"/>
                <a:tab pos="2734945" algn="l"/>
              </a:tabLst>
            </a:pPr>
            <a:r>
              <a:rPr lang="en-IN" sz="2050" spc="-25" dirty="0">
                <a:solidFill>
                  <a:srgbClr val="6D3880"/>
                </a:solidFill>
                <a:latin typeface="Calibri"/>
                <a:cs typeface="Calibri"/>
              </a:rPr>
              <a:t>       MQ</a:t>
            </a:r>
            <a:r>
              <a:rPr sz="2050" spc="-20" dirty="0">
                <a:latin typeface="Calibri"/>
                <a:cs typeface="Calibri"/>
              </a:rPr>
              <a:t>TT</a:t>
            </a:r>
            <a:r>
              <a:rPr sz="2050" spc="-50" dirty="0">
                <a:latin typeface="Calibri"/>
                <a:cs typeface="Calibri"/>
              </a:rPr>
              <a:t>/</a:t>
            </a:r>
            <a:r>
              <a:rPr lang="en-IN" sz="2050" spc="-50" dirty="0">
                <a:latin typeface="Calibri"/>
                <a:cs typeface="Calibri"/>
              </a:rPr>
              <a:t> </a:t>
            </a:r>
            <a:r>
              <a:rPr sz="2050" spc="140" dirty="0" err="1">
                <a:latin typeface="Calibri"/>
                <a:cs typeface="Calibri"/>
              </a:rPr>
              <a:t>Sparkpluq</a:t>
            </a:r>
            <a:r>
              <a:rPr lang="en-IN" sz="2050" spc="140" dirty="0">
                <a:latin typeface="Calibri"/>
                <a:cs typeface="Calibri"/>
              </a:rPr>
              <a:t> </a:t>
            </a:r>
            <a:r>
              <a:rPr sz="2050" spc="-50" dirty="0">
                <a:latin typeface="Calibri"/>
                <a:cs typeface="Calibri"/>
              </a:rPr>
              <a:t>B</a:t>
            </a:r>
            <a:endParaRPr sz="205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50" spc="185" dirty="0">
                <a:latin typeface="Arial MT"/>
                <a:cs typeface="Arial MT"/>
              </a:rPr>
              <a:t>@</a:t>
            </a:r>
            <a:r>
              <a:rPr sz="2050" spc="-190" dirty="0">
                <a:latin typeface="Arial MT"/>
                <a:cs typeface="Arial MT"/>
              </a:rPr>
              <a:t> </a:t>
            </a:r>
            <a:r>
              <a:rPr sz="2050" spc="-285" dirty="0">
                <a:latin typeface="Arial MT"/>
                <a:cs typeface="Arial MT"/>
              </a:rPr>
              <a:t>HTTPS</a:t>
            </a:r>
            <a:endParaRPr sz="2050" dirty="0">
              <a:latin typeface="Arial MT"/>
              <a:cs typeface="Arial MT"/>
            </a:endParaRPr>
          </a:p>
          <a:p>
            <a:pPr marL="351155">
              <a:lnSpc>
                <a:spcPct val="100000"/>
              </a:lnSpc>
              <a:spcBef>
                <a:spcPts val="490"/>
              </a:spcBef>
            </a:pPr>
            <a:r>
              <a:rPr sz="1700" dirty="0">
                <a:latin typeface="Consolas"/>
                <a:cs typeface="Consolas"/>
              </a:rPr>
              <a:t>in</a:t>
            </a:r>
            <a:r>
              <a:rPr sz="1700" spc="-235" dirty="0">
                <a:latin typeface="Consolas"/>
                <a:cs typeface="Consolas"/>
              </a:rPr>
              <a:t> </a:t>
            </a:r>
            <a:r>
              <a:rPr sz="1700" spc="-40" dirty="0" err="1">
                <a:latin typeface="Consolas"/>
                <a:cs typeface="Consolas"/>
              </a:rPr>
              <a:t>JetBr</a:t>
            </a:r>
            <a:r>
              <a:rPr lang="en-IN" sz="1700" spc="-40" dirty="0">
                <a:latin typeface="Consolas"/>
                <a:cs typeface="Consolas"/>
              </a:rPr>
              <a:t>a</a:t>
            </a:r>
            <a:r>
              <a:rPr sz="1700" spc="-40" dirty="0">
                <a:latin typeface="Consolas"/>
                <a:cs typeface="Consolas"/>
              </a:rPr>
              <a:t>ins</a:t>
            </a:r>
            <a:r>
              <a:rPr sz="1700" spc="-145" dirty="0">
                <a:latin typeface="Consolas"/>
                <a:cs typeface="Consolas"/>
              </a:rPr>
              <a:t> </a:t>
            </a:r>
            <a:r>
              <a:rPr sz="1700" spc="-20" dirty="0">
                <a:latin typeface="Consolas"/>
                <a:cs typeface="Consolas"/>
              </a:rPr>
              <a:t>N</a:t>
            </a:r>
            <a:r>
              <a:rPr lang="en-IN" sz="1700" spc="-20" dirty="0">
                <a:latin typeface="Consolas"/>
                <a:cs typeface="Consolas"/>
              </a:rPr>
              <a:t>a</a:t>
            </a:r>
            <a:r>
              <a:rPr sz="1700" spc="-20" dirty="0">
                <a:latin typeface="Consolas"/>
                <a:cs typeface="Consolas"/>
              </a:rPr>
              <a:t>no</a:t>
            </a:r>
            <a:endParaRPr sz="1700" dirty="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37794" y="7302852"/>
            <a:ext cx="156972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50" spc="-60" dirty="0">
                <a:solidFill>
                  <a:srgbClr val="0C0C0C"/>
                </a:solidFill>
                <a:latin typeface="Arial MT"/>
                <a:cs typeface="Arial MT"/>
              </a:rPr>
              <a:t>Endpoints</a:t>
            </a:r>
            <a:endParaRPr sz="285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13534" y="8254647"/>
            <a:ext cx="113030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100" dirty="0">
                <a:latin typeface="Consolas"/>
                <a:cs typeface="Consolas"/>
              </a:rPr>
              <a:t>FneeRTOS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995546" y="8254647"/>
            <a:ext cx="11341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latin typeface="Consolas"/>
                <a:cs typeface="Consolas"/>
              </a:rPr>
              <a:t>/</a:t>
            </a:r>
            <a:r>
              <a:rPr sz="2150" spc="-254" dirty="0">
                <a:latin typeface="Consolas"/>
                <a:cs typeface="Consolas"/>
              </a:rPr>
              <a:t> </a:t>
            </a:r>
            <a:r>
              <a:rPr sz="2150" spc="-85" dirty="0">
                <a:latin typeface="Consolas"/>
                <a:cs typeface="Consolas"/>
              </a:rPr>
              <a:t>TinyNL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688276" y="2956630"/>
            <a:ext cx="2684145" cy="10775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292100" marR="5080" indent="-280035">
              <a:lnSpc>
                <a:spcPts val="2600"/>
              </a:lnSpc>
              <a:spcBef>
                <a:spcPts val="590"/>
              </a:spcBef>
            </a:pPr>
            <a:r>
              <a:rPr sz="2550" spc="-50" dirty="0">
                <a:latin typeface="Calibri"/>
                <a:cs typeface="Calibri"/>
              </a:rPr>
              <a:t>1.</a:t>
            </a:r>
            <a:r>
              <a:rPr sz="2550" spc="-120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Trust:</a:t>
            </a:r>
            <a:r>
              <a:rPr sz="2550" spc="50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Certificate </a:t>
            </a:r>
            <a:r>
              <a:rPr sz="2550" spc="-70" dirty="0">
                <a:latin typeface="Calibri"/>
                <a:cs typeface="Calibri"/>
              </a:rPr>
              <a:t>Authority</a:t>
            </a:r>
            <a:r>
              <a:rPr sz="2550" spc="55" dirty="0">
                <a:latin typeface="Calibri"/>
                <a:cs typeface="Calibri"/>
              </a:rPr>
              <a:t> </a:t>
            </a:r>
            <a:r>
              <a:rPr sz="2550" dirty="0">
                <a:latin typeface="Calibri"/>
                <a:cs typeface="Calibri"/>
              </a:rPr>
              <a:t>(CA)</a:t>
            </a:r>
            <a:r>
              <a:rPr sz="2550" spc="-15" dirty="0">
                <a:latin typeface="Calibri"/>
                <a:cs typeface="Calibri"/>
              </a:rPr>
              <a:t> </a:t>
            </a:r>
            <a:r>
              <a:rPr sz="2550" spc="-25" dirty="0">
                <a:latin typeface="Calibri"/>
                <a:cs typeface="Calibri"/>
              </a:rPr>
              <a:t>and </a:t>
            </a:r>
            <a:r>
              <a:rPr sz="2550" dirty="0">
                <a:latin typeface="Calibri"/>
                <a:cs typeface="Calibri"/>
              </a:rPr>
              <a:t>NVS</a:t>
            </a:r>
            <a:r>
              <a:rPr sz="2550" spc="135" dirty="0">
                <a:latin typeface="Calibri"/>
                <a:cs typeface="Calibri"/>
              </a:rPr>
              <a:t> </a:t>
            </a:r>
            <a:r>
              <a:rPr sz="2550" spc="-10" dirty="0">
                <a:latin typeface="Calibri"/>
                <a:cs typeface="Calibri"/>
              </a:rPr>
              <a:t>Storage.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681189" y="4867627"/>
            <a:ext cx="2355850" cy="135509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304165" marR="5080" indent="-292100">
              <a:lnSpc>
                <a:spcPts val="2600"/>
              </a:lnSpc>
              <a:spcBef>
                <a:spcPts val="240"/>
              </a:spcBef>
            </a:pPr>
            <a:r>
              <a:rPr sz="2500" spc="-155" dirty="0">
                <a:latin typeface="Arial MT"/>
                <a:cs typeface="Arial MT"/>
              </a:rPr>
              <a:t>2.</a:t>
            </a:r>
            <a:r>
              <a:rPr sz="2500" spc="-195" dirty="0">
                <a:latin typeface="Arial MT"/>
                <a:cs typeface="Arial MT"/>
              </a:rPr>
              <a:t> </a:t>
            </a:r>
            <a:r>
              <a:rPr sz="2200" spc="70" dirty="0">
                <a:latin typeface="Arial MT"/>
                <a:cs typeface="Arial MT"/>
              </a:rPr>
              <a:t>Delivery: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Binary </a:t>
            </a:r>
            <a:r>
              <a:rPr sz="2200" dirty="0">
                <a:latin typeface="Arial MT"/>
                <a:cs typeface="Arial MT"/>
              </a:rPr>
              <a:t>signing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and </a:t>
            </a:r>
            <a:r>
              <a:rPr sz="2200" dirty="0">
                <a:latin typeface="Arial MT"/>
                <a:cs typeface="Arial MT"/>
              </a:rPr>
              <a:t>distribution</a:t>
            </a:r>
            <a:r>
              <a:rPr sz="2200" spc="10" dirty="0">
                <a:latin typeface="Arial MT"/>
                <a:cs typeface="Arial MT"/>
              </a:rPr>
              <a:t>  </a:t>
            </a:r>
            <a:r>
              <a:rPr sz="2200" spc="-25" dirty="0">
                <a:latin typeface="Arial MT"/>
                <a:cs typeface="Arial MT"/>
              </a:rPr>
              <a:t>via </a:t>
            </a:r>
            <a:r>
              <a:rPr sz="2200" spc="-10" dirty="0">
                <a:latin typeface="Arial MT"/>
                <a:cs typeface="Arial MT"/>
              </a:rPr>
              <a:t>MQTT/HTTPS.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678369" y="7072489"/>
            <a:ext cx="2973705" cy="137414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301625" marR="5080" indent="-289560">
              <a:lnSpc>
                <a:spcPts val="2600"/>
              </a:lnSpc>
              <a:spcBef>
                <a:spcPts val="380"/>
              </a:spcBef>
            </a:pPr>
            <a:r>
              <a:rPr sz="2300" spc="-50" dirty="0">
                <a:latin typeface="Arial MT"/>
                <a:cs typeface="Arial MT"/>
              </a:rPr>
              <a:t>3.</a:t>
            </a:r>
            <a:r>
              <a:rPr sz="2300" spc="-18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Defense:</a:t>
            </a:r>
            <a:r>
              <a:rPr sz="2350" spc="-12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Local </a:t>
            </a:r>
            <a:r>
              <a:rPr sz="2300" spc="-40" dirty="0" err="1">
                <a:latin typeface="Arial MT"/>
                <a:cs typeface="Arial MT"/>
              </a:rPr>
              <a:t>TinyML</a:t>
            </a:r>
            <a:r>
              <a:rPr sz="2300" spc="-120" dirty="0">
                <a:latin typeface="Arial MT"/>
                <a:cs typeface="Arial MT"/>
              </a:rPr>
              <a:t> </a:t>
            </a:r>
            <a:r>
              <a:rPr sz="2300" spc="-25" dirty="0" err="1">
                <a:latin typeface="Arial MT"/>
                <a:cs typeface="Arial MT"/>
              </a:rPr>
              <a:t>baseines</a:t>
            </a:r>
            <a:r>
              <a:rPr sz="2300" spc="3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vs. </a:t>
            </a:r>
            <a:r>
              <a:rPr sz="2200" dirty="0">
                <a:latin typeface="Arial MT"/>
                <a:cs typeface="Arial MT"/>
              </a:rPr>
              <a:t>Global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analysis</a:t>
            </a:r>
            <a:r>
              <a:rPr sz="2200" spc="65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via </a:t>
            </a:r>
            <a:r>
              <a:rPr sz="2300" spc="-30" dirty="0">
                <a:latin typeface="Arial MT"/>
                <a:cs typeface="Arial MT"/>
              </a:rPr>
              <a:t>Scikit-</a:t>
            </a:r>
            <a:r>
              <a:rPr sz="2300" spc="-10" dirty="0">
                <a:latin typeface="Arial MT"/>
                <a:cs typeface="Arial MT"/>
              </a:rPr>
              <a:t>Learn.</a:t>
            </a:r>
            <a:endParaRPr sz="23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9D780C-8445-E583-5EC8-33675322F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43"/>
          <a:stretch>
            <a:fillRect/>
          </a:stretch>
        </p:blipFill>
        <p:spPr>
          <a:xfrm>
            <a:off x="-8835" y="533400"/>
            <a:ext cx="17484035" cy="853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259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400" y="5638800"/>
            <a:ext cx="812800" cy="812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02200" y="5461000"/>
            <a:ext cx="3708400" cy="31496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86000" y="5448300"/>
            <a:ext cx="1600200" cy="3175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5700" y="2273300"/>
            <a:ext cx="863600" cy="863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59500" y="2057400"/>
            <a:ext cx="2451100" cy="31877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316200" y="2070100"/>
            <a:ext cx="1257300" cy="31623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18600" y="2286000"/>
            <a:ext cx="977900" cy="850900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4338300" y="2768600"/>
            <a:ext cx="914400" cy="863600"/>
            <a:chOff x="14338300" y="2768600"/>
            <a:chExt cx="914400" cy="863600"/>
          </a:xfrm>
        </p:grpSpPr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338300" y="3009900"/>
              <a:ext cx="914400" cy="622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87600" y="2768600"/>
              <a:ext cx="114300" cy="520700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160500" y="3683000"/>
            <a:ext cx="1219200" cy="153670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200" dirty="0"/>
              <a:t>Implementation</a:t>
            </a:r>
            <a:r>
              <a:rPr spc="-815" dirty="0"/>
              <a:t> </a:t>
            </a:r>
            <a:r>
              <a:rPr spc="60" dirty="0">
                <a:solidFill>
                  <a:srgbClr val="0A1C36"/>
                </a:solidFill>
              </a:rPr>
              <a:t>Stack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09057" y="2353380"/>
            <a:ext cx="2169795" cy="607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800" spc="-10" dirty="0">
                <a:solidFill>
                  <a:srgbClr val="161616"/>
                </a:solidFill>
                <a:latin typeface="Arial MT"/>
                <a:cs typeface="Arial MT"/>
              </a:rPr>
              <a:t>Hardware</a:t>
            </a:r>
            <a:endParaRPr sz="38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76348" y="3175288"/>
            <a:ext cx="4381500" cy="2016578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745"/>
              </a:spcBef>
              <a:tabLst>
                <a:tab pos="308610" algn="l"/>
              </a:tabLst>
            </a:pPr>
            <a:r>
              <a:rPr sz="4350" spc="-1312" baseline="7662" dirty="0">
                <a:solidFill>
                  <a:srgbClr val="BD8052"/>
                </a:solidFill>
                <a:latin typeface="Arial MT"/>
                <a:cs typeface="Arial MT"/>
              </a:rPr>
              <a:t>o</a:t>
            </a:r>
            <a:r>
              <a:rPr sz="4350" baseline="7662" dirty="0">
                <a:solidFill>
                  <a:srgbClr val="BD8052"/>
                </a:solidFill>
                <a:latin typeface="Arial MT"/>
                <a:cs typeface="Arial MT"/>
              </a:rPr>
              <a:t>	</a:t>
            </a:r>
            <a:r>
              <a:rPr sz="2900" spc="-50" dirty="0">
                <a:latin typeface="Arial MT"/>
                <a:cs typeface="Arial MT"/>
              </a:rPr>
              <a:t>Raspberry</a:t>
            </a:r>
            <a:r>
              <a:rPr sz="2900" spc="12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Pi</a:t>
            </a:r>
            <a:r>
              <a:rPr sz="2900" spc="-12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4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85" dirty="0">
                <a:latin typeface="Arial MT"/>
                <a:cs typeface="Arial MT"/>
              </a:rPr>
              <a:t>(Gateway)</a:t>
            </a:r>
            <a:r>
              <a:rPr lang="en-IN" sz="2900" spc="-85" dirty="0">
                <a:latin typeface="Arial MT"/>
                <a:cs typeface="Arial MT"/>
              </a:rPr>
              <a:t>      or any SBC’s</a:t>
            </a:r>
            <a:endParaRPr sz="2900" dirty="0">
              <a:latin typeface="Arial MT"/>
              <a:cs typeface="Arial MT"/>
            </a:endParaRPr>
          </a:p>
          <a:p>
            <a:pPr marL="307340" indent="-294640">
              <a:lnSpc>
                <a:spcPct val="100000"/>
              </a:lnSpc>
              <a:spcBef>
                <a:spcPts val="670"/>
              </a:spcBef>
              <a:buClr>
                <a:srgbClr val="C3723F"/>
              </a:buClr>
              <a:buChar char="•"/>
              <a:tabLst>
                <a:tab pos="307340" algn="l"/>
              </a:tabLst>
            </a:pPr>
            <a:r>
              <a:rPr sz="3050" spc="-275" dirty="0">
                <a:latin typeface="Arial MT"/>
                <a:cs typeface="Arial MT"/>
              </a:rPr>
              <a:t>ESP32</a:t>
            </a:r>
            <a:r>
              <a:rPr sz="3050" spc="140" dirty="0">
                <a:latin typeface="Arial MT"/>
                <a:cs typeface="Arial MT"/>
              </a:rPr>
              <a:t> </a:t>
            </a:r>
            <a:r>
              <a:rPr sz="3050" spc="-55" dirty="0">
                <a:latin typeface="Arial MT"/>
                <a:cs typeface="Arial MT"/>
              </a:rPr>
              <a:t>(Endpoint)</a:t>
            </a:r>
            <a:r>
              <a:rPr lang="en-IN" sz="3050" spc="-55" dirty="0">
                <a:latin typeface="Arial MT"/>
                <a:cs typeface="Arial MT"/>
              </a:rPr>
              <a:t> or Microcontroller’s</a:t>
            </a:r>
            <a:endParaRPr sz="305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6817" y="5727700"/>
            <a:ext cx="4558665" cy="2440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3750" algn="ctr">
              <a:lnSpc>
                <a:spcPct val="100000"/>
              </a:lnSpc>
              <a:spcBef>
                <a:spcPts val="100"/>
              </a:spcBef>
            </a:pPr>
            <a:r>
              <a:rPr sz="3750" spc="50" dirty="0">
                <a:solidFill>
                  <a:srgbClr val="0F0F0F"/>
                </a:solidFill>
                <a:latin typeface="Arial MT"/>
                <a:cs typeface="Arial MT"/>
              </a:rPr>
              <a:t>Firmware</a:t>
            </a:r>
            <a:r>
              <a:rPr sz="3750" spc="-3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3750" dirty="0">
                <a:solidFill>
                  <a:srgbClr val="031124"/>
                </a:solidFill>
                <a:latin typeface="Arial MT"/>
                <a:cs typeface="Arial MT"/>
              </a:rPr>
              <a:t>&amp;</a:t>
            </a:r>
            <a:r>
              <a:rPr sz="3750" spc="-265" dirty="0">
                <a:solidFill>
                  <a:srgbClr val="031124"/>
                </a:solidFill>
                <a:latin typeface="Arial MT"/>
                <a:cs typeface="Arial MT"/>
              </a:rPr>
              <a:t> </a:t>
            </a:r>
            <a:r>
              <a:rPr sz="3750" spc="-20" dirty="0">
                <a:solidFill>
                  <a:srgbClr val="0A162A"/>
                </a:solidFill>
                <a:latin typeface="Arial MT"/>
                <a:cs typeface="Arial MT"/>
              </a:rPr>
              <a:t>Edge</a:t>
            </a:r>
            <a:endParaRPr sz="3750" dirty="0">
              <a:latin typeface="Arial MT"/>
              <a:cs typeface="Arial MT"/>
            </a:endParaRPr>
          </a:p>
          <a:p>
            <a:pPr marL="19685" marR="2670175" indent="-7620">
              <a:lnSpc>
                <a:spcPct val="111600"/>
              </a:lnSpc>
              <a:spcBef>
                <a:spcPts val="2190"/>
              </a:spcBef>
              <a:buClr>
                <a:srgbClr val="BA7549"/>
              </a:buClr>
              <a:buChar char="•"/>
              <a:tabLst>
                <a:tab pos="19685" algn="l"/>
                <a:tab pos="306070" algn="l"/>
              </a:tabLst>
            </a:pPr>
            <a:r>
              <a:rPr sz="2950" spc="-245" dirty="0">
                <a:latin typeface="Arial MT"/>
                <a:cs typeface="Arial MT"/>
              </a:rPr>
              <a:t>	FreeRTOS </a:t>
            </a:r>
            <a:r>
              <a:rPr sz="2950" spc="-905" dirty="0">
                <a:solidFill>
                  <a:srgbClr val="BA8059"/>
                </a:solidFill>
                <a:latin typeface="Arial MT"/>
                <a:cs typeface="Arial MT"/>
              </a:rPr>
              <a:t>o</a:t>
            </a:r>
            <a:r>
              <a:rPr sz="2950" dirty="0">
                <a:solidFill>
                  <a:srgbClr val="BA8059"/>
                </a:solidFill>
                <a:latin typeface="Arial MT"/>
                <a:cs typeface="Arial MT"/>
              </a:rPr>
              <a:t>	</a:t>
            </a:r>
            <a:r>
              <a:rPr sz="2950" spc="-795" dirty="0">
                <a:solidFill>
                  <a:srgbClr val="BA8059"/>
                </a:solidFill>
                <a:latin typeface="Arial MT"/>
                <a:cs typeface="Arial MT"/>
              </a:rPr>
              <a:t> </a:t>
            </a:r>
            <a:r>
              <a:rPr sz="2950" spc="-220" dirty="0">
                <a:latin typeface="Arial MT"/>
                <a:cs typeface="Arial MT"/>
              </a:rPr>
              <a:t>ESP-</a:t>
            </a:r>
            <a:r>
              <a:rPr sz="2950" spc="-15" dirty="0">
                <a:latin typeface="Arial MT"/>
                <a:cs typeface="Arial MT"/>
              </a:rPr>
              <a:t>IDF</a:t>
            </a:r>
            <a:endParaRPr sz="2950" dirty="0">
              <a:latin typeface="Arial MT"/>
              <a:cs typeface="Arial MT"/>
            </a:endParaRPr>
          </a:p>
          <a:p>
            <a:pPr marL="316230" indent="-302895">
              <a:lnSpc>
                <a:spcPct val="100000"/>
              </a:lnSpc>
              <a:spcBef>
                <a:spcPts val="1010"/>
              </a:spcBef>
              <a:buClr>
                <a:srgbClr val="CD7C3D"/>
              </a:buClr>
              <a:buChar char="•"/>
              <a:tabLst>
                <a:tab pos="316230" algn="l"/>
              </a:tabLst>
            </a:pPr>
            <a:r>
              <a:rPr sz="2850" spc="-25" dirty="0">
                <a:latin typeface="Arial MT"/>
                <a:cs typeface="Arial MT"/>
              </a:rPr>
              <a:t>TinyML</a:t>
            </a:r>
            <a:r>
              <a:rPr sz="2850" spc="-140" dirty="0">
                <a:latin typeface="Arial MT"/>
                <a:cs typeface="Arial MT"/>
              </a:rPr>
              <a:t> </a:t>
            </a:r>
            <a:r>
              <a:rPr sz="2850" spc="-20" dirty="0">
                <a:latin typeface="Arial MT"/>
                <a:cs typeface="Arial MT"/>
              </a:rPr>
              <a:t>Lite</a:t>
            </a:r>
            <a:endParaRPr sz="285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278305" y="2362200"/>
            <a:ext cx="448627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105" dirty="0">
                <a:solidFill>
                  <a:srgbClr val="111111"/>
                </a:solidFill>
                <a:latin typeface="Arial MT"/>
                <a:cs typeface="Arial MT"/>
              </a:rPr>
              <a:t>Software</a:t>
            </a:r>
            <a:r>
              <a:rPr sz="3750" spc="-6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3750" dirty="0">
                <a:solidFill>
                  <a:srgbClr val="0C2133"/>
                </a:solidFill>
                <a:latin typeface="Arial MT"/>
                <a:cs typeface="Arial MT"/>
              </a:rPr>
              <a:t>&amp;</a:t>
            </a:r>
            <a:r>
              <a:rPr sz="3750" spc="-254" dirty="0">
                <a:solidFill>
                  <a:srgbClr val="0C2133"/>
                </a:solidFill>
                <a:latin typeface="Arial MT"/>
                <a:cs typeface="Arial MT"/>
              </a:rPr>
              <a:t> </a:t>
            </a:r>
            <a:r>
              <a:rPr sz="3750" spc="-10" dirty="0">
                <a:solidFill>
                  <a:srgbClr val="0A1A2F"/>
                </a:solidFill>
                <a:latin typeface="Arial MT"/>
                <a:cs typeface="Arial MT"/>
              </a:rPr>
              <a:t>Backend</a:t>
            </a:r>
            <a:endParaRPr sz="37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01617" y="3207043"/>
            <a:ext cx="4502785" cy="159956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436245" indent="-397510">
              <a:lnSpc>
                <a:spcPct val="100000"/>
              </a:lnSpc>
              <a:spcBef>
                <a:spcPts val="645"/>
              </a:spcBef>
              <a:buClr>
                <a:srgbClr val="DB6E28"/>
              </a:buClr>
              <a:buChar char="•"/>
              <a:tabLst>
                <a:tab pos="436245" algn="l"/>
              </a:tabLst>
            </a:pPr>
            <a:r>
              <a:rPr sz="2850" dirty="0">
                <a:latin typeface="Arial MT"/>
                <a:cs typeface="Arial MT"/>
              </a:rPr>
              <a:t>Python</a:t>
            </a:r>
            <a:r>
              <a:rPr sz="2850" spc="4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/</a:t>
            </a:r>
            <a:r>
              <a:rPr sz="2850" spc="-15" dirty="0">
                <a:latin typeface="Arial MT"/>
                <a:cs typeface="Arial MT"/>
              </a:rPr>
              <a:t> </a:t>
            </a:r>
            <a:r>
              <a:rPr sz="2850" spc="-20" dirty="0">
                <a:latin typeface="Arial MT"/>
                <a:cs typeface="Arial MT"/>
              </a:rPr>
              <a:t>Flask</a:t>
            </a:r>
            <a:endParaRPr sz="2850">
              <a:latin typeface="Arial MT"/>
              <a:cs typeface="Arial MT"/>
            </a:endParaRPr>
          </a:p>
          <a:p>
            <a:pPr marL="45720">
              <a:lnSpc>
                <a:spcPct val="100000"/>
              </a:lnSpc>
              <a:spcBef>
                <a:spcPts val="580"/>
              </a:spcBef>
              <a:tabLst>
                <a:tab pos="435609" algn="l"/>
              </a:tabLst>
            </a:pPr>
            <a:r>
              <a:rPr sz="4350" spc="-1312" baseline="6704" dirty="0">
                <a:solidFill>
                  <a:srgbClr val="B8794D"/>
                </a:solidFill>
                <a:latin typeface="Arial MT"/>
                <a:cs typeface="Arial MT"/>
              </a:rPr>
              <a:t>o</a:t>
            </a:r>
            <a:r>
              <a:rPr sz="4350" baseline="6704" dirty="0">
                <a:solidFill>
                  <a:srgbClr val="B8794D"/>
                </a:solidFill>
                <a:latin typeface="Arial MT"/>
                <a:cs typeface="Arial MT"/>
              </a:rPr>
              <a:t>	</a:t>
            </a:r>
            <a:r>
              <a:rPr sz="2900" spc="-40" dirty="0">
                <a:latin typeface="Arial MT"/>
                <a:cs typeface="Arial MT"/>
              </a:rPr>
              <a:t>Docker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Containers</a:t>
            </a:r>
            <a:endParaRPr sz="2900">
              <a:latin typeface="Arial MT"/>
              <a:cs typeface="Arial MT"/>
            </a:endParaRPr>
          </a:p>
          <a:p>
            <a:pPr marL="436245" indent="-398145">
              <a:lnSpc>
                <a:spcPct val="100000"/>
              </a:lnSpc>
              <a:spcBef>
                <a:spcPts val="819"/>
              </a:spcBef>
              <a:buClr>
                <a:srgbClr val="D4773A"/>
              </a:buClr>
              <a:buChar char="•"/>
              <a:tabLst>
                <a:tab pos="436245" algn="l"/>
              </a:tabLst>
            </a:pPr>
            <a:r>
              <a:rPr sz="2950" spc="-10" dirty="0">
                <a:latin typeface="Arial MT"/>
                <a:cs typeface="Arial MT"/>
              </a:rPr>
              <a:t>Mosquitto</a:t>
            </a:r>
            <a:r>
              <a:rPr sz="2950" spc="-30" dirty="0">
                <a:latin typeface="Arial MT"/>
                <a:cs typeface="Arial MT"/>
              </a:rPr>
              <a:t> </a:t>
            </a:r>
            <a:r>
              <a:rPr sz="2950" spc="-160" dirty="0">
                <a:latin typeface="Arial MT"/>
                <a:cs typeface="Arial MT"/>
              </a:rPr>
              <a:t>(MQTT</a:t>
            </a:r>
            <a:r>
              <a:rPr sz="2950" spc="-40" dirty="0">
                <a:latin typeface="Arial MT"/>
                <a:cs typeface="Arial MT"/>
              </a:rPr>
              <a:t> </a:t>
            </a:r>
            <a:r>
              <a:rPr sz="2950" spc="-85" dirty="0">
                <a:latin typeface="Arial MT"/>
                <a:cs typeface="Arial MT"/>
              </a:rPr>
              <a:t>Broker)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88725" y="5718880"/>
            <a:ext cx="5450205" cy="19145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260985" algn="ctr">
              <a:lnSpc>
                <a:spcPct val="100000"/>
              </a:lnSpc>
              <a:spcBef>
                <a:spcPts val="120"/>
              </a:spcBef>
            </a:pPr>
            <a:r>
              <a:rPr sz="3800" dirty="0">
                <a:latin typeface="Arial MT"/>
                <a:cs typeface="Arial MT"/>
              </a:rPr>
              <a:t>.</a:t>
            </a:r>
            <a:r>
              <a:rPr sz="3800" spc="220" dirty="0">
                <a:latin typeface="Arial MT"/>
                <a:cs typeface="Arial MT"/>
              </a:rPr>
              <a:t> </a:t>
            </a:r>
            <a:r>
              <a:rPr sz="3800" spc="85" dirty="0">
                <a:solidFill>
                  <a:srgbClr val="161616"/>
                </a:solidFill>
                <a:latin typeface="Arial MT"/>
                <a:cs typeface="Arial MT"/>
              </a:rPr>
              <a:t>Security</a:t>
            </a:r>
            <a:r>
              <a:rPr sz="3800" spc="60" dirty="0">
                <a:solidFill>
                  <a:srgbClr val="161616"/>
                </a:solidFill>
                <a:latin typeface="Arial MT"/>
                <a:cs typeface="Arial MT"/>
              </a:rPr>
              <a:t> </a:t>
            </a:r>
            <a:r>
              <a:rPr sz="3800" dirty="0">
                <a:solidFill>
                  <a:srgbClr val="0C1C31"/>
                </a:solidFill>
                <a:latin typeface="Arial MT"/>
                <a:cs typeface="Arial MT"/>
              </a:rPr>
              <a:t>&amp;</a:t>
            </a:r>
            <a:r>
              <a:rPr sz="3800" spc="-204" dirty="0">
                <a:solidFill>
                  <a:srgbClr val="0C1C31"/>
                </a:solidFill>
                <a:latin typeface="Arial MT"/>
                <a:cs typeface="Arial MT"/>
              </a:rPr>
              <a:t> </a:t>
            </a:r>
            <a:r>
              <a:rPr sz="3800" spc="-20" dirty="0">
                <a:solidFill>
                  <a:srgbClr val="161616"/>
                </a:solidFill>
                <a:latin typeface="Arial MT"/>
                <a:cs typeface="Arial MT"/>
              </a:rPr>
              <a:t>VAPT</a:t>
            </a:r>
            <a:endParaRPr sz="3800" dirty="0">
              <a:latin typeface="Arial MT"/>
              <a:cs typeface="Arial MT"/>
            </a:endParaRPr>
          </a:p>
          <a:p>
            <a:pPr marL="43815">
              <a:lnSpc>
                <a:spcPct val="100000"/>
              </a:lnSpc>
              <a:spcBef>
                <a:spcPts val="2690"/>
              </a:spcBef>
              <a:tabLst>
                <a:tab pos="351155" algn="l"/>
              </a:tabLst>
            </a:pPr>
            <a:r>
              <a:rPr lang="en-IN" sz="4125" spc="-1042" baseline="8080" dirty="0">
                <a:solidFill>
                  <a:srgbClr val="D47736"/>
                </a:solidFill>
                <a:latin typeface="Arial MT"/>
                <a:cs typeface="Arial MT"/>
              </a:rPr>
              <a:t> </a:t>
            </a:r>
            <a:r>
              <a:rPr sz="2750" dirty="0" err="1">
                <a:latin typeface="Arial MT"/>
                <a:cs typeface="Arial MT"/>
              </a:rPr>
              <a:t>liboqs</a:t>
            </a:r>
            <a:r>
              <a:rPr sz="2750" spc="38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(Post-Quantum</a:t>
            </a:r>
            <a:r>
              <a:rPr sz="2750" spc="58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Crypto)</a:t>
            </a:r>
            <a:endParaRPr sz="2750" dirty="0">
              <a:latin typeface="Arial MT"/>
              <a:cs typeface="Arial MT"/>
            </a:endParaRPr>
          </a:p>
          <a:p>
            <a:pPr marL="346710" indent="-308610">
              <a:lnSpc>
                <a:spcPct val="100000"/>
              </a:lnSpc>
              <a:spcBef>
                <a:spcPts val="1000"/>
              </a:spcBef>
              <a:buClr>
                <a:srgbClr val="D47B3B"/>
              </a:buClr>
              <a:buChar char="•"/>
              <a:tabLst>
                <a:tab pos="346710" algn="l"/>
              </a:tabLst>
            </a:pPr>
            <a:r>
              <a:rPr sz="2750" dirty="0">
                <a:latin typeface="Arial MT"/>
                <a:cs typeface="Arial MT"/>
              </a:rPr>
              <a:t>Parrot</a:t>
            </a:r>
            <a:r>
              <a:rPr sz="2750" spc="150" dirty="0">
                <a:latin typeface="Arial MT"/>
                <a:cs typeface="Arial MT"/>
              </a:rPr>
              <a:t> </a:t>
            </a:r>
            <a:r>
              <a:rPr sz="2750" spc="-120" dirty="0">
                <a:latin typeface="Arial MT"/>
                <a:cs typeface="Arial MT"/>
              </a:rPr>
              <a:t>OS</a:t>
            </a:r>
            <a:r>
              <a:rPr sz="2750" spc="-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Tools</a:t>
            </a:r>
            <a:r>
              <a:rPr sz="2750" spc="1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(Stress</a:t>
            </a:r>
            <a:r>
              <a:rPr sz="2750" spc="14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Testing)</a:t>
            </a:r>
            <a:endParaRPr sz="2750" dirty="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3843" y="8921750"/>
            <a:ext cx="107086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Arial MT"/>
                <a:cs typeface="Arial MT"/>
              </a:rPr>
              <a:t>Built</a:t>
            </a:r>
            <a:r>
              <a:rPr sz="2500" spc="1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with</a:t>
            </a:r>
            <a:r>
              <a:rPr sz="2500" spc="-7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industry-standard,</a:t>
            </a:r>
            <a:r>
              <a:rPr sz="2500" spc="7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scalable</a:t>
            </a:r>
            <a:r>
              <a:rPr sz="2500" spc="9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tools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ensure</a:t>
            </a:r>
            <a:r>
              <a:rPr sz="2500" spc="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real-world</a:t>
            </a:r>
            <a:r>
              <a:rPr sz="2500" spc="5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applicability.</a:t>
            </a:r>
            <a:endParaRPr sz="2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3390900"/>
            <a:ext cx="4813300" cy="4457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24600" y="3390900"/>
            <a:ext cx="4813300" cy="4457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47500" y="3390900"/>
            <a:ext cx="4800600" cy="44069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97622" y="550333"/>
            <a:ext cx="15269844" cy="12319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900" spc="-300" dirty="0">
                <a:solidFill>
                  <a:srgbClr val="0A1D36"/>
                </a:solidFill>
                <a:latin typeface="Calibri"/>
                <a:cs typeface="Calibri"/>
              </a:rPr>
              <a:t>Validating</a:t>
            </a:r>
            <a:r>
              <a:rPr sz="7900" dirty="0">
                <a:solidFill>
                  <a:srgbClr val="0A1D36"/>
                </a:solidFill>
                <a:latin typeface="Calibri"/>
                <a:cs typeface="Calibri"/>
              </a:rPr>
              <a:t> </a:t>
            </a:r>
            <a:r>
              <a:rPr sz="7900" spc="-190" dirty="0">
                <a:solidFill>
                  <a:srgbClr val="081A2F"/>
                </a:solidFill>
                <a:latin typeface="Calibri"/>
                <a:cs typeface="Calibri"/>
              </a:rPr>
              <a:t>Resilience:</a:t>
            </a:r>
            <a:r>
              <a:rPr sz="7900" spc="-170" dirty="0">
                <a:solidFill>
                  <a:srgbClr val="081A2F"/>
                </a:solidFill>
                <a:latin typeface="Calibri"/>
                <a:cs typeface="Calibri"/>
              </a:rPr>
              <a:t> </a:t>
            </a:r>
            <a:r>
              <a:rPr sz="7900" spc="-275" dirty="0">
                <a:solidFill>
                  <a:srgbClr val="081A2D"/>
                </a:solidFill>
                <a:latin typeface="Calibri"/>
                <a:cs typeface="Calibri"/>
              </a:rPr>
              <a:t>Evaluation</a:t>
            </a:r>
            <a:r>
              <a:rPr sz="7900" spc="-360" dirty="0">
                <a:solidFill>
                  <a:srgbClr val="081A2D"/>
                </a:solidFill>
                <a:latin typeface="Calibri"/>
                <a:cs typeface="Calibri"/>
              </a:rPr>
              <a:t> </a:t>
            </a:r>
            <a:r>
              <a:rPr sz="7900" spc="-195" dirty="0">
                <a:solidFill>
                  <a:srgbClr val="0C1C36"/>
                </a:solidFill>
                <a:latin typeface="Calibri"/>
                <a:cs typeface="Calibri"/>
              </a:rPr>
              <a:t>Metrics</a:t>
            </a:r>
            <a:endParaRPr sz="79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103" y="1753658"/>
            <a:ext cx="14016990" cy="13646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550" spc="-165" dirty="0">
                <a:latin typeface="Calibri"/>
                <a:cs typeface="Calibri"/>
              </a:rPr>
              <a:t>The</a:t>
            </a:r>
            <a:r>
              <a:rPr sz="3550" spc="-45" dirty="0">
                <a:latin typeface="Calibri"/>
                <a:cs typeface="Calibri"/>
              </a:rPr>
              <a:t> </a:t>
            </a:r>
            <a:r>
              <a:rPr sz="3550" spc="-160" dirty="0">
                <a:latin typeface="Calibri"/>
                <a:cs typeface="Calibri"/>
              </a:rPr>
              <a:t>system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spc="-140" dirty="0">
                <a:latin typeface="Calibri"/>
                <a:cs typeface="Calibri"/>
              </a:rPr>
              <a:t>adds</a:t>
            </a:r>
            <a:r>
              <a:rPr sz="3550" spc="-60" dirty="0">
                <a:latin typeface="Calibri"/>
                <a:cs typeface="Calibri"/>
              </a:rPr>
              <a:t> </a:t>
            </a:r>
            <a:r>
              <a:rPr sz="3550" spc="-160" dirty="0">
                <a:latin typeface="Calibri"/>
                <a:cs typeface="Calibri"/>
              </a:rPr>
              <a:t>high</a:t>
            </a:r>
            <a:r>
              <a:rPr sz="3550" spc="-40" dirty="0">
                <a:latin typeface="Calibri"/>
                <a:cs typeface="Calibri"/>
              </a:rPr>
              <a:t> </a:t>
            </a:r>
            <a:r>
              <a:rPr sz="3550" spc="-140" dirty="0">
                <a:latin typeface="Calibri"/>
                <a:cs typeface="Calibri"/>
              </a:rPr>
              <a:t>security</a:t>
            </a:r>
            <a:r>
              <a:rPr sz="3550" spc="10" dirty="0">
                <a:latin typeface="Calibri"/>
                <a:cs typeface="Calibri"/>
              </a:rPr>
              <a:t> </a:t>
            </a:r>
            <a:r>
              <a:rPr sz="3550" spc="-250" dirty="0">
                <a:latin typeface="Calibri"/>
                <a:cs typeface="Calibri"/>
              </a:rPr>
              <a:t>with</a:t>
            </a:r>
            <a:r>
              <a:rPr sz="3550" spc="-70" dirty="0">
                <a:latin typeface="Calibri"/>
                <a:cs typeface="Calibri"/>
              </a:rPr>
              <a:t> </a:t>
            </a:r>
            <a:r>
              <a:rPr sz="3550" spc="-290" dirty="0">
                <a:latin typeface="Calibri"/>
                <a:cs typeface="Calibri"/>
              </a:rPr>
              <a:t>minimal</a:t>
            </a:r>
            <a:r>
              <a:rPr sz="3550" spc="90" dirty="0">
                <a:latin typeface="Calibri"/>
                <a:cs typeface="Calibri"/>
              </a:rPr>
              <a:t> </a:t>
            </a:r>
            <a:r>
              <a:rPr sz="3550" spc="-170" dirty="0">
                <a:latin typeface="Calibri"/>
                <a:cs typeface="Calibri"/>
              </a:rPr>
              <a:t>resource</a:t>
            </a:r>
            <a:r>
              <a:rPr sz="3550" spc="95" dirty="0">
                <a:latin typeface="Calibri"/>
                <a:cs typeface="Calibri"/>
              </a:rPr>
              <a:t> </a:t>
            </a:r>
            <a:r>
              <a:rPr sz="3550" spc="-10" dirty="0">
                <a:latin typeface="Calibri"/>
                <a:cs typeface="Calibri"/>
              </a:rPr>
              <a:t>penalty.</a:t>
            </a:r>
            <a:endParaRPr sz="3550">
              <a:latin typeface="Calibri"/>
              <a:cs typeface="Calibri"/>
            </a:endParaRPr>
          </a:p>
          <a:p>
            <a:pPr marL="1017269">
              <a:lnSpc>
                <a:spcPct val="100000"/>
              </a:lnSpc>
              <a:spcBef>
                <a:spcPts val="2390"/>
              </a:spcBef>
              <a:tabLst>
                <a:tab pos="5937250" algn="l"/>
                <a:tab pos="12440285" algn="l"/>
              </a:tabLst>
            </a:pPr>
            <a:r>
              <a:rPr sz="3250" spc="-10" dirty="0">
                <a:latin typeface="Calibri"/>
                <a:cs typeface="Calibri"/>
              </a:rPr>
              <a:t>Security</a:t>
            </a:r>
            <a:r>
              <a:rPr sz="3250" spc="-155" dirty="0">
                <a:latin typeface="Calibri"/>
                <a:cs typeface="Calibri"/>
              </a:rPr>
              <a:t> </a:t>
            </a:r>
            <a:r>
              <a:rPr sz="3250" spc="55" dirty="0">
                <a:latin typeface="Calibri"/>
                <a:cs typeface="Calibri"/>
              </a:rPr>
              <a:t>Success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50" spc="-75" dirty="0">
                <a:latin typeface="Calibri"/>
                <a:cs typeface="Calibri"/>
              </a:rPr>
              <a:t>Performance</a:t>
            </a:r>
            <a:r>
              <a:rPr sz="3250" spc="-20" dirty="0"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Overhead</a:t>
            </a:r>
            <a:r>
              <a:rPr sz="3250" dirty="0">
                <a:latin typeface="Calibri"/>
                <a:cs typeface="Calibri"/>
              </a:rPr>
              <a:t>	</a:t>
            </a:r>
            <a:r>
              <a:rPr sz="3200" spc="-45" dirty="0">
                <a:latin typeface="Calibri"/>
                <a:cs typeface="Calibri"/>
              </a:rPr>
              <a:t>Reliability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8547" y="6085063"/>
            <a:ext cx="126364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50" dirty="0">
                <a:solidFill>
                  <a:srgbClr val="1F1F1F"/>
                </a:solidFill>
                <a:latin typeface="Calibri"/>
                <a:cs typeface="Calibri"/>
              </a:rPr>
              <a:t>0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59447" y="5917494"/>
            <a:ext cx="340360" cy="4914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5" dirty="0">
                <a:solidFill>
                  <a:srgbClr val="111111"/>
                </a:solidFill>
                <a:latin typeface="Calibri"/>
                <a:cs typeface="Calibri"/>
              </a:rPr>
              <a:t>0</a:t>
            </a:r>
            <a:r>
              <a:rPr sz="3050" spc="-25" dirty="0">
                <a:solidFill>
                  <a:srgbClr val="111111"/>
                </a:solidFill>
                <a:latin typeface="Calibri"/>
                <a:cs typeface="Calibri"/>
              </a:rPr>
              <a:t>0</a:t>
            </a:r>
            <a:endParaRPr sz="30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84827" y="6063544"/>
            <a:ext cx="1185545" cy="759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304"/>
              </a:lnSpc>
              <a:spcBef>
                <a:spcPts val="105"/>
              </a:spcBef>
            </a:pPr>
            <a:r>
              <a:rPr sz="3050" spc="60" dirty="0">
                <a:solidFill>
                  <a:srgbClr val="0F0F0F"/>
                </a:solidFill>
                <a:latin typeface="Calibri"/>
                <a:cs typeface="Calibri"/>
              </a:rPr>
              <a:t>1</a:t>
            </a:r>
            <a:r>
              <a:rPr sz="3050" spc="-36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050" spc="55" dirty="0">
                <a:solidFill>
                  <a:srgbClr val="050505"/>
                </a:solidFill>
                <a:latin typeface="Calibri"/>
                <a:cs typeface="Calibri"/>
              </a:rPr>
              <a:t>00%</a:t>
            </a:r>
            <a:endParaRPr sz="3050" dirty="0">
              <a:latin typeface="Calibri"/>
              <a:cs typeface="Calibri"/>
            </a:endParaRPr>
          </a:p>
          <a:p>
            <a:pPr marL="71120">
              <a:lnSpc>
                <a:spcPts val="2465"/>
              </a:lnSpc>
            </a:pPr>
            <a:r>
              <a:rPr sz="2350" spc="-140" dirty="0">
                <a:latin typeface="Calibri"/>
                <a:cs typeface="Calibri"/>
              </a:rPr>
              <a:t>Block</a:t>
            </a:r>
            <a:r>
              <a:rPr sz="2350" spc="15" dirty="0">
                <a:latin typeface="Calibri"/>
                <a:cs typeface="Calibri"/>
              </a:rPr>
              <a:t> </a:t>
            </a:r>
            <a:r>
              <a:rPr sz="2350" spc="-155" dirty="0">
                <a:latin typeface="Calibri"/>
                <a:cs typeface="Calibri"/>
              </a:rPr>
              <a:t>Rate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9500" y="7867297"/>
            <a:ext cx="4313555" cy="846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" algn="ctr">
              <a:lnSpc>
                <a:spcPts val="3890"/>
              </a:lnSpc>
              <a:spcBef>
                <a:spcPts val="100"/>
              </a:spcBef>
            </a:pPr>
            <a:r>
              <a:rPr sz="3400" spc="-180" dirty="0">
                <a:latin typeface="Calibri"/>
                <a:cs typeface="Calibri"/>
              </a:rPr>
              <a:t>100%</a:t>
            </a:r>
            <a:r>
              <a:rPr sz="3400" spc="-80" dirty="0">
                <a:latin typeface="Calibri"/>
                <a:cs typeface="Calibri"/>
              </a:rPr>
              <a:t> Block</a:t>
            </a:r>
            <a:r>
              <a:rPr sz="3400" spc="-75" dirty="0">
                <a:latin typeface="Calibri"/>
                <a:cs typeface="Calibri"/>
              </a:rPr>
              <a:t> </a:t>
            </a:r>
            <a:r>
              <a:rPr sz="3400" spc="-20" dirty="0">
                <a:solidFill>
                  <a:srgbClr val="0C0C0C"/>
                </a:solidFill>
                <a:latin typeface="Calibri"/>
                <a:cs typeface="Calibri"/>
              </a:rPr>
              <a:t>Rate</a:t>
            </a:r>
            <a:endParaRPr sz="3400">
              <a:latin typeface="Calibri"/>
              <a:cs typeface="Calibri"/>
            </a:endParaRPr>
          </a:p>
          <a:p>
            <a:pPr algn="ctr">
              <a:lnSpc>
                <a:spcPts val="2570"/>
              </a:lnSpc>
            </a:pPr>
            <a:r>
              <a:rPr sz="2300" spc="-130" dirty="0">
                <a:latin typeface="Calibri"/>
                <a:cs typeface="Calibri"/>
              </a:rPr>
              <a:t>(Replay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-130" dirty="0">
                <a:latin typeface="Calibri"/>
                <a:cs typeface="Calibri"/>
              </a:rPr>
              <a:t>Attacks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459" dirty="0">
                <a:latin typeface="Calibri"/>
                <a:cs typeface="Calibri"/>
              </a:rPr>
              <a:t>&amp;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65" dirty="0">
                <a:latin typeface="Calibri"/>
                <a:cs typeface="Calibri"/>
              </a:rPr>
              <a:t>Unauthorized</a:t>
            </a:r>
            <a:r>
              <a:rPr sz="2300" spc="120" dirty="0">
                <a:latin typeface="Calibri"/>
                <a:cs typeface="Calibri"/>
              </a:rPr>
              <a:t> </a:t>
            </a:r>
            <a:r>
              <a:rPr sz="2300" spc="-85" dirty="0">
                <a:latin typeface="Calibri"/>
                <a:cs typeface="Calibri"/>
              </a:rPr>
              <a:t>Uploads)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57167" y="7048500"/>
            <a:ext cx="479425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75"/>
              </a:lnSpc>
              <a:spcBef>
                <a:spcPts val="100"/>
              </a:spcBef>
            </a:pPr>
            <a:r>
              <a:rPr sz="1250" dirty="0">
                <a:latin typeface="Calibri"/>
                <a:cs typeface="Calibri"/>
              </a:rPr>
              <a:t>Bra</a:t>
            </a:r>
            <a:r>
              <a:rPr sz="1250" spc="320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ns</a:t>
            </a:r>
            <a:endParaRPr sz="1250">
              <a:latin typeface="Calibri"/>
              <a:cs typeface="Calibri"/>
            </a:endParaRPr>
          </a:p>
          <a:p>
            <a:pPr marL="60325">
              <a:lnSpc>
                <a:spcPts val="1675"/>
              </a:lnSpc>
            </a:pPr>
            <a:r>
              <a:rPr sz="1500" spc="-100" dirty="0">
                <a:solidFill>
                  <a:srgbClr val="181818"/>
                </a:solidFill>
                <a:latin typeface="Calibri"/>
                <a:cs typeface="Calibri"/>
              </a:rPr>
              <a:t>Mono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20963" y="5891036"/>
            <a:ext cx="26670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-350" dirty="0">
                <a:latin typeface="Calibri"/>
                <a:cs typeface="Calibri"/>
              </a:rPr>
              <a:t>,o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97412" y="5891036"/>
            <a:ext cx="544830" cy="5232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spc="-37" baseline="3703" dirty="0">
                <a:latin typeface="Calibri"/>
                <a:cs typeface="Calibri"/>
              </a:rPr>
              <a:t>1</a:t>
            </a:r>
            <a:r>
              <a:rPr sz="3250" spc="-25" dirty="0">
                <a:latin typeface="Calibri"/>
                <a:cs typeface="Calibri"/>
              </a:rPr>
              <a:t>oo</a:t>
            </a:r>
            <a:endParaRPr sz="3250" dirty="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15278" y="6037086"/>
            <a:ext cx="1621155" cy="7727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49860">
              <a:lnSpc>
                <a:spcPts val="3650"/>
              </a:lnSpc>
              <a:spcBef>
                <a:spcPts val="110"/>
              </a:spcBef>
              <a:tabLst>
                <a:tab pos="558165" algn="l"/>
              </a:tabLst>
            </a:pPr>
            <a:r>
              <a:rPr sz="3250" i="1" spc="-525" dirty="0">
                <a:solidFill>
                  <a:srgbClr val="030C1F"/>
                </a:solidFill>
                <a:latin typeface="Arial"/>
                <a:cs typeface="Arial"/>
              </a:rPr>
              <a:t>&lt;</a:t>
            </a:r>
            <a:r>
              <a:rPr sz="3250" i="1" dirty="0">
                <a:solidFill>
                  <a:srgbClr val="030C1F"/>
                </a:solidFill>
                <a:latin typeface="Arial"/>
                <a:cs typeface="Arial"/>
              </a:rPr>
              <a:t>	</a:t>
            </a:r>
            <a:r>
              <a:rPr sz="3250" spc="-400" dirty="0">
                <a:solidFill>
                  <a:srgbClr val="0F0F0F"/>
                </a:solidFill>
                <a:latin typeface="Calibri"/>
                <a:cs typeface="Calibri"/>
              </a:rPr>
              <a:t>10°</a:t>
            </a:r>
            <a:endParaRPr sz="3250">
              <a:latin typeface="Calibri"/>
              <a:cs typeface="Calibri"/>
            </a:endParaRPr>
          </a:p>
          <a:p>
            <a:pPr marL="12700">
              <a:lnSpc>
                <a:spcPts val="2210"/>
              </a:lnSpc>
            </a:pPr>
            <a:r>
              <a:rPr sz="2050" spc="-35" dirty="0">
                <a:latin typeface="Calibri"/>
                <a:cs typeface="Calibri"/>
              </a:rPr>
              <a:t>Power</a:t>
            </a:r>
            <a:r>
              <a:rPr sz="2050" spc="-75" dirty="0">
                <a:latin typeface="Calibri"/>
                <a:cs typeface="Calibri"/>
              </a:rPr>
              <a:t> </a:t>
            </a:r>
            <a:r>
              <a:rPr sz="2050" spc="-10" dirty="0">
                <a:latin typeface="Calibri"/>
                <a:cs typeface="Calibri"/>
              </a:rPr>
              <a:t>Increase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18109" y="5831126"/>
            <a:ext cx="2672080" cy="991869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35"/>
              </a:spcBef>
              <a:tabLst>
                <a:tab pos="722630" algn="l"/>
                <a:tab pos="2286635" algn="l"/>
              </a:tabLst>
            </a:pPr>
            <a:r>
              <a:rPr sz="3200" spc="-315" dirty="0">
                <a:latin typeface="Cambria"/>
                <a:cs typeface="Cambria"/>
              </a:rPr>
              <a:t>.o</a:t>
            </a:r>
            <a:r>
              <a:rPr sz="3200" dirty="0">
                <a:latin typeface="Cambria"/>
                <a:cs typeface="Cambria"/>
              </a:rPr>
              <a:t>	</a:t>
            </a:r>
            <a:r>
              <a:rPr sz="4800" spc="592" baseline="-19097" dirty="0">
                <a:solidFill>
                  <a:srgbClr val="0A0A0A"/>
                </a:solidFill>
                <a:latin typeface="Cambria"/>
                <a:cs typeface="Cambria"/>
              </a:rPr>
              <a:t>1</a:t>
            </a:r>
            <a:r>
              <a:rPr lang="en-IN" sz="4800" spc="592" baseline="-20833" dirty="0">
                <a:solidFill>
                  <a:srgbClr val="0A0A0A"/>
                </a:solidFill>
                <a:latin typeface="Cambria"/>
                <a:cs typeface="Cambria"/>
              </a:rPr>
              <a:t>0</a:t>
            </a:r>
            <a:r>
              <a:rPr sz="4800" spc="592" baseline="-20833" dirty="0">
                <a:solidFill>
                  <a:srgbClr val="0A0A0A"/>
                </a:solidFill>
                <a:latin typeface="Cambria"/>
                <a:cs typeface="Cambria"/>
              </a:rPr>
              <a:t>0°</a:t>
            </a:r>
            <a:r>
              <a:rPr sz="3200" spc="395" dirty="0">
                <a:solidFill>
                  <a:srgbClr val="0A0A0A"/>
                </a:solidFill>
                <a:latin typeface="Cambria"/>
                <a:cs typeface="Cambria"/>
              </a:rPr>
              <a:t>p</a:t>
            </a:r>
            <a:r>
              <a:rPr sz="3200" dirty="0">
                <a:solidFill>
                  <a:srgbClr val="0A0A0A"/>
                </a:solidFill>
                <a:latin typeface="Cambria"/>
                <a:cs typeface="Cambria"/>
              </a:rPr>
              <a:t>	</a:t>
            </a:r>
            <a:r>
              <a:rPr sz="3200" spc="-520" dirty="0">
                <a:latin typeface="Cambria"/>
                <a:cs typeface="Cambria"/>
              </a:rPr>
              <a:t>oo.</a:t>
            </a:r>
            <a:endParaRPr sz="3200" dirty="0">
              <a:latin typeface="Cambria"/>
              <a:cs typeface="Cambria"/>
            </a:endParaRPr>
          </a:p>
          <a:p>
            <a:pPr marL="948690">
              <a:lnSpc>
                <a:spcPct val="100000"/>
              </a:lnSpc>
              <a:spcBef>
                <a:spcPts val="409"/>
              </a:spcBef>
            </a:pPr>
            <a:r>
              <a:rPr sz="2350" spc="-40" dirty="0">
                <a:latin typeface="Calibri"/>
                <a:cs typeface="Calibri"/>
              </a:rPr>
              <a:t>Rollback</a:t>
            </a:r>
            <a:endParaRPr sz="2350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861664" y="7022041"/>
            <a:ext cx="70929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8890" algn="r">
              <a:lnSpc>
                <a:spcPts val="1620"/>
              </a:lnSpc>
              <a:spcBef>
                <a:spcPts val="105"/>
              </a:spcBef>
            </a:pPr>
            <a:r>
              <a:rPr sz="1450" spc="-10" dirty="0">
                <a:latin typeface="Calibri"/>
                <a:cs typeface="Calibri"/>
              </a:rPr>
              <a:t>JetBrains</a:t>
            </a:r>
            <a:endParaRPr sz="1450">
              <a:latin typeface="Calibri"/>
              <a:cs typeface="Calibri"/>
            </a:endParaRPr>
          </a:p>
          <a:p>
            <a:pPr marR="5080" algn="r">
              <a:lnSpc>
                <a:spcPts val="1620"/>
              </a:lnSpc>
            </a:pPr>
            <a:r>
              <a:rPr sz="1450" spc="-20" dirty="0">
                <a:latin typeface="Calibri"/>
                <a:cs typeface="Calibri"/>
              </a:rPr>
              <a:t>Mono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58336" y="7884935"/>
            <a:ext cx="3547745" cy="8286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3725"/>
              </a:lnSpc>
              <a:spcBef>
                <a:spcPts val="110"/>
              </a:spcBef>
            </a:pPr>
            <a:r>
              <a:rPr sz="3250" spc="-100" dirty="0">
                <a:solidFill>
                  <a:srgbClr val="080808"/>
                </a:solidFill>
                <a:latin typeface="Calibri"/>
                <a:cs typeface="Calibri"/>
              </a:rPr>
              <a:t>&lt;</a:t>
            </a:r>
            <a:r>
              <a:rPr sz="3250" spc="-120" dirty="0">
                <a:solidFill>
                  <a:srgbClr val="080808"/>
                </a:solidFill>
                <a:latin typeface="Calibri"/>
                <a:cs typeface="Calibri"/>
              </a:rPr>
              <a:t> </a:t>
            </a:r>
            <a:r>
              <a:rPr sz="3250" spc="-290" dirty="0">
                <a:latin typeface="Calibri"/>
                <a:cs typeface="Calibri"/>
              </a:rPr>
              <a:t>1O</a:t>
            </a:r>
            <a:r>
              <a:rPr sz="2250" spc="-434" baseline="44444" dirty="0">
                <a:latin typeface="Calibri"/>
                <a:cs typeface="Calibri"/>
              </a:rPr>
              <a:t>0</a:t>
            </a:r>
            <a:r>
              <a:rPr lang="en-IN" sz="2250" spc="-434" baseline="44444" dirty="0">
                <a:latin typeface="Calibri"/>
                <a:cs typeface="Calibri"/>
              </a:rPr>
              <a:t>        </a:t>
            </a:r>
            <a:r>
              <a:rPr sz="3250" spc="-290" dirty="0">
                <a:latin typeface="Calibri"/>
                <a:cs typeface="Calibri"/>
              </a:rPr>
              <a:t>X</a:t>
            </a:r>
            <a:r>
              <a:rPr sz="3250" spc="-35" dirty="0">
                <a:latin typeface="Calibri"/>
                <a:cs typeface="Calibri"/>
              </a:rPr>
              <a:t> </a:t>
            </a:r>
            <a:r>
              <a:rPr sz="3250" spc="-114" dirty="0">
                <a:solidFill>
                  <a:srgbClr val="0A0A0A"/>
                </a:solidFill>
                <a:latin typeface="Calibri"/>
                <a:cs typeface="Calibri"/>
              </a:rPr>
              <a:t>Power</a:t>
            </a:r>
            <a:r>
              <a:rPr sz="3250" spc="-10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3250" spc="-10" dirty="0">
                <a:latin typeface="Calibri"/>
                <a:cs typeface="Calibri"/>
              </a:rPr>
              <a:t>Increase</a:t>
            </a:r>
            <a:endParaRPr sz="3250" dirty="0">
              <a:latin typeface="Calibri"/>
              <a:cs typeface="Calibri"/>
            </a:endParaRPr>
          </a:p>
          <a:p>
            <a:pPr algn="ctr">
              <a:lnSpc>
                <a:spcPts val="2585"/>
              </a:lnSpc>
            </a:pPr>
            <a:r>
              <a:rPr sz="2300" spc="-165" dirty="0">
                <a:latin typeface="Calibri"/>
                <a:cs typeface="Calibri"/>
              </a:rPr>
              <a:t>(During</a:t>
            </a:r>
            <a:r>
              <a:rPr sz="2300" spc="30" dirty="0">
                <a:latin typeface="Calibri"/>
                <a:cs typeface="Calibri"/>
              </a:rPr>
              <a:t> </a:t>
            </a:r>
            <a:r>
              <a:rPr sz="2300" spc="-195" dirty="0">
                <a:latin typeface="Calibri"/>
                <a:cs typeface="Calibri"/>
              </a:rPr>
              <a:t>Monitoring</a:t>
            </a:r>
            <a:r>
              <a:rPr sz="2300" spc="14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Phase)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50378" y="7884935"/>
            <a:ext cx="4777740" cy="8286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ts val="3725"/>
              </a:lnSpc>
              <a:spcBef>
                <a:spcPts val="110"/>
              </a:spcBef>
            </a:pPr>
            <a:r>
              <a:rPr sz="3250" spc="-60" dirty="0">
                <a:latin typeface="Calibri"/>
                <a:cs typeface="Calibri"/>
              </a:rPr>
              <a:t>100</a:t>
            </a:r>
            <a:r>
              <a:rPr sz="2475" spc="-89" baseline="40404" dirty="0">
                <a:latin typeface="Calibri"/>
                <a:cs typeface="Calibri"/>
              </a:rPr>
              <a:t>0</a:t>
            </a:r>
            <a:r>
              <a:rPr sz="3250" spc="-60" dirty="0">
                <a:latin typeface="Calibri"/>
                <a:cs typeface="Calibri"/>
              </a:rPr>
              <a:t>a</a:t>
            </a:r>
            <a:r>
              <a:rPr sz="3250" spc="-75" dirty="0">
                <a:latin typeface="Calibri"/>
                <a:cs typeface="Calibri"/>
              </a:rPr>
              <a:t> </a:t>
            </a:r>
            <a:r>
              <a:rPr sz="3250" spc="-70" dirty="0">
                <a:latin typeface="Calibri"/>
                <a:cs typeface="Calibri"/>
              </a:rPr>
              <a:t>Auto-</a:t>
            </a:r>
            <a:r>
              <a:rPr sz="3250" spc="-25" dirty="0">
                <a:latin typeface="Calibri"/>
                <a:cs typeface="Calibri"/>
              </a:rPr>
              <a:t>Rollback</a:t>
            </a:r>
            <a:r>
              <a:rPr sz="3250" spc="-50" dirty="0">
                <a:latin typeface="Calibri"/>
                <a:cs typeface="Calibri"/>
              </a:rPr>
              <a:t> </a:t>
            </a:r>
            <a:r>
              <a:rPr sz="3250" spc="40" dirty="0">
                <a:latin typeface="Calibri"/>
                <a:cs typeface="Calibri"/>
              </a:rPr>
              <a:t>Success</a:t>
            </a:r>
            <a:endParaRPr sz="3250">
              <a:latin typeface="Calibri"/>
              <a:cs typeface="Calibri"/>
            </a:endParaRPr>
          </a:p>
          <a:p>
            <a:pPr marL="635" algn="ctr">
              <a:lnSpc>
                <a:spcPts val="2585"/>
              </a:lnSpc>
            </a:pPr>
            <a:r>
              <a:rPr sz="2300" spc="-150" dirty="0">
                <a:latin typeface="Calibri"/>
                <a:cs typeface="Calibri"/>
              </a:rPr>
              <a:t>(Simulated</a:t>
            </a:r>
            <a:r>
              <a:rPr sz="2300" spc="100" dirty="0">
                <a:latin typeface="Calibri"/>
                <a:cs typeface="Calibri"/>
              </a:rPr>
              <a:t> </a:t>
            </a:r>
            <a:r>
              <a:rPr sz="2300" spc="-160" dirty="0">
                <a:latin typeface="Calibri"/>
                <a:cs typeface="Calibri"/>
              </a:rPr>
              <a:t>Malicious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Update)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900" y="3276600"/>
            <a:ext cx="16294100" cy="2819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62500" y="939800"/>
            <a:ext cx="508000" cy="6350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68390" y="532840"/>
            <a:ext cx="10689590" cy="1777364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  <a:tabLst>
                <a:tab pos="4556125" algn="l"/>
              </a:tabLst>
            </a:pPr>
            <a:r>
              <a:rPr sz="7150" b="1" spc="-370" dirty="0">
                <a:solidFill>
                  <a:srgbClr val="0C1C31"/>
                </a:solidFill>
              </a:rPr>
              <a:t>Roadmap</a:t>
            </a:r>
            <a:r>
              <a:rPr lang="en-IN" sz="7150" b="1" spc="-370" dirty="0">
                <a:solidFill>
                  <a:srgbClr val="0C1C31"/>
                </a:solidFill>
              </a:rPr>
              <a:t>   </a:t>
            </a:r>
            <a:r>
              <a:rPr sz="7150" b="1" dirty="0">
                <a:solidFill>
                  <a:srgbClr val="0C1C31"/>
                </a:solidFill>
              </a:rPr>
              <a:t>	</a:t>
            </a:r>
            <a:r>
              <a:rPr sz="7150" b="1" spc="-185" dirty="0">
                <a:solidFill>
                  <a:srgbClr val="08182A"/>
                </a:solidFill>
              </a:rPr>
              <a:t>Future</a:t>
            </a:r>
            <a:r>
              <a:rPr sz="7150" b="1" spc="-305" dirty="0">
                <a:solidFill>
                  <a:srgbClr val="08182A"/>
                </a:solidFill>
              </a:rPr>
              <a:t> </a:t>
            </a:r>
            <a:r>
              <a:rPr sz="7150" b="1" spc="-60" dirty="0">
                <a:solidFill>
                  <a:srgbClr val="0A1C36"/>
                </a:solidFill>
              </a:rPr>
              <a:t>Scope</a:t>
            </a:r>
            <a:endParaRPr sz="7150" b="1" dirty="0"/>
          </a:p>
          <a:p>
            <a:pPr marL="52705">
              <a:lnSpc>
                <a:spcPct val="100000"/>
              </a:lnSpc>
              <a:spcBef>
                <a:spcPts val="420"/>
              </a:spcBef>
            </a:pPr>
            <a:r>
              <a:rPr sz="3200" spc="-150" dirty="0">
                <a:solidFill>
                  <a:srgbClr val="000000"/>
                </a:solidFill>
              </a:rPr>
              <a:t>Scaling</a:t>
            </a:r>
            <a:r>
              <a:rPr sz="3200" spc="-75" dirty="0">
                <a:solidFill>
                  <a:srgbClr val="000000"/>
                </a:solidFill>
              </a:rPr>
              <a:t> </a:t>
            </a:r>
            <a:r>
              <a:rPr sz="3200" spc="-204" dirty="0">
                <a:solidFill>
                  <a:srgbClr val="000000"/>
                </a:solidFill>
              </a:rPr>
              <a:t>SentinelOTA</a:t>
            </a:r>
            <a:r>
              <a:rPr sz="3200" spc="-15" dirty="0">
                <a:solidFill>
                  <a:srgbClr val="000000"/>
                </a:solidFill>
              </a:rPr>
              <a:t> </a:t>
            </a:r>
            <a:r>
              <a:rPr sz="3200" spc="-55" dirty="0">
                <a:solidFill>
                  <a:srgbClr val="000000"/>
                </a:solidFill>
              </a:rPr>
              <a:t>from</a:t>
            </a:r>
            <a:r>
              <a:rPr sz="3200" spc="-170" dirty="0">
                <a:solidFill>
                  <a:srgbClr val="000000"/>
                </a:solidFill>
              </a:rPr>
              <a:t> </a:t>
            </a:r>
            <a:r>
              <a:rPr sz="3200" spc="-305" dirty="0">
                <a:solidFill>
                  <a:srgbClr val="000000"/>
                </a:solidFill>
              </a:rPr>
              <a:t>a</a:t>
            </a:r>
            <a:r>
              <a:rPr sz="3200" spc="50" dirty="0">
                <a:solidFill>
                  <a:srgbClr val="000000"/>
                </a:solidFill>
              </a:rPr>
              <a:t> </a:t>
            </a:r>
            <a:r>
              <a:rPr sz="3200" spc="-114" dirty="0">
                <a:solidFill>
                  <a:srgbClr val="000000"/>
                </a:solidFill>
              </a:rPr>
              <a:t>single</a:t>
            </a:r>
            <a:r>
              <a:rPr sz="3200" spc="-105" dirty="0">
                <a:solidFill>
                  <a:srgbClr val="000000"/>
                </a:solidFill>
              </a:rPr>
              <a:t> </a:t>
            </a:r>
            <a:r>
              <a:rPr sz="3200" spc="-20" dirty="0">
                <a:solidFill>
                  <a:srgbClr val="000000"/>
                </a:solidFill>
              </a:rPr>
              <a:t>factory</a:t>
            </a:r>
            <a:r>
              <a:rPr sz="3200" spc="-70" dirty="0">
                <a:solidFill>
                  <a:srgbClr val="000000"/>
                </a:solidFill>
              </a:rPr>
              <a:t> </a:t>
            </a:r>
            <a:r>
              <a:rPr sz="3200" spc="-30" dirty="0">
                <a:solidFill>
                  <a:srgbClr val="000000"/>
                </a:solidFill>
              </a:rPr>
              <a:t>floor </a:t>
            </a:r>
            <a:r>
              <a:rPr sz="3200" dirty="0">
                <a:solidFill>
                  <a:srgbClr val="000000"/>
                </a:solidFill>
              </a:rPr>
              <a:t>to</a:t>
            </a:r>
            <a:r>
              <a:rPr sz="3200" spc="-200" dirty="0">
                <a:solidFill>
                  <a:srgbClr val="000000"/>
                </a:solidFill>
              </a:rPr>
              <a:t> </a:t>
            </a:r>
            <a:r>
              <a:rPr sz="3200" spc="-305" dirty="0">
                <a:solidFill>
                  <a:srgbClr val="000000"/>
                </a:solidFill>
              </a:rPr>
              <a:t>a</a:t>
            </a:r>
            <a:r>
              <a:rPr sz="3200" spc="45" dirty="0">
                <a:solidFill>
                  <a:srgbClr val="000000"/>
                </a:solidFill>
              </a:rPr>
              <a:t> </a:t>
            </a:r>
            <a:r>
              <a:rPr sz="3200" spc="-95" dirty="0">
                <a:solidFill>
                  <a:srgbClr val="000000"/>
                </a:solidFill>
              </a:rPr>
              <a:t>global</a:t>
            </a:r>
            <a:r>
              <a:rPr sz="3200" spc="-85" dirty="0">
                <a:solidFill>
                  <a:srgbClr val="000000"/>
                </a:solidFill>
              </a:rPr>
              <a:t> </a:t>
            </a:r>
            <a:r>
              <a:rPr sz="3200" spc="-10" dirty="0">
                <a:solidFill>
                  <a:srgbClr val="000000"/>
                </a:solidFill>
              </a:rPr>
              <a:t>fleet.</a:t>
            </a:r>
            <a:endParaRPr sz="3200" dirty="0"/>
          </a:p>
        </p:txBody>
      </p:sp>
      <p:sp>
        <p:nvSpPr>
          <p:cNvPr id="5" name="object 5"/>
          <p:cNvSpPr txBox="1"/>
          <p:nvPr/>
        </p:nvSpPr>
        <p:spPr>
          <a:xfrm>
            <a:off x="1231380" y="6302524"/>
            <a:ext cx="3903345" cy="2334260"/>
          </a:xfrm>
          <a:prstGeom prst="rect">
            <a:avLst/>
          </a:prstGeom>
        </p:spPr>
        <p:txBody>
          <a:bodyPr vert="horz" wrap="square" lIns="0" tIns="218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4100" spc="-25" dirty="0">
                <a:solidFill>
                  <a:srgbClr val="131313"/>
                </a:solidFill>
                <a:latin typeface="Arial MT"/>
                <a:cs typeface="Arial MT"/>
              </a:rPr>
              <a:t>Current</a:t>
            </a:r>
            <a:r>
              <a:rPr sz="4100" spc="-22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4100" spc="-10" dirty="0">
                <a:solidFill>
                  <a:srgbClr val="111111"/>
                </a:solidFill>
                <a:latin typeface="Arial MT"/>
                <a:cs typeface="Arial MT"/>
              </a:rPr>
              <a:t>Status</a:t>
            </a:r>
            <a:endParaRPr sz="4100">
              <a:latin typeface="Arial MT"/>
              <a:cs typeface="Arial MT"/>
            </a:endParaRPr>
          </a:p>
          <a:p>
            <a:pPr marL="441325" indent="-294640">
              <a:lnSpc>
                <a:spcPct val="100000"/>
              </a:lnSpc>
              <a:spcBef>
                <a:spcPts val="1130"/>
              </a:spcBef>
              <a:buChar char="•"/>
              <a:tabLst>
                <a:tab pos="441325" algn="l"/>
              </a:tabLst>
            </a:pPr>
            <a:r>
              <a:rPr sz="2750" spc="-145" dirty="0">
                <a:latin typeface="Arial MT"/>
                <a:cs typeface="Arial MT"/>
              </a:rPr>
              <a:t>Functional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spc="-35" dirty="0">
                <a:latin typeface="Arial MT"/>
                <a:cs typeface="Arial MT"/>
              </a:rPr>
              <a:t>Prototype</a:t>
            </a:r>
            <a:endParaRPr sz="2750">
              <a:latin typeface="Arial MT"/>
              <a:cs typeface="Arial MT"/>
            </a:endParaRPr>
          </a:p>
          <a:p>
            <a:pPr marL="444500" indent="-297815">
              <a:lnSpc>
                <a:spcPct val="100000"/>
              </a:lnSpc>
              <a:spcBef>
                <a:spcPts val="300"/>
              </a:spcBef>
              <a:buChar char="•"/>
              <a:tabLst>
                <a:tab pos="444500" algn="l"/>
              </a:tabLst>
            </a:pPr>
            <a:r>
              <a:rPr sz="2750" spc="-140" dirty="0">
                <a:latin typeface="Arial MT"/>
                <a:cs typeface="Arial MT"/>
              </a:rPr>
              <a:t>Local</a:t>
            </a:r>
            <a:r>
              <a:rPr sz="2750" spc="-45" dirty="0">
                <a:latin typeface="Arial MT"/>
                <a:cs typeface="Arial MT"/>
              </a:rPr>
              <a:t> </a:t>
            </a:r>
            <a:r>
              <a:rPr sz="2750" spc="-215" dirty="0">
                <a:latin typeface="Arial MT"/>
                <a:cs typeface="Arial MT"/>
              </a:rPr>
              <a:t>Anomaly</a:t>
            </a:r>
            <a:r>
              <a:rPr sz="2750" spc="25" dirty="0">
                <a:latin typeface="Arial MT"/>
                <a:cs typeface="Arial MT"/>
              </a:rPr>
              <a:t> </a:t>
            </a:r>
            <a:r>
              <a:rPr sz="2750" spc="-114" dirty="0">
                <a:latin typeface="Arial MT"/>
                <a:cs typeface="Arial MT"/>
              </a:rPr>
              <a:t>Detection</a:t>
            </a:r>
            <a:endParaRPr sz="2750">
              <a:latin typeface="Arial MT"/>
              <a:cs typeface="Arial MT"/>
            </a:endParaRPr>
          </a:p>
          <a:p>
            <a:pPr marL="447040" indent="-300355">
              <a:lnSpc>
                <a:spcPct val="100000"/>
              </a:lnSpc>
              <a:spcBef>
                <a:spcPts val="300"/>
              </a:spcBef>
              <a:buChar char="•"/>
              <a:tabLst>
                <a:tab pos="447040" algn="l"/>
              </a:tabLst>
            </a:pPr>
            <a:r>
              <a:rPr sz="2750" spc="-355" dirty="0">
                <a:latin typeface="Arial MT"/>
                <a:cs typeface="Arial MT"/>
              </a:rPr>
              <a:t>mTLS</a:t>
            </a:r>
            <a:r>
              <a:rPr sz="2750" spc="10" dirty="0">
                <a:latin typeface="Arial MT"/>
                <a:cs typeface="Arial MT"/>
              </a:rPr>
              <a:t> </a:t>
            </a:r>
            <a:r>
              <a:rPr sz="2750" spc="-70" dirty="0">
                <a:latin typeface="Arial MT"/>
                <a:cs typeface="Arial MT"/>
              </a:rPr>
              <a:t>Enforced.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76551" y="6293492"/>
            <a:ext cx="4354830" cy="1886585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4100" spc="-175" dirty="0">
                <a:solidFill>
                  <a:srgbClr val="111111"/>
                </a:solidFill>
                <a:latin typeface="Arial MT"/>
                <a:cs typeface="Arial MT"/>
              </a:rPr>
              <a:t>Phase</a:t>
            </a:r>
            <a:r>
              <a:rPr sz="4100" spc="-9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4100" dirty="0">
                <a:solidFill>
                  <a:srgbClr val="1A1A1A"/>
                </a:solidFill>
                <a:latin typeface="Arial MT"/>
                <a:cs typeface="Arial MT"/>
              </a:rPr>
              <a:t>2</a:t>
            </a:r>
            <a:r>
              <a:rPr sz="4100" spc="-50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4100" spc="-10" dirty="0">
                <a:solidFill>
                  <a:srgbClr val="111111"/>
                </a:solidFill>
                <a:latin typeface="Arial MT"/>
                <a:cs typeface="Arial MT"/>
              </a:rPr>
              <a:t>Integration</a:t>
            </a:r>
            <a:endParaRPr sz="4100">
              <a:latin typeface="Arial MT"/>
              <a:cs typeface="Arial MT"/>
            </a:endParaRPr>
          </a:p>
          <a:p>
            <a:pPr marL="520700" indent="-295910">
              <a:lnSpc>
                <a:spcPct val="100000"/>
              </a:lnSpc>
              <a:spcBef>
                <a:spcPts val="1130"/>
              </a:spcBef>
              <a:buChar char="•"/>
              <a:tabLst>
                <a:tab pos="520700" algn="l"/>
              </a:tabLst>
            </a:pPr>
            <a:r>
              <a:rPr sz="2700" spc="-125" dirty="0">
                <a:latin typeface="Arial MT"/>
                <a:cs typeface="Arial MT"/>
              </a:rPr>
              <a:t>Enterprise</a:t>
            </a:r>
            <a:r>
              <a:rPr sz="2700" spc="15" dirty="0">
                <a:latin typeface="Arial MT"/>
                <a:cs typeface="Arial MT"/>
              </a:rPr>
              <a:t> </a:t>
            </a:r>
            <a:r>
              <a:rPr sz="2700" spc="-315" dirty="0">
                <a:latin typeface="Arial MT"/>
                <a:cs typeface="Arial MT"/>
              </a:rPr>
              <a:t>SIEM</a:t>
            </a:r>
            <a:r>
              <a:rPr sz="2700" spc="-45" dirty="0">
                <a:latin typeface="Arial MT"/>
                <a:cs typeface="Arial MT"/>
              </a:rPr>
              <a:t> </a:t>
            </a:r>
            <a:r>
              <a:rPr sz="2700" spc="-50" dirty="0">
                <a:latin typeface="Arial MT"/>
                <a:cs typeface="Arial MT"/>
              </a:rPr>
              <a:t>Integration</a:t>
            </a:r>
            <a:endParaRPr sz="2700">
              <a:latin typeface="Arial MT"/>
              <a:cs typeface="Arial MT"/>
            </a:endParaRPr>
          </a:p>
          <a:p>
            <a:pPr marL="508000" indent="-283845">
              <a:lnSpc>
                <a:spcPct val="100000"/>
              </a:lnSpc>
              <a:spcBef>
                <a:spcPts val="359"/>
              </a:spcBef>
              <a:buChar char="•"/>
              <a:tabLst>
                <a:tab pos="508000" algn="l"/>
              </a:tabLst>
            </a:pPr>
            <a:r>
              <a:rPr sz="2750" spc="-105" dirty="0">
                <a:latin typeface="Arial MT"/>
                <a:cs typeface="Arial MT"/>
              </a:rPr>
              <a:t>Dashboarding.</a:t>
            </a:r>
            <a:endParaRPr sz="27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84215" y="6293492"/>
            <a:ext cx="4538345" cy="1886585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4100" spc="-80" dirty="0">
                <a:solidFill>
                  <a:srgbClr val="0E0E0E"/>
                </a:solidFill>
                <a:latin typeface="Arial MT"/>
                <a:cs typeface="Arial MT"/>
              </a:rPr>
              <a:t>Future</a:t>
            </a:r>
            <a:r>
              <a:rPr sz="4100" spc="-175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4100" spc="-10" dirty="0">
                <a:solidFill>
                  <a:srgbClr val="131313"/>
                </a:solidFill>
                <a:latin typeface="Arial MT"/>
                <a:cs typeface="Arial MT"/>
              </a:rPr>
              <a:t>Scope</a:t>
            </a:r>
            <a:endParaRPr sz="4100">
              <a:latin typeface="Arial MT"/>
              <a:cs typeface="Arial MT"/>
            </a:endParaRPr>
          </a:p>
          <a:p>
            <a:pPr marL="509270" indent="-294640">
              <a:lnSpc>
                <a:spcPct val="100000"/>
              </a:lnSpc>
              <a:spcBef>
                <a:spcPts val="1130"/>
              </a:spcBef>
              <a:buChar char="•"/>
              <a:tabLst>
                <a:tab pos="509270" algn="l"/>
              </a:tabLst>
            </a:pPr>
            <a:r>
              <a:rPr sz="2700" spc="-145" dirty="0">
                <a:latin typeface="Arial MT"/>
                <a:cs typeface="Arial MT"/>
              </a:rPr>
              <a:t>Federated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spc="-30" dirty="0">
                <a:latin typeface="Arial MT"/>
                <a:cs typeface="Arial MT"/>
              </a:rPr>
              <a:t>Learning</a:t>
            </a:r>
            <a:endParaRPr sz="2700">
              <a:latin typeface="Arial MT"/>
              <a:cs typeface="Arial MT"/>
            </a:endParaRPr>
          </a:p>
          <a:p>
            <a:pPr marL="508634" indent="-294640">
              <a:lnSpc>
                <a:spcPct val="100000"/>
              </a:lnSpc>
              <a:spcBef>
                <a:spcPts val="359"/>
              </a:spcBef>
              <a:buChar char="•"/>
              <a:tabLst>
                <a:tab pos="508634" algn="l"/>
              </a:tabLst>
            </a:pPr>
            <a:r>
              <a:rPr sz="2750" spc="-130" dirty="0">
                <a:latin typeface="Arial MT"/>
                <a:cs typeface="Arial MT"/>
              </a:rPr>
              <a:t>Fleet-</a:t>
            </a:r>
            <a:r>
              <a:rPr sz="2750" spc="-105" dirty="0">
                <a:latin typeface="Arial MT"/>
                <a:cs typeface="Arial MT"/>
              </a:rPr>
              <a:t>wide</a:t>
            </a:r>
            <a:r>
              <a:rPr sz="2750" spc="-75" dirty="0">
                <a:latin typeface="Arial MT"/>
                <a:cs typeface="Arial MT"/>
              </a:rPr>
              <a:t> </a:t>
            </a:r>
            <a:r>
              <a:rPr sz="2750" spc="-114" dirty="0">
                <a:latin typeface="Arial MT"/>
                <a:cs typeface="Arial MT"/>
              </a:rPr>
              <a:t>immunity</a:t>
            </a:r>
            <a:r>
              <a:rPr sz="2750" spc="-10" dirty="0">
                <a:latin typeface="Arial MT"/>
                <a:cs typeface="Arial MT"/>
              </a:rPr>
              <a:t> </a:t>
            </a:r>
            <a:r>
              <a:rPr sz="2750" spc="-140" dirty="0">
                <a:latin typeface="Arial MT"/>
                <a:cs typeface="Arial MT"/>
              </a:rPr>
              <a:t>sharing.</a:t>
            </a:r>
            <a:endParaRPr sz="2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499</Words>
  <Application>Microsoft Office PowerPoint</Application>
  <PresentationFormat>Custom</PresentationFormat>
  <Paragraphs>102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MT</vt:lpstr>
      <vt:lpstr>Calibri</vt:lpstr>
      <vt:lpstr>Cambria</vt:lpstr>
      <vt:lpstr>Consolas</vt:lpstr>
      <vt:lpstr>Courier New</vt:lpstr>
      <vt:lpstr>Office Theme</vt:lpstr>
      <vt:lpstr>SentinelOTA</vt:lpstr>
      <vt:lpstr>The Industry Imperative</vt:lpstr>
      <vt:lpstr>The Attack Surface: Updates as the Primary Vector</vt:lpstr>
      <vt:lpstr>Architecture: From Central Manager to Edge Sensor</vt:lpstr>
      <vt:lpstr>PowerPoint Presentation</vt:lpstr>
      <vt:lpstr>Implementation Stack</vt:lpstr>
      <vt:lpstr>Validating Resilience: Evaluation Metrics</vt:lpstr>
      <vt:lpstr>Roadmap    Future Scope Scaling SentinelOTA from a single factory floor to a global fleet.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Rithik Sharma</cp:lastModifiedBy>
  <cp:revision>7</cp:revision>
  <dcterms:created xsi:type="dcterms:W3CDTF">2026-02-02T05:25:42Z</dcterms:created>
  <dcterms:modified xsi:type="dcterms:W3CDTF">2026-02-09T04:22:11Z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LastSaved">
    <vt:filetime>2026-02-02T00:00:00Z</vt:filetime>
  </property>
</Properties>
</file>