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7" r:id="rId5"/>
    <p:sldId id="258" r:id="rId6"/>
    <p:sldId id="260" r:id="rId7"/>
    <p:sldId id="266" r:id="rId8"/>
    <p:sldId id="264" r:id="rId9"/>
    <p:sldId id="263" r:id="rId10"/>
    <p:sldId id="261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200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7765-464E-C287-2170-8CEBECA9F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6E31A-D45D-1797-9197-05F443D1D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F4A0C-ECF6-31A3-3BCB-6F830B491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D429-9A1A-A73D-4BE9-CED1AE8A6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7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4389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1E6FBF">
              <a:alpha val="20000"/>
            </a:srgbClr>
          </a:solidFill>
          <a:ln w="12700">
            <a:solidFill>
              <a:srgbClr val="1E6FB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097280"/>
            <a:ext cx="1097280" cy="10972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28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5943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Heterogeneous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65760" y="13258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 Mechanism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5760" y="2194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Serverless Approach for Constrained IoT Devices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Rithik Sharma A</a:t>
            </a:r>
            <a:r>
              <a:rPr lang="en-US" sz="11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9123128040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V</a:t>
            </a:r>
            <a:r>
              <a:rPr lang="en-US" sz="11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9123128039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Devi S</a:t>
            </a:r>
            <a:r>
              <a:rPr lang="en-US" sz="11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9123128034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Gokilam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462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 STATEMENT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4"/>
          <p:cNvSpPr/>
          <p:nvPr/>
        </p:nvSpPr>
        <p:spPr>
          <a:xfrm>
            <a:off x="320040" y="868680"/>
            <a:ext cx="2743200" cy="82296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34572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914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Cost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cloud OTA services (AWS IoT, Azure Device Update) charge per active device per month  destroying profit margins for low-cost $5 sensors deployed at scale.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64408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64408" y="868680"/>
            <a:ext cx="2743200" cy="82296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934572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1648" y="914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401568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protocols like RSA-4096 demand ~64 KB of RAM. Most 8-bit and 16-bit microcontrollers have only 2 KB free  making enterprise-grade security physically impossible.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08776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08776" y="868680"/>
            <a:ext cx="27432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91440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86016" y="914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Gap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45936" y="17830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disconnect exists between code in Git and the binary on the OTA server. Manual upload steps introduce human error, stale firmware, and critical security vulnerabilities.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000500"/>
            <a:ext cx="2103120" cy="502920"/>
          </a:xfrm>
          <a:prstGeom prst="rect">
            <a:avLst/>
          </a:prstGeom>
          <a:solidFill>
            <a:srgbClr val="C0531A">
              <a:alpha val="12000"/>
            </a:srgbClr>
          </a:solidFill>
          <a:ln w="12700">
            <a:solidFill>
              <a:srgbClr val="C053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6"/>
          <p:cNvSpPr/>
          <p:nvPr/>
        </p:nvSpPr>
        <p:spPr>
          <a:xfrm>
            <a:off x="640080" y="40005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 </a:t>
            </a: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device cost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3630168" y="4000500"/>
            <a:ext cx="2103120" cy="502920"/>
          </a:xfrm>
          <a:prstGeom prst="rect">
            <a:avLst/>
          </a:prstGeom>
          <a:solidFill>
            <a:srgbClr val="B22222">
              <a:alpha val="12000"/>
            </a:srgbClr>
          </a:solidFill>
          <a:ln w="12700">
            <a:solidFill>
              <a:srgbClr val="B22222">
                <a:alpha val="4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30168" y="40005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64KB  </a:t>
            </a: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RAM needed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528816" y="4023360"/>
            <a:ext cx="2103120" cy="502920"/>
          </a:xfrm>
          <a:prstGeom prst="rect">
            <a:avLst/>
          </a:prstGeom>
          <a:solidFill>
            <a:srgbClr val="5C2D91">
              <a:alpha val="12000"/>
            </a:srgbClr>
          </a:solidFill>
          <a:ln w="12700">
            <a:solidFill>
              <a:srgbClr val="5C2D91">
                <a:alpha val="4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74536" y="4023360"/>
            <a:ext cx="1929384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</a:t>
            </a: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today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OBJECTIVES — ACHIEVEMENT TRACKER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949440" y="146304"/>
            <a:ext cx="164592" cy="164592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50608" y="1188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94944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3566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" y="82296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5448" y="822960"/>
            <a:ext cx="54864" cy="98755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" y="932688"/>
            <a:ext cx="402336" cy="402336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932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0664" y="88696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GitHub Release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" y="115214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 + push source &amp; binary on every flash with version tagging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65176" y="143103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97280" y="143743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1437437"/>
            <a:ext cx="144018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14216" y="142189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0198" y="1410005"/>
            <a:ext cx="619506" cy="13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5176" y="158191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97280" y="158831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1588313"/>
            <a:ext cx="2880360" cy="9144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14216" y="1572768"/>
            <a:ext cx="274320" cy="12344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1574597"/>
            <a:ext cx="566928" cy="117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7280" y="142372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only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097280" y="157459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599432" y="82296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822960"/>
            <a:ext cx="54864" cy="987552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932688"/>
            <a:ext cx="402336" cy="402336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932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84648" y="88696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Version Tracking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84648" y="115214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history of every firmware flashed per device with rollback support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09160" y="143103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541264" y="143743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1264" y="1437437"/>
            <a:ext cx="288036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58200" y="142189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1417320"/>
            <a:ext cx="457200" cy="129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09160" y="158191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541264" y="158831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41264" y="1588313"/>
            <a:ext cx="2880360" cy="9144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1572768"/>
            <a:ext cx="274320" cy="12344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21624" y="1562710"/>
            <a:ext cx="457200" cy="133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541264" y="142372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541264" y="157459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SQLite log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55448" y="192024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55448" y="1920240"/>
            <a:ext cx="54864" cy="98755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" y="2029968"/>
            <a:ext cx="402336" cy="402336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" y="2029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" y="1984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Agent Injection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" y="224942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inject tracking agent into generated main() at compile time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265176" y="252831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97280" y="253471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280" y="2534717"/>
            <a:ext cx="45720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14216" y="251917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14216" y="2514600"/>
            <a:ext cx="420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65176" y="267919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97280" y="268559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0" y="2685593"/>
            <a:ext cx="2880360" cy="914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14216" y="2670048"/>
            <a:ext cx="274320" cy="123444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2670048"/>
            <a:ext cx="637794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97280" y="252100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1097280" y="267187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4599432" y="192024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99432" y="1920240"/>
            <a:ext cx="54864" cy="987552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2029968"/>
            <a:ext cx="402336" cy="402336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9160" y="2029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84648" y="1984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Monitoring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184648" y="224942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panel showing online/offline status and firmware version per device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4709160" y="252831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41264" y="253471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41264" y="2534717"/>
            <a:ext cx="432054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58200" y="251917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21624" y="2521002"/>
            <a:ext cx="468630" cy="121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709160" y="267919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541264" y="268559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541264" y="2685593"/>
            <a:ext cx="2736342" cy="9144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58200" y="2670048"/>
            <a:ext cx="274320" cy="12344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21624" y="2671877"/>
            <a:ext cx="493776" cy="121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541264" y="252100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only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541264" y="267187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dashboard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155448" y="301752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55448" y="3017520"/>
            <a:ext cx="54864" cy="9875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5176" y="3127248"/>
            <a:ext cx="402336" cy="40233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5176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40664" y="308152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Board-aware Feature Detection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40664" y="334670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board capabilities (Wi-Fi, dual-core) and adjust features accordingly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265176" y="362559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097280" y="363199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7280" y="3631997"/>
            <a:ext cx="576072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14216" y="361645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77640" y="3604565"/>
            <a:ext cx="457200" cy="130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65176" y="377647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97280" y="378287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97280" y="3782873"/>
            <a:ext cx="288036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14216" y="3767328"/>
            <a:ext cx="274320" cy="1234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77640" y="3767328"/>
            <a:ext cx="566928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097280" y="361828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1097280" y="376915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FQBN detection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4599432" y="3017520"/>
            <a:ext cx="42793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4599432" y="3017520"/>
            <a:ext cx="54864" cy="98755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09160" y="3127248"/>
            <a:ext cx="402336" cy="402336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09160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184648" y="308152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OTA Channel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5184648" y="334670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HMAC-SHA256 + NVS counter secured firmware delivery over Wi-Fi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4709160" y="3625596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541264" y="3631997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541264" y="3631997"/>
            <a:ext cx="864108" cy="9144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58200" y="3616452"/>
            <a:ext cx="274320" cy="123444"/>
          </a:xfrm>
          <a:prstGeom prst="rect">
            <a:avLst/>
          </a:prstGeom>
          <a:solidFill>
            <a:srgbClr val="E8EEF5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458200" y="3624682"/>
            <a:ext cx="432054" cy="115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709160" y="3776472"/>
            <a:ext cx="777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SecureOTA: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541264" y="3782873"/>
            <a:ext cx="2880360" cy="9144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41264" y="3782873"/>
            <a:ext cx="2160270" cy="914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58200" y="3767328"/>
            <a:ext cx="274320" cy="123444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21624" y="3769156"/>
            <a:ext cx="457200" cy="121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541264" y="3618281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only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5541264" y="3769157"/>
            <a:ext cx="2880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module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371600" y="48371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 </a:t>
            </a:r>
            <a:r>
              <a:rPr lang="en-US" sz="8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achieved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3566160" y="4864608"/>
            <a:ext cx="9144" cy="228600"/>
          </a:xfrm>
          <a:prstGeom prst="rect">
            <a:avLst/>
          </a:prstGeom>
          <a:solidFill>
            <a:srgbClr val="8090A8"/>
          </a:solidFill>
          <a:ln w="12700">
            <a:solidFill>
              <a:srgbClr val="8090A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931920" y="48371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 </a:t>
            </a:r>
            <a:r>
              <a:rPr lang="en-US" sz="8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module (OTA)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6126480" y="4864608"/>
            <a:ext cx="9144" cy="228600"/>
          </a:xfrm>
          <a:prstGeom prst="rect">
            <a:avLst/>
          </a:prstGeom>
          <a:solidFill>
            <a:srgbClr val="8090A8"/>
          </a:solidFill>
          <a:ln w="12700">
            <a:solidFill>
              <a:srgbClr val="8090A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92240" y="48371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r>
              <a:rPr lang="en-US" sz="8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 ALGORITHMS — CHAIN FLOW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954024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56488"/>
            <a:ext cx="2029968" cy="60350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256032" y="978408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70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7078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786384"/>
            <a:ext cx="2724912" cy="752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" y="1575816"/>
            <a:ext cx="1847088" cy="182880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15758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56032" y="1795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i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the entire firmware binary before transmission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74320" y="2261616"/>
            <a:ext cx="64008" cy="6400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21589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session key generated per upload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4320" y="2471928"/>
            <a:ext cx="64008" cy="6400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426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IV randomised per session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74320" y="2682240"/>
            <a:ext cx="64008" cy="6400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2636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accelerated on ESP32 (80µs)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74320" y="2892552"/>
            <a:ext cx="64008" cy="6400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284683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= unreadable to network observer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64592" y="3276600"/>
            <a:ext cx="2029968" cy="256032"/>
          </a:xfrm>
          <a:prstGeom prst="rect">
            <a:avLst/>
          </a:prstGeom>
          <a:solidFill>
            <a:srgbClr val="1E6FBF">
              <a:alpha val="12000"/>
            </a:srgbClr>
          </a:solidFill>
          <a:ln w="12700">
            <a:solidFill>
              <a:srgbClr val="1E6FBF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9456" y="3276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.bin ciphertext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2322576" y="954024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6"/>
          <p:cNvSpPr/>
          <p:nvPr/>
        </p:nvSpPr>
        <p:spPr>
          <a:xfrm>
            <a:off x="2313432" y="847344"/>
            <a:ext cx="2029968" cy="603504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14016" y="954024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14016" y="954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963168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414016" y="813816"/>
            <a:ext cx="2685288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2414016" y="1575816"/>
            <a:ext cx="1847088" cy="182880"/>
          </a:xfrm>
          <a:prstGeom prst="rect">
            <a:avLst/>
          </a:prstGeom>
          <a:solidFill>
            <a:srgbClr val="5C2D91">
              <a:alpha val="15000"/>
            </a:srgbClr>
          </a:solidFill>
          <a:ln w="12700">
            <a:solidFill>
              <a:srgbClr val="5C2D91">
                <a:alpha val="5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414016" y="15758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Authentication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2414016" y="1795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i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every UDP packet to prove it came from a real device</a:t>
            </a:r>
            <a:endParaRPr lang="en-US" sz="780" dirty="0"/>
          </a:p>
        </p:txBody>
      </p:sp>
      <p:sp>
        <p:nvSpPr>
          <p:cNvPr id="37" name="Shape 33"/>
          <p:cNvSpPr/>
          <p:nvPr/>
        </p:nvSpPr>
        <p:spPr>
          <a:xfrm>
            <a:off x="2414016" y="2134108"/>
            <a:ext cx="1847088" cy="9144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432304" y="2261616"/>
            <a:ext cx="64008" cy="64008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542032" y="221589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secret key per device (injected at flash)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432304" y="2471928"/>
            <a:ext cx="64008" cy="64008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542032" y="2426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= Hash(secret_key + message)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2432304" y="2682240"/>
            <a:ext cx="64008" cy="64008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542032" y="2636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1-bit change → completely different HMAC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2432304" y="2892552"/>
            <a:ext cx="64008" cy="64008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542032" y="284683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Forging impossible without secret key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322576" y="3276600"/>
            <a:ext cx="2029968" cy="256032"/>
          </a:xfrm>
          <a:prstGeom prst="rect">
            <a:avLst/>
          </a:prstGeom>
          <a:solidFill>
            <a:srgbClr val="5C2D91">
              <a:alpha val="12000"/>
            </a:srgbClr>
          </a:solidFill>
          <a:ln w="12700">
            <a:solidFill>
              <a:srgbClr val="5C2D91">
                <a:alpha val="4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377440" y="3276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64-char HMAC tag appended to payload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4480560" y="954024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4489704" y="847344"/>
            <a:ext cx="2029968" cy="60350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572000" y="954024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572000" y="963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981456"/>
            <a:ext cx="347472" cy="347472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4974336" y="106375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4572000" y="1575816"/>
            <a:ext cx="1847088" cy="182880"/>
          </a:xfrm>
          <a:prstGeom prst="rect">
            <a:avLst/>
          </a:prstGeom>
          <a:solidFill>
            <a:srgbClr val="0F7B6C">
              <a:alpha val="15000"/>
            </a:srgbClr>
          </a:solidFill>
          <a:ln w="12700">
            <a:solidFill>
              <a:srgbClr val="0F7B6C">
                <a:alpha val="5000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4572000" y="15758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4572000" y="1795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i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firmware was signed by a legitimate IDE — not forged</a:t>
            </a:r>
            <a:endParaRPr lang="en-US" sz="780" dirty="0"/>
          </a:p>
        </p:txBody>
      </p:sp>
      <p:sp>
        <p:nvSpPr>
          <p:cNvPr id="60" name="Shape 55"/>
          <p:cNvSpPr/>
          <p:nvPr/>
        </p:nvSpPr>
        <p:spPr>
          <a:xfrm>
            <a:off x="4590288" y="2261616"/>
            <a:ext cx="64008" cy="6400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700016" y="221589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holds ECDSA private key (generated once)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4590288" y="2471928"/>
            <a:ext cx="64008" cy="6400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700016" y="2426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SHA-256 digest of firmware binary</a:t>
            </a:r>
            <a:endParaRPr lang="en-US" sz="750" dirty="0"/>
          </a:p>
        </p:txBody>
      </p:sp>
      <p:sp>
        <p:nvSpPr>
          <p:cNvPr id="64" name="Shape 59"/>
          <p:cNvSpPr/>
          <p:nvPr/>
        </p:nvSpPr>
        <p:spPr>
          <a:xfrm>
            <a:off x="4590288" y="2682240"/>
            <a:ext cx="64008" cy="6400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4700016" y="2636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verifies using embedded public key</a:t>
            </a:r>
            <a:endParaRPr lang="en-US" sz="750" dirty="0"/>
          </a:p>
        </p:txBody>
      </p:sp>
      <p:sp>
        <p:nvSpPr>
          <p:cNvPr id="66" name="Shape 61"/>
          <p:cNvSpPr/>
          <p:nvPr/>
        </p:nvSpPr>
        <p:spPr>
          <a:xfrm>
            <a:off x="4590288" y="2892552"/>
            <a:ext cx="64008" cy="6400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4700016" y="284683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32-byte key — fits in ESP32 flash easily</a:t>
            </a:r>
            <a:endParaRPr lang="en-US" sz="750" dirty="0"/>
          </a:p>
        </p:txBody>
      </p:sp>
      <p:sp>
        <p:nvSpPr>
          <p:cNvPr id="68" name="Shape 63"/>
          <p:cNvSpPr/>
          <p:nvPr/>
        </p:nvSpPr>
        <p:spPr>
          <a:xfrm>
            <a:off x="4480560" y="3276600"/>
            <a:ext cx="2029968" cy="256032"/>
          </a:xfrm>
          <a:prstGeom prst="rect">
            <a:avLst/>
          </a:prstGeom>
          <a:solidFill>
            <a:srgbClr val="0F7B6C">
              <a:alpha val="12000"/>
            </a:srgbClr>
          </a:solidFill>
          <a:ln w="12700">
            <a:solidFill>
              <a:srgbClr val="0F7B6C">
                <a:alpha val="40000"/>
              </a:srgbClr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535424" y="3276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signature attached to firmware package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6638544" y="954024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6638544" y="844296"/>
            <a:ext cx="2029968" cy="60350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708648" y="937260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711696" y="947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7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961644"/>
            <a:ext cx="347472" cy="347472"/>
          </a:xfrm>
          <a:prstGeom prst="rect">
            <a:avLst/>
          </a:prstGeom>
        </p:spPr>
      </p:pic>
      <p:sp>
        <p:nvSpPr>
          <p:cNvPr id="77" name="Text 71"/>
          <p:cNvSpPr/>
          <p:nvPr/>
        </p:nvSpPr>
        <p:spPr>
          <a:xfrm>
            <a:off x="7040880" y="103479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check</a:t>
            </a:r>
            <a:endParaRPr lang="en-US" sz="1050" dirty="0"/>
          </a:p>
        </p:txBody>
      </p:sp>
      <p:sp>
        <p:nvSpPr>
          <p:cNvPr id="78" name="Shape 72"/>
          <p:cNvSpPr/>
          <p:nvPr/>
        </p:nvSpPr>
        <p:spPr>
          <a:xfrm>
            <a:off x="6729984" y="1575816"/>
            <a:ext cx="1847088" cy="182880"/>
          </a:xfrm>
          <a:prstGeom prst="rect">
            <a:avLst/>
          </a:prstGeom>
          <a:solidFill>
            <a:srgbClr val="D4A017">
              <a:alpha val="15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6729984" y="157581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Crypto Verification</a:t>
            </a:r>
            <a:endParaRPr lang="en-US" sz="700" dirty="0"/>
          </a:p>
        </p:txBody>
      </p:sp>
      <p:sp>
        <p:nvSpPr>
          <p:cNvPr id="80" name="Text 74"/>
          <p:cNvSpPr/>
          <p:nvPr/>
        </p:nvSpPr>
        <p:spPr>
          <a:xfrm>
            <a:off x="6729984" y="179527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i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filter check for previously flashed device</a:t>
            </a:r>
            <a:endParaRPr lang="en-US" sz="780" dirty="0"/>
          </a:p>
        </p:txBody>
      </p:sp>
      <p:sp>
        <p:nvSpPr>
          <p:cNvPr id="82" name="Shape 76"/>
          <p:cNvSpPr/>
          <p:nvPr/>
        </p:nvSpPr>
        <p:spPr>
          <a:xfrm>
            <a:off x="6748272" y="2261616"/>
            <a:ext cx="64008" cy="640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3" name="Text 77"/>
          <p:cNvSpPr/>
          <p:nvPr/>
        </p:nvSpPr>
        <p:spPr>
          <a:xfrm>
            <a:off x="6858000" y="221589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Manifest check (version, size)</a:t>
            </a:r>
            <a:endParaRPr lang="en-US" sz="750" dirty="0"/>
          </a:p>
        </p:txBody>
      </p:sp>
      <p:sp>
        <p:nvSpPr>
          <p:cNvPr id="84" name="Shape 78"/>
          <p:cNvSpPr/>
          <p:nvPr/>
        </p:nvSpPr>
        <p:spPr>
          <a:xfrm>
            <a:off x="6748272" y="2471928"/>
            <a:ext cx="64008" cy="640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5" name="Text 79"/>
          <p:cNvSpPr/>
          <p:nvPr/>
        </p:nvSpPr>
        <p:spPr>
          <a:xfrm>
            <a:off x="6858000" y="2426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SHA-256 hash verify</a:t>
            </a:r>
            <a:endParaRPr lang="en-US" sz="750" dirty="0"/>
          </a:p>
        </p:txBody>
      </p:sp>
      <p:sp>
        <p:nvSpPr>
          <p:cNvPr id="86" name="Shape 80"/>
          <p:cNvSpPr/>
          <p:nvPr/>
        </p:nvSpPr>
        <p:spPr>
          <a:xfrm>
            <a:off x="6748272" y="2682240"/>
            <a:ext cx="64008" cy="640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7" name="Text 81"/>
          <p:cNvSpPr/>
          <p:nvPr/>
        </p:nvSpPr>
        <p:spPr>
          <a:xfrm>
            <a:off x="6858000" y="26365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Format &amp; structure validate</a:t>
            </a:r>
            <a:endParaRPr lang="en-US" sz="750" dirty="0"/>
          </a:p>
        </p:txBody>
      </p:sp>
      <p:sp>
        <p:nvSpPr>
          <p:cNvPr id="88" name="Shape 82"/>
          <p:cNvSpPr/>
          <p:nvPr/>
        </p:nvSpPr>
        <p:spPr>
          <a:xfrm>
            <a:off x="6748272" y="2892552"/>
            <a:ext cx="64008" cy="640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9" name="Text 83"/>
          <p:cNvSpPr/>
          <p:nvPr/>
        </p:nvSpPr>
        <p:spPr>
          <a:xfrm>
            <a:off x="6858000" y="284683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HMAC-SHA256 authenticate</a:t>
            </a:r>
            <a:endParaRPr lang="en-US" sz="750" dirty="0"/>
          </a:p>
        </p:txBody>
      </p:sp>
      <p:sp>
        <p:nvSpPr>
          <p:cNvPr id="90" name="Shape 84"/>
          <p:cNvSpPr/>
          <p:nvPr/>
        </p:nvSpPr>
        <p:spPr>
          <a:xfrm>
            <a:off x="6638544" y="3276600"/>
            <a:ext cx="2029968" cy="256032"/>
          </a:xfrm>
          <a:prstGeom prst="rect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91" name="Text 85"/>
          <p:cNvSpPr/>
          <p:nvPr/>
        </p:nvSpPr>
        <p:spPr>
          <a:xfrm>
            <a:off x="6693408" y="3276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flash  |  FAIL → abort + health score down</a:t>
            </a:r>
            <a:endParaRPr lang="en-US" sz="700" dirty="0"/>
          </a:p>
        </p:txBody>
      </p:sp>
      <p:sp>
        <p:nvSpPr>
          <p:cNvPr id="92" name="Shape 86"/>
          <p:cNvSpPr/>
          <p:nvPr/>
        </p:nvSpPr>
        <p:spPr>
          <a:xfrm>
            <a:off x="164592" y="3688080"/>
            <a:ext cx="1371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164592" y="36972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94" name="Shape 88"/>
          <p:cNvSpPr/>
          <p:nvPr/>
        </p:nvSpPr>
        <p:spPr>
          <a:xfrm>
            <a:off x="1645920" y="3697224"/>
            <a:ext cx="1280160" cy="47548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1700784" y="375208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6" name="Text 90"/>
          <p:cNvSpPr/>
          <p:nvPr/>
        </p:nvSpPr>
        <p:spPr>
          <a:xfrm>
            <a:off x="1666875" y="3752088"/>
            <a:ext cx="33908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97" name="Text 91"/>
          <p:cNvSpPr/>
          <p:nvPr/>
        </p:nvSpPr>
        <p:spPr>
          <a:xfrm>
            <a:off x="1938528" y="3733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Check</a:t>
            </a:r>
            <a:endParaRPr lang="en-US" sz="800" dirty="0"/>
          </a:p>
        </p:txBody>
      </p:sp>
      <p:sp>
        <p:nvSpPr>
          <p:cNvPr id="98" name="Text 92"/>
          <p:cNvSpPr/>
          <p:nvPr/>
        </p:nvSpPr>
        <p:spPr>
          <a:xfrm>
            <a:off x="1719072" y="397154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· size · target board</a:t>
            </a:r>
            <a:endParaRPr lang="en-US" sz="680" dirty="0"/>
          </a:p>
        </p:txBody>
      </p:sp>
      <p:sp>
        <p:nvSpPr>
          <p:cNvPr id="101" name="Shape 95"/>
          <p:cNvSpPr/>
          <p:nvPr/>
        </p:nvSpPr>
        <p:spPr>
          <a:xfrm>
            <a:off x="2980944" y="3697224"/>
            <a:ext cx="1280160" cy="47548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3035808" y="375208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3004185" y="3752088"/>
            <a:ext cx="3752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104" name="Text 98"/>
          <p:cNvSpPr/>
          <p:nvPr/>
        </p:nvSpPr>
        <p:spPr>
          <a:xfrm>
            <a:off x="3273552" y="3733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800" dirty="0"/>
          </a:p>
        </p:txBody>
      </p:sp>
      <p:sp>
        <p:nvSpPr>
          <p:cNvPr id="105" name="Text 99"/>
          <p:cNvSpPr/>
          <p:nvPr/>
        </p:nvSpPr>
        <p:spPr>
          <a:xfrm>
            <a:off x="3054096" y="397154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end-to-end</a:t>
            </a:r>
            <a:endParaRPr lang="en-US" sz="680" dirty="0"/>
          </a:p>
        </p:txBody>
      </p:sp>
      <p:sp>
        <p:nvSpPr>
          <p:cNvPr id="108" name="Shape 102"/>
          <p:cNvSpPr/>
          <p:nvPr/>
        </p:nvSpPr>
        <p:spPr>
          <a:xfrm>
            <a:off x="4315968" y="3697224"/>
            <a:ext cx="1280160" cy="47548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4370832" y="375208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4343401" y="3752088"/>
            <a:ext cx="337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111" name="Text 105"/>
          <p:cNvSpPr/>
          <p:nvPr/>
        </p:nvSpPr>
        <p:spPr>
          <a:xfrm>
            <a:off x="4608576" y="3733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Validate</a:t>
            </a:r>
            <a:endParaRPr lang="en-US" sz="800" dirty="0"/>
          </a:p>
        </p:txBody>
      </p:sp>
      <p:sp>
        <p:nvSpPr>
          <p:cNvPr id="112" name="Text 106"/>
          <p:cNvSpPr/>
          <p:nvPr/>
        </p:nvSpPr>
        <p:spPr>
          <a:xfrm>
            <a:off x="4389120" y="397154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header · magic</a:t>
            </a:r>
            <a:endParaRPr lang="en-US" sz="680" dirty="0"/>
          </a:p>
        </p:txBody>
      </p:sp>
      <p:sp>
        <p:nvSpPr>
          <p:cNvPr id="115" name="Shape 109"/>
          <p:cNvSpPr/>
          <p:nvPr/>
        </p:nvSpPr>
        <p:spPr>
          <a:xfrm>
            <a:off x="5650992" y="3697224"/>
            <a:ext cx="1280160" cy="47548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16" name="Shape 110"/>
          <p:cNvSpPr/>
          <p:nvPr/>
        </p:nvSpPr>
        <p:spPr>
          <a:xfrm>
            <a:off x="5705856" y="375208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7" name="Text 111"/>
          <p:cNvSpPr/>
          <p:nvPr/>
        </p:nvSpPr>
        <p:spPr>
          <a:xfrm>
            <a:off x="5673090" y="3752088"/>
            <a:ext cx="35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118" name="Text 112"/>
          <p:cNvSpPr/>
          <p:nvPr/>
        </p:nvSpPr>
        <p:spPr>
          <a:xfrm>
            <a:off x="5943600" y="3733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800" dirty="0"/>
          </a:p>
        </p:txBody>
      </p:sp>
      <p:sp>
        <p:nvSpPr>
          <p:cNvPr id="119" name="Text 113"/>
          <p:cNvSpPr/>
          <p:nvPr/>
        </p:nvSpPr>
        <p:spPr>
          <a:xfrm>
            <a:off x="5724144" y="397154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· per packet</a:t>
            </a:r>
            <a:endParaRPr lang="en-US" sz="680" dirty="0"/>
          </a:p>
        </p:txBody>
      </p:sp>
      <p:sp>
        <p:nvSpPr>
          <p:cNvPr id="122" name="Shape 116"/>
          <p:cNvSpPr/>
          <p:nvPr/>
        </p:nvSpPr>
        <p:spPr>
          <a:xfrm>
            <a:off x="6986016" y="3697224"/>
            <a:ext cx="1280160" cy="47548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7040880" y="375208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6931152" y="3752088"/>
            <a:ext cx="414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125" name="Text 119"/>
          <p:cNvSpPr/>
          <p:nvPr/>
        </p:nvSpPr>
        <p:spPr>
          <a:xfrm>
            <a:off x="7278624" y="3733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</a:t>
            </a:r>
            <a:endParaRPr lang="en-US" sz="800" dirty="0"/>
          </a:p>
        </p:txBody>
      </p:sp>
      <p:sp>
        <p:nvSpPr>
          <p:cNvPr id="126" name="Text 120"/>
          <p:cNvSpPr/>
          <p:nvPr/>
        </p:nvSpPr>
        <p:spPr>
          <a:xfrm>
            <a:off x="7059168" y="3971544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· IDE origin proof</a:t>
            </a:r>
            <a:endParaRPr lang="en-US" sz="680" dirty="0"/>
          </a:p>
        </p:txBody>
      </p:sp>
      <p:sp>
        <p:nvSpPr>
          <p:cNvPr id="127" name="Shape 121"/>
          <p:cNvSpPr/>
          <p:nvPr/>
        </p:nvSpPr>
        <p:spPr>
          <a:xfrm>
            <a:off x="8321040" y="3697224"/>
            <a:ext cx="457200" cy="219456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8321040" y="36972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Flash</a:t>
            </a:r>
            <a:endParaRPr lang="en-US" sz="650" dirty="0"/>
          </a:p>
        </p:txBody>
      </p:sp>
      <p:sp>
        <p:nvSpPr>
          <p:cNvPr id="129" name="Shape 123"/>
          <p:cNvSpPr/>
          <p:nvPr/>
        </p:nvSpPr>
        <p:spPr>
          <a:xfrm>
            <a:off x="8321040" y="3953256"/>
            <a:ext cx="457200" cy="219456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30" name="Text 124"/>
          <p:cNvSpPr/>
          <p:nvPr/>
        </p:nvSpPr>
        <p:spPr>
          <a:xfrm>
            <a:off x="8266176" y="3953256"/>
            <a:ext cx="573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Abort</a:t>
            </a:r>
            <a:endParaRPr lang="en-US" sz="650" dirty="0"/>
          </a:p>
        </p:txBody>
      </p:sp>
      <p:sp>
        <p:nvSpPr>
          <p:cNvPr id="131" name="Shape 1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182880" y="4860036"/>
            <a:ext cx="1682496" cy="228600"/>
          </a:xfrm>
          <a:prstGeom prst="rect">
            <a:avLst/>
          </a:prstGeom>
          <a:solidFill>
            <a:srgbClr val="1E6FBF">
              <a:alpha val="18000"/>
            </a:srgbClr>
          </a:solidFill>
          <a:ln w="12700">
            <a:solidFill>
              <a:srgbClr val="1E6FBF">
                <a:alpha val="60000"/>
              </a:srgbClr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182880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→ Confidentiality</a:t>
            </a:r>
            <a:endParaRPr lang="en-US" sz="750" dirty="0"/>
          </a:p>
        </p:txBody>
      </p:sp>
      <p:sp>
        <p:nvSpPr>
          <p:cNvPr id="134" name="Shape 128"/>
          <p:cNvSpPr/>
          <p:nvPr/>
        </p:nvSpPr>
        <p:spPr>
          <a:xfrm>
            <a:off x="1956816" y="4860036"/>
            <a:ext cx="1682496" cy="228600"/>
          </a:xfrm>
          <a:prstGeom prst="rect">
            <a:avLst/>
          </a:prstGeom>
          <a:solidFill>
            <a:srgbClr val="5C2D91">
              <a:alpha val="18000"/>
            </a:srgbClr>
          </a:solidFill>
          <a:ln w="12700">
            <a:solidFill>
              <a:srgbClr val="5C2D91">
                <a:alpha val="60000"/>
              </a:srgbClr>
            </a:solidFill>
            <a:prstDash val="solid"/>
          </a:ln>
        </p:spPr>
      </p:sp>
      <p:sp>
        <p:nvSpPr>
          <p:cNvPr id="135" name="Text 129"/>
          <p:cNvSpPr/>
          <p:nvPr/>
        </p:nvSpPr>
        <p:spPr>
          <a:xfrm>
            <a:off x="1956816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→ Authenticity</a:t>
            </a:r>
            <a:endParaRPr lang="en-US" sz="750" dirty="0"/>
          </a:p>
        </p:txBody>
      </p:sp>
      <p:sp>
        <p:nvSpPr>
          <p:cNvPr id="136" name="Shape 130"/>
          <p:cNvSpPr/>
          <p:nvPr/>
        </p:nvSpPr>
        <p:spPr>
          <a:xfrm>
            <a:off x="3730752" y="4860036"/>
            <a:ext cx="1682496" cy="228600"/>
          </a:xfrm>
          <a:prstGeom prst="rect">
            <a:avLst/>
          </a:prstGeom>
          <a:solidFill>
            <a:srgbClr val="0F7B6C">
              <a:alpha val="18000"/>
            </a:srgbClr>
          </a:solidFill>
          <a:ln w="12700">
            <a:solidFill>
              <a:srgbClr val="0F7B6C">
                <a:alpha val="60000"/>
              </a:srgbClr>
            </a:solidFill>
            <a:prstDash val="solid"/>
          </a:ln>
        </p:spPr>
      </p:sp>
      <p:sp>
        <p:nvSpPr>
          <p:cNvPr id="137" name="Text 131"/>
          <p:cNvSpPr/>
          <p:nvPr/>
        </p:nvSpPr>
        <p:spPr>
          <a:xfrm>
            <a:off x="3730752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 → Integrity</a:t>
            </a:r>
            <a:endParaRPr lang="en-US" sz="750" dirty="0"/>
          </a:p>
        </p:txBody>
      </p:sp>
      <p:sp>
        <p:nvSpPr>
          <p:cNvPr id="138" name="Shape 132"/>
          <p:cNvSpPr/>
          <p:nvPr/>
        </p:nvSpPr>
        <p:spPr>
          <a:xfrm>
            <a:off x="5504688" y="4860036"/>
            <a:ext cx="1682496" cy="228600"/>
          </a:xfrm>
          <a:prstGeom prst="rect">
            <a:avLst/>
          </a:prstGeom>
          <a:solidFill>
            <a:srgbClr val="F0C040">
              <a:alpha val="18000"/>
            </a:srgbClr>
          </a:solidFill>
          <a:ln w="12700">
            <a:solidFill>
              <a:srgbClr val="F0C040">
                <a:alpha val="60000"/>
              </a:srgbClr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5504688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→ Tiered Verification</a:t>
            </a:r>
            <a:endParaRPr lang="en-US" sz="750" dirty="0"/>
          </a:p>
        </p:txBody>
      </p:sp>
      <p:sp>
        <p:nvSpPr>
          <p:cNvPr id="140" name="Shape 134"/>
          <p:cNvSpPr/>
          <p:nvPr/>
        </p:nvSpPr>
        <p:spPr>
          <a:xfrm>
            <a:off x="7278624" y="4860036"/>
            <a:ext cx="1682496" cy="2286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7278624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must pass to flash</a:t>
            </a:r>
            <a:endParaRPr lang="en-US" sz="750" dirty="0"/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A27071D3-672C-CD07-C650-9BBFDCD1B3EE}"/>
              </a:ext>
            </a:extLst>
          </p:cNvPr>
          <p:cNvSpPr/>
          <p:nvPr/>
        </p:nvSpPr>
        <p:spPr>
          <a:xfrm>
            <a:off x="4581144" y="2134108"/>
            <a:ext cx="1847088" cy="9144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3" name="Shape 33">
            <a:extLst>
              <a:ext uri="{FF2B5EF4-FFF2-40B4-BE49-F238E27FC236}">
                <a16:creationId xmlns:a16="http://schemas.microsoft.com/office/drawing/2014/main" id="{6D904759-5FAC-3538-DDA3-27E639CC4C91}"/>
              </a:ext>
            </a:extLst>
          </p:cNvPr>
          <p:cNvSpPr/>
          <p:nvPr/>
        </p:nvSpPr>
        <p:spPr>
          <a:xfrm>
            <a:off x="6720840" y="2134108"/>
            <a:ext cx="1847088" cy="9144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4" name="Shape 33">
            <a:extLst>
              <a:ext uri="{FF2B5EF4-FFF2-40B4-BE49-F238E27FC236}">
                <a16:creationId xmlns:a16="http://schemas.microsoft.com/office/drawing/2014/main" id="{05E84E5E-CD0D-CEA4-C217-E579B4EC66AB}"/>
              </a:ext>
            </a:extLst>
          </p:cNvPr>
          <p:cNvSpPr/>
          <p:nvPr/>
        </p:nvSpPr>
        <p:spPr>
          <a:xfrm>
            <a:off x="274320" y="2129028"/>
            <a:ext cx="1847088" cy="9144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EXISTING SYSTEMS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68680"/>
            <a:ext cx="2743200" cy="9601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7303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095934"/>
            <a:ext cx="1874520" cy="385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Cloud Platforms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1480" y="1536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· Azure Device Update · Golioth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3852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1911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fully managed services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0545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2478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distribution &amp; redundancy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7238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044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per active device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9312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724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simple edge sensors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3264408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264408" y="868680"/>
            <a:ext cx="2743200" cy="96012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973032"/>
            <a:ext cx="548640" cy="5486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41648" y="1095933"/>
            <a:ext cx="1874520" cy="385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MQTT / HTTP Servers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3355848" y="1536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Node.js self-hosted servers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193852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21608" y="1911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binaries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505456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21608" y="2478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vendor lock-in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072384"/>
            <a:ext cx="256032" cy="25603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21608" y="3044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24/7 maintenance</a:t>
            </a:r>
            <a:endParaRPr lang="en-US" sz="10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639312"/>
            <a:ext cx="256032" cy="25603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721608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risk</a:t>
            </a:r>
            <a:endParaRPr lang="en-US" sz="1000" dirty="0"/>
          </a:p>
        </p:txBody>
      </p:sp>
      <p:sp>
        <p:nvSpPr>
          <p:cNvPr id="32" name="Shape 19"/>
          <p:cNvSpPr/>
          <p:nvPr/>
        </p:nvSpPr>
        <p:spPr>
          <a:xfrm>
            <a:off x="6208776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6208776" y="868680"/>
            <a:ext cx="2743200" cy="9601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986480"/>
            <a:ext cx="548640" cy="54864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986016" y="1095934"/>
            <a:ext cx="1874520" cy="385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Solutions</a:t>
            </a:r>
            <a:endParaRPr lang="en-US" sz="1050" dirty="0"/>
          </a:p>
        </p:txBody>
      </p:sp>
      <p:sp>
        <p:nvSpPr>
          <p:cNvPr id="36" name="Text 22"/>
          <p:cNvSpPr/>
          <p:nvPr/>
        </p:nvSpPr>
        <p:spPr>
          <a:xfrm>
            <a:off x="6300216" y="1536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· IPFS firmware hashes</a:t>
            </a:r>
            <a:endParaRPr lang="en-US" sz="8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938528"/>
            <a:ext cx="256032" cy="25603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665976" y="1911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trust model</a:t>
            </a:r>
            <a:endParaRPr lang="en-US" sz="10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505456"/>
            <a:ext cx="256032" cy="25603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665976" y="2478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firmware records</a:t>
            </a:r>
            <a:endParaRPr lang="en-US" sz="10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072384"/>
            <a:ext cx="256032" cy="25603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665976" y="30449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heavy overhead</a:t>
            </a:r>
            <a:endParaRPr lang="en-US" sz="10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639312"/>
            <a:ext cx="256032" cy="256032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665976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2KB MCUs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SOLUTION —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22960"/>
            <a:ext cx="37490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LIGHTWEIGHT GITHUB-INTEGRATED OTA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48132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481328"/>
            <a:ext cx="41148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5727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" y="1572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66160" y="1572768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66160" y="157276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 acts as the OTA update server free, globally distributed, and 99.9% available. Zero infrastructure cost.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48132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481328"/>
            <a:ext cx="4114800" cy="6400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5727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13248" y="1572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Crypto Verification (TCV)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01000" y="1572768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01000" y="157276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~2KB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489204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manifest → size → hash → format → Ed25519. Cheap checks filter first; heavy crypto only runs if needed.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38328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3383280"/>
            <a:ext cx="4114800" cy="6400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4747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8408" y="3474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Anomaly-Scored Heartbeat (ASH)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566160" y="3474720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566160" y="3474720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457200" y="40965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maintains health score (0–100). Repeated failed updates or suspicious patterns lower the score. Below threshold → self-quarantine.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54880" y="338328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3383280"/>
            <a:ext cx="4114800" cy="64008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47472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13248" y="3474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Git→Release Workflow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01000" y="3474720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001000" y="3474720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4892040" y="40965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v1.0 in Git triggers CI pipeline: compile → sign with Ed25519 → publish GitHub Release. No manual steps.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TECHNOLOGY STACK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020" y="80467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" y="804672"/>
            <a:ext cx="2834640" cy="47548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8778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" y="8778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Frontend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" y="131673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" y="1399032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" y="13350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2.x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641348" y="137160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96212" y="13350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fork (Theia/Electron)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233172" y="1559052"/>
            <a:ext cx="2688336" cy="233172"/>
          </a:xfrm>
          <a:prstGeom prst="rect">
            <a:avLst/>
          </a:prstGeom>
          <a:solidFill>
            <a:srgbClr val="D8E8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8892" y="1641348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6908" y="15773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Theia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41348" y="161391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96212" y="157734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shell &amp; extension system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33172" y="180136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8892" y="1883664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" y="18196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41348" y="185623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96212" y="181965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wrapper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233172" y="2043684"/>
            <a:ext cx="2688336" cy="233172"/>
          </a:xfrm>
          <a:prstGeom prst="rect">
            <a:avLst/>
          </a:prstGeom>
          <a:solidFill>
            <a:srgbClr val="D8E8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8892" y="2125980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" y="206197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641348" y="209854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96212" y="206197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development language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33172" y="2286000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8892" y="2368296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6908" y="23042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641348" y="234086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696212" y="230428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runtime environment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233172" y="2528316"/>
            <a:ext cx="2688336" cy="233172"/>
          </a:xfrm>
          <a:prstGeom prst="rect">
            <a:avLst/>
          </a:prstGeom>
          <a:solidFill>
            <a:srgbClr val="D8E8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8892" y="2610612"/>
            <a:ext cx="73152" cy="7315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6908" y="254660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1641348" y="258318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696212" y="25466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UI components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154680" y="80467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54680" y="804672"/>
            <a:ext cx="2834640" cy="47548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877824"/>
            <a:ext cx="329184" cy="329184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3657600" y="8778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Side (ESP32)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3227832" y="131673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73552" y="1399032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401568" y="13350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v5.x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636008" y="137160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690872" y="13350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framework</a:t>
            </a:r>
            <a:endParaRPr lang="en-US" sz="780" dirty="0"/>
          </a:p>
        </p:txBody>
      </p:sp>
      <p:sp>
        <p:nvSpPr>
          <p:cNvPr id="49" name="Shape 45"/>
          <p:cNvSpPr/>
          <p:nvPr/>
        </p:nvSpPr>
        <p:spPr>
          <a:xfrm>
            <a:off x="3227832" y="1559052"/>
            <a:ext cx="2688336" cy="233172"/>
          </a:xfrm>
          <a:prstGeom prst="rect">
            <a:avLst/>
          </a:prstGeom>
          <a:solidFill>
            <a:srgbClr val="D1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273552" y="1641348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401568" y="15773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636008" y="161391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90872" y="157734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task scheduling</a:t>
            </a:r>
            <a:endParaRPr lang="en-US" sz="780" dirty="0"/>
          </a:p>
        </p:txBody>
      </p:sp>
      <p:sp>
        <p:nvSpPr>
          <p:cNvPr id="54" name="Shape 50"/>
          <p:cNvSpPr/>
          <p:nvPr/>
        </p:nvSpPr>
        <p:spPr>
          <a:xfrm>
            <a:off x="3227832" y="180136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273552" y="1883664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401568" y="18196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mbedTLS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4636008" y="185623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90872" y="181965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HMAC-SHA256, TLS 1.3</a:t>
            </a:r>
            <a:endParaRPr lang="en-US" sz="780" dirty="0"/>
          </a:p>
        </p:txBody>
      </p:sp>
      <p:sp>
        <p:nvSpPr>
          <p:cNvPr id="59" name="Shape 55"/>
          <p:cNvSpPr/>
          <p:nvPr/>
        </p:nvSpPr>
        <p:spPr>
          <a:xfrm>
            <a:off x="3227832" y="2043684"/>
            <a:ext cx="2688336" cy="233172"/>
          </a:xfrm>
          <a:prstGeom prst="rect">
            <a:avLst/>
          </a:prstGeom>
          <a:solidFill>
            <a:srgbClr val="D1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273552" y="2125980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401568" y="206197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Core ESP32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4636008" y="209854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690872" y="206197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compatibility</a:t>
            </a:r>
            <a:endParaRPr lang="en-US" sz="780" dirty="0"/>
          </a:p>
        </p:txBody>
      </p:sp>
      <p:sp>
        <p:nvSpPr>
          <p:cNvPr id="64" name="Shape 60"/>
          <p:cNvSpPr/>
          <p:nvPr/>
        </p:nvSpPr>
        <p:spPr>
          <a:xfrm>
            <a:off x="3227832" y="2286000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3273552" y="2368296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3401568" y="23042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4636008" y="234086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4690872" y="230428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packet JSON serialization</a:t>
            </a:r>
            <a:endParaRPr lang="en-US" sz="780" dirty="0"/>
          </a:p>
        </p:txBody>
      </p:sp>
      <p:sp>
        <p:nvSpPr>
          <p:cNvPr id="69" name="Shape 65"/>
          <p:cNvSpPr/>
          <p:nvPr/>
        </p:nvSpPr>
        <p:spPr>
          <a:xfrm>
            <a:off x="3227832" y="2528316"/>
            <a:ext cx="2688336" cy="233172"/>
          </a:xfrm>
          <a:prstGeom prst="rect">
            <a:avLst/>
          </a:prstGeom>
          <a:solidFill>
            <a:srgbClr val="D1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3273552" y="2610612"/>
            <a:ext cx="73152" cy="73152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3401568" y="254660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ESPmDNS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4636008" y="258318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4690872" y="254660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network advertisement</a:t>
            </a:r>
            <a:endParaRPr lang="en-US" sz="780" dirty="0"/>
          </a:p>
        </p:txBody>
      </p:sp>
      <p:sp>
        <p:nvSpPr>
          <p:cNvPr id="74" name="Shape 70"/>
          <p:cNvSpPr/>
          <p:nvPr/>
        </p:nvSpPr>
        <p:spPr>
          <a:xfrm>
            <a:off x="6149340" y="80467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6149340" y="804672"/>
            <a:ext cx="2834640" cy="47548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pic>
        <p:nvPicPr>
          <p:cNvPr id="7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877824"/>
            <a:ext cx="329184" cy="329184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6652260" y="8778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78" name="Shape 73"/>
          <p:cNvSpPr/>
          <p:nvPr/>
        </p:nvSpPr>
        <p:spPr>
          <a:xfrm>
            <a:off x="6222492" y="131673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6268212" y="1399032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6396228" y="13350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7630668" y="137160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7685532" y="13350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payload encryption</a:t>
            </a:r>
            <a:endParaRPr lang="en-US" sz="780" dirty="0"/>
          </a:p>
        </p:txBody>
      </p:sp>
      <p:sp>
        <p:nvSpPr>
          <p:cNvPr id="83" name="Shape 78"/>
          <p:cNvSpPr/>
          <p:nvPr/>
        </p:nvSpPr>
        <p:spPr>
          <a:xfrm>
            <a:off x="6222492" y="1559052"/>
            <a:ext cx="2688336" cy="233172"/>
          </a:xfrm>
          <a:prstGeom prst="rect">
            <a:avLst/>
          </a:prstGeom>
          <a:solidFill>
            <a:srgbClr val="E8DA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268212" y="1641348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396228" y="15773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7630668" y="161391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7685532" y="157734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authenticity signing</a:t>
            </a:r>
            <a:endParaRPr lang="en-US" sz="780" dirty="0"/>
          </a:p>
        </p:txBody>
      </p:sp>
      <p:sp>
        <p:nvSpPr>
          <p:cNvPr id="88" name="Shape 83"/>
          <p:cNvSpPr/>
          <p:nvPr/>
        </p:nvSpPr>
        <p:spPr>
          <a:xfrm>
            <a:off x="6222492" y="180136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6268212" y="1883664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6396228" y="18196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(P-256)</a:t>
            </a:r>
            <a:endParaRPr lang="en-US" sz="850" dirty="0"/>
          </a:p>
        </p:txBody>
      </p:sp>
      <p:sp>
        <p:nvSpPr>
          <p:cNvPr id="91" name="Shape 86"/>
          <p:cNvSpPr/>
          <p:nvPr/>
        </p:nvSpPr>
        <p:spPr>
          <a:xfrm>
            <a:off x="7630668" y="185623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7685532" y="181965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digital signature</a:t>
            </a:r>
            <a:endParaRPr lang="en-US" sz="780" dirty="0"/>
          </a:p>
        </p:txBody>
      </p:sp>
      <p:sp>
        <p:nvSpPr>
          <p:cNvPr id="93" name="Shape 88"/>
          <p:cNvSpPr/>
          <p:nvPr/>
        </p:nvSpPr>
        <p:spPr>
          <a:xfrm>
            <a:off x="6222492" y="2043684"/>
            <a:ext cx="2688336" cy="233172"/>
          </a:xfrm>
          <a:prstGeom prst="rect">
            <a:avLst/>
          </a:prstGeom>
          <a:solidFill>
            <a:srgbClr val="E8DA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6268212" y="2125980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6396228" y="206197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850" dirty="0"/>
          </a:p>
        </p:txBody>
      </p:sp>
      <p:sp>
        <p:nvSpPr>
          <p:cNvPr id="96" name="Shape 91"/>
          <p:cNvSpPr/>
          <p:nvPr/>
        </p:nvSpPr>
        <p:spPr>
          <a:xfrm>
            <a:off x="7630668" y="209854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7685532" y="206197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OTA transport</a:t>
            </a:r>
            <a:endParaRPr lang="en-US" sz="780" dirty="0"/>
          </a:p>
        </p:txBody>
      </p:sp>
      <p:sp>
        <p:nvSpPr>
          <p:cNvPr id="98" name="Shape 93"/>
          <p:cNvSpPr/>
          <p:nvPr/>
        </p:nvSpPr>
        <p:spPr>
          <a:xfrm>
            <a:off x="6222492" y="2286000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6268212" y="2368296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6396228" y="23042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 Counter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7630668" y="234086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7685532" y="230428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 protection</a:t>
            </a:r>
            <a:endParaRPr lang="en-US" sz="780" dirty="0"/>
          </a:p>
        </p:txBody>
      </p:sp>
      <p:sp>
        <p:nvSpPr>
          <p:cNvPr id="103" name="Shape 98"/>
          <p:cNvSpPr/>
          <p:nvPr/>
        </p:nvSpPr>
        <p:spPr>
          <a:xfrm>
            <a:off x="6222492" y="2528316"/>
            <a:ext cx="2688336" cy="233172"/>
          </a:xfrm>
          <a:prstGeom prst="rect">
            <a:avLst/>
          </a:prstGeom>
          <a:solidFill>
            <a:srgbClr val="E8DA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6268212" y="2610612"/>
            <a:ext cx="73152" cy="7315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6396228" y="254660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Registry</a:t>
            </a:r>
            <a:endParaRPr lang="en-US" sz="850" dirty="0"/>
          </a:p>
        </p:txBody>
      </p:sp>
      <p:sp>
        <p:nvSpPr>
          <p:cNvPr id="106" name="Shape 101"/>
          <p:cNvSpPr/>
          <p:nvPr/>
        </p:nvSpPr>
        <p:spPr>
          <a:xfrm>
            <a:off x="7630668" y="258318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7685532" y="25466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identity verification</a:t>
            </a:r>
            <a:endParaRPr lang="en-US" sz="780" dirty="0"/>
          </a:p>
        </p:txBody>
      </p:sp>
      <p:sp>
        <p:nvSpPr>
          <p:cNvPr id="108" name="Shape 103"/>
          <p:cNvSpPr/>
          <p:nvPr/>
        </p:nvSpPr>
        <p:spPr>
          <a:xfrm>
            <a:off x="160020" y="290779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9" name="Shape 104"/>
          <p:cNvSpPr/>
          <p:nvPr/>
        </p:nvSpPr>
        <p:spPr>
          <a:xfrm>
            <a:off x="160020" y="2907792"/>
            <a:ext cx="283464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1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" y="2980944"/>
            <a:ext cx="329184" cy="329184"/>
          </a:xfrm>
          <a:prstGeom prst="rect">
            <a:avLst/>
          </a:prstGeom>
        </p:spPr>
      </p:pic>
      <p:sp>
        <p:nvSpPr>
          <p:cNvPr id="111" name="Text 105"/>
          <p:cNvSpPr/>
          <p:nvPr/>
        </p:nvSpPr>
        <p:spPr>
          <a:xfrm>
            <a:off x="662940" y="298094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100" dirty="0"/>
          </a:p>
        </p:txBody>
      </p:sp>
      <p:sp>
        <p:nvSpPr>
          <p:cNvPr id="112" name="Shape 106"/>
          <p:cNvSpPr/>
          <p:nvPr/>
        </p:nvSpPr>
        <p:spPr>
          <a:xfrm>
            <a:off x="233172" y="341985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278892" y="3502152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4" name="Text 108"/>
          <p:cNvSpPr/>
          <p:nvPr/>
        </p:nvSpPr>
        <p:spPr>
          <a:xfrm>
            <a:off x="406908" y="34381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v3</a:t>
            </a:r>
            <a:endParaRPr lang="en-US" sz="850" dirty="0"/>
          </a:p>
        </p:txBody>
      </p:sp>
      <p:sp>
        <p:nvSpPr>
          <p:cNvPr id="115" name="Shape 109"/>
          <p:cNvSpPr/>
          <p:nvPr/>
        </p:nvSpPr>
        <p:spPr>
          <a:xfrm>
            <a:off x="1641348" y="347472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1696212" y="343814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release &amp; asset creation</a:t>
            </a:r>
            <a:endParaRPr lang="en-US" sz="780" dirty="0"/>
          </a:p>
        </p:txBody>
      </p:sp>
      <p:sp>
        <p:nvSpPr>
          <p:cNvPr id="117" name="Shape 111"/>
          <p:cNvSpPr/>
          <p:nvPr/>
        </p:nvSpPr>
        <p:spPr>
          <a:xfrm>
            <a:off x="233172" y="3662172"/>
            <a:ext cx="2688336" cy="233172"/>
          </a:xfrm>
          <a:prstGeom prst="rect">
            <a:avLst/>
          </a:prstGeom>
          <a:solidFill>
            <a:srgbClr val="D4E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278892" y="3744468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406908" y="36804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</a:t>
            </a:r>
            <a:endParaRPr lang="en-US" sz="850" dirty="0"/>
          </a:p>
        </p:txBody>
      </p:sp>
      <p:sp>
        <p:nvSpPr>
          <p:cNvPr id="120" name="Shape 114"/>
          <p:cNvSpPr/>
          <p:nvPr/>
        </p:nvSpPr>
        <p:spPr>
          <a:xfrm>
            <a:off x="1641348" y="371703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21" name="Text 115"/>
          <p:cNvSpPr/>
          <p:nvPr/>
        </p:nvSpPr>
        <p:spPr>
          <a:xfrm>
            <a:off x="1696212" y="368046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binary hosting (free)</a:t>
            </a:r>
            <a:endParaRPr lang="en-US" sz="780" dirty="0"/>
          </a:p>
        </p:txBody>
      </p:sp>
      <p:sp>
        <p:nvSpPr>
          <p:cNvPr id="122" name="Shape 116"/>
          <p:cNvSpPr/>
          <p:nvPr/>
        </p:nvSpPr>
        <p:spPr>
          <a:xfrm>
            <a:off x="233172" y="390448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278892" y="3986784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406908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PAT</a:t>
            </a:r>
            <a:endParaRPr lang="en-US" sz="850" dirty="0"/>
          </a:p>
        </p:txBody>
      </p:sp>
      <p:sp>
        <p:nvSpPr>
          <p:cNvPr id="125" name="Shape 119"/>
          <p:cNvSpPr/>
          <p:nvPr/>
        </p:nvSpPr>
        <p:spPr>
          <a:xfrm>
            <a:off x="1641348" y="395935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1696212" y="392277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token</a:t>
            </a:r>
            <a:endParaRPr lang="en-US" sz="780" dirty="0"/>
          </a:p>
        </p:txBody>
      </p:sp>
      <p:sp>
        <p:nvSpPr>
          <p:cNvPr id="127" name="Shape 121"/>
          <p:cNvSpPr/>
          <p:nvPr/>
        </p:nvSpPr>
        <p:spPr>
          <a:xfrm>
            <a:off x="233172" y="4146804"/>
            <a:ext cx="2688336" cy="233172"/>
          </a:xfrm>
          <a:prstGeom prst="rect">
            <a:avLst/>
          </a:prstGeom>
          <a:solidFill>
            <a:srgbClr val="D4E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278892" y="4229100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406908" y="416509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130" name="Shape 124"/>
          <p:cNvSpPr/>
          <p:nvPr/>
        </p:nvSpPr>
        <p:spPr>
          <a:xfrm>
            <a:off x="1641348" y="420166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31" name="Text 125"/>
          <p:cNvSpPr/>
          <p:nvPr/>
        </p:nvSpPr>
        <p:spPr>
          <a:xfrm>
            <a:off x="1696212" y="416509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version history database</a:t>
            </a:r>
            <a:endParaRPr lang="en-US" sz="780" dirty="0"/>
          </a:p>
        </p:txBody>
      </p:sp>
      <p:sp>
        <p:nvSpPr>
          <p:cNvPr id="132" name="Shape 126"/>
          <p:cNvSpPr/>
          <p:nvPr/>
        </p:nvSpPr>
        <p:spPr>
          <a:xfrm>
            <a:off x="233172" y="4389120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278892" y="4471416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4" name="Text 128"/>
          <p:cNvSpPr/>
          <p:nvPr/>
        </p:nvSpPr>
        <p:spPr>
          <a:xfrm>
            <a:off x="406908" y="440740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crypto</a:t>
            </a:r>
            <a:endParaRPr lang="en-US" sz="850" dirty="0"/>
          </a:p>
        </p:txBody>
      </p:sp>
      <p:sp>
        <p:nvSpPr>
          <p:cNvPr id="135" name="Shape 129"/>
          <p:cNvSpPr/>
          <p:nvPr/>
        </p:nvSpPr>
        <p:spPr>
          <a:xfrm>
            <a:off x="1641348" y="444398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36" name="Text 130"/>
          <p:cNvSpPr/>
          <p:nvPr/>
        </p:nvSpPr>
        <p:spPr>
          <a:xfrm>
            <a:off x="1696212" y="440740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+ HMAC IDE-side ops</a:t>
            </a:r>
            <a:endParaRPr lang="en-US" sz="780" dirty="0"/>
          </a:p>
        </p:txBody>
      </p:sp>
      <p:sp>
        <p:nvSpPr>
          <p:cNvPr id="137" name="Shape 131"/>
          <p:cNvSpPr/>
          <p:nvPr/>
        </p:nvSpPr>
        <p:spPr>
          <a:xfrm>
            <a:off x="233172" y="4631436"/>
            <a:ext cx="2688336" cy="233172"/>
          </a:xfrm>
          <a:prstGeom prst="rect">
            <a:avLst/>
          </a:prstGeom>
          <a:solidFill>
            <a:srgbClr val="D4E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278892" y="4713732"/>
            <a:ext cx="73152" cy="7315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406908" y="46497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850" dirty="0"/>
          </a:p>
        </p:txBody>
      </p:sp>
      <p:sp>
        <p:nvSpPr>
          <p:cNvPr id="140" name="Shape 134"/>
          <p:cNvSpPr/>
          <p:nvPr/>
        </p:nvSpPr>
        <p:spPr>
          <a:xfrm>
            <a:off x="1641348" y="468630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1696212" y="46497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version control</a:t>
            </a:r>
            <a:endParaRPr lang="en-US" sz="780" dirty="0"/>
          </a:p>
        </p:txBody>
      </p:sp>
      <p:sp>
        <p:nvSpPr>
          <p:cNvPr id="142" name="Shape 136"/>
          <p:cNvSpPr/>
          <p:nvPr/>
        </p:nvSpPr>
        <p:spPr>
          <a:xfrm>
            <a:off x="3154680" y="290779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3" name="Shape 137"/>
          <p:cNvSpPr/>
          <p:nvPr/>
        </p:nvSpPr>
        <p:spPr>
          <a:xfrm>
            <a:off x="3154680" y="2907792"/>
            <a:ext cx="2834640" cy="47548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pic>
        <p:nvPicPr>
          <p:cNvPr id="1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80944"/>
            <a:ext cx="329184" cy="329184"/>
          </a:xfrm>
          <a:prstGeom prst="rect">
            <a:avLst/>
          </a:prstGeom>
        </p:spPr>
      </p:pic>
      <p:sp>
        <p:nvSpPr>
          <p:cNvPr id="145" name="Text 138"/>
          <p:cNvSpPr/>
          <p:nvPr/>
        </p:nvSpPr>
        <p:spPr>
          <a:xfrm>
            <a:off x="3657600" y="298094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Comms</a:t>
            </a:r>
            <a:endParaRPr lang="en-US" sz="1100" dirty="0"/>
          </a:p>
        </p:txBody>
      </p:sp>
      <p:sp>
        <p:nvSpPr>
          <p:cNvPr id="146" name="Shape 139"/>
          <p:cNvSpPr/>
          <p:nvPr/>
        </p:nvSpPr>
        <p:spPr>
          <a:xfrm>
            <a:off x="3227832" y="341985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3273552" y="3502152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48" name="Text 141"/>
          <p:cNvSpPr/>
          <p:nvPr/>
        </p:nvSpPr>
        <p:spPr>
          <a:xfrm>
            <a:off x="3401568" y="34381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(port 8883)</a:t>
            </a:r>
            <a:endParaRPr lang="en-US" sz="850" dirty="0"/>
          </a:p>
        </p:txBody>
      </p:sp>
      <p:sp>
        <p:nvSpPr>
          <p:cNvPr id="149" name="Shape 142"/>
          <p:cNvSpPr/>
          <p:nvPr/>
        </p:nvSpPr>
        <p:spPr>
          <a:xfrm>
            <a:off x="4636008" y="347472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0" name="Text 143"/>
          <p:cNvSpPr/>
          <p:nvPr/>
        </p:nvSpPr>
        <p:spPr>
          <a:xfrm>
            <a:off x="4690872" y="343814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OTA command channel</a:t>
            </a:r>
            <a:endParaRPr lang="en-US" sz="780" dirty="0"/>
          </a:p>
        </p:txBody>
      </p:sp>
      <p:sp>
        <p:nvSpPr>
          <p:cNvPr id="151" name="Shape 144"/>
          <p:cNvSpPr/>
          <p:nvPr/>
        </p:nvSpPr>
        <p:spPr>
          <a:xfrm>
            <a:off x="3227832" y="3662172"/>
            <a:ext cx="2688336" cy="233172"/>
          </a:xfrm>
          <a:prstGeom prst="rect">
            <a:avLst/>
          </a:prstGeom>
          <a:solidFill>
            <a:srgbClr val="FDE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3273552" y="3744468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53" name="Text 146"/>
          <p:cNvSpPr/>
          <p:nvPr/>
        </p:nvSpPr>
        <p:spPr>
          <a:xfrm>
            <a:off x="3401568" y="36804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Broadcast</a:t>
            </a:r>
            <a:endParaRPr lang="en-US" sz="850" dirty="0"/>
          </a:p>
        </p:txBody>
      </p:sp>
      <p:sp>
        <p:nvSpPr>
          <p:cNvPr id="154" name="Shape 147"/>
          <p:cNvSpPr/>
          <p:nvPr/>
        </p:nvSpPr>
        <p:spPr>
          <a:xfrm>
            <a:off x="4636008" y="371703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55" name="Text 148"/>
          <p:cNvSpPr/>
          <p:nvPr/>
        </p:nvSpPr>
        <p:spPr>
          <a:xfrm>
            <a:off x="4690872" y="368046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status (port 5007)</a:t>
            </a:r>
            <a:endParaRPr lang="en-US" sz="780" dirty="0"/>
          </a:p>
        </p:txBody>
      </p:sp>
      <p:sp>
        <p:nvSpPr>
          <p:cNvPr id="156" name="Shape 149"/>
          <p:cNvSpPr/>
          <p:nvPr/>
        </p:nvSpPr>
        <p:spPr>
          <a:xfrm>
            <a:off x="3227832" y="390448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0"/>
          <p:cNvSpPr/>
          <p:nvPr/>
        </p:nvSpPr>
        <p:spPr>
          <a:xfrm>
            <a:off x="3273552" y="3986784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58" name="Text 151"/>
          <p:cNvSpPr/>
          <p:nvPr/>
        </p:nvSpPr>
        <p:spPr>
          <a:xfrm>
            <a:off x="3401568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</a:t>
            </a: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5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</a:t>
            </a: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50" dirty="0"/>
          </a:p>
        </p:txBody>
      </p:sp>
      <p:sp>
        <p:nvSpPr>
          <p:cNvPr id="159" name="Shape 152"/>
          <p:cNvSpPr/>
          <p:nvPr/>
        </p:nvSpPr>
        <p:spPr>
          <a:xfrm>
            <a:off x="4636008" y="395935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0" name="Text 153"/>
          <p:cNvSpPr/>
          <p:nvPr/>
        </p:nvSpPr>
        <p:spPr>
          <a:xfrm>
            <a:off x="4690872" y="392277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discovery on local </a:t>
            </a:r>
            <a:endParaRPr lang="en-US" sz="780" dirty="0"/>
          </a:p>
        </p:txBody>
      </p:sp>
      <p:sp>
        <p:nvSpPr>
          <p:cNvPr id="161" name="Shape 154"/>
          <p:cNvSpPr/>
          <p:nvPr/>
        </p:nvSpPr>
        <p:spPr>
          <a:xfrm>
            <a:off x="3227832" y="4146804"/>
            <a:ext cx="2688336" cy="233172"/>
          </a:xfrm>
          <a:prstGeom prst="rect">
            <a:avLst/>
          </a:prstGeom>
          <a:solidFill>
            <a:srgbClr val="FDE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5"/>
          <p:cNvSpPr/>
          <p:nvPr/>
        </p:nvSpPr>
        <p:spPr>
          <a:xfrm>
            <a:off x="3273552" y="4229100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3" name="Text 156"/>
          <p:cNvSpPr/>
          <p:nvPr/>
        </p:nvSpPr>
        <p:spPr>
          <a:xfrm>
            <a:off x="3401568" y="416509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b/g/n</a:t>
            </a:r>
            <a:endParaRPr lang="en-US" sz="850" dirty="0"/>
          </a:p>
        </p:txBody>
      </p:sp>
      <p:sp>
        <p:nvSpPr>
          <p:cNvPr id="164" name="Shape 157"/>
          <p:cNvSpPr/>
          <p:nvPr/>
        </p:nvSpPr>
        <p:spPr>
          <a:xfrm>
            <a:off x="4636008" y="420166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65" name="Text 158"/>
          <p:cNvSpPr/>
          <p:nvPr/>
        </p:nvSpPr>
        <p:spPr>
          <a:xfrm>
            <a:off x="4690872" y="416509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connectivity layer</a:t>
            </a:r>
            <a:endParaRPr lang="en-US" sz="780" dirty="0"/>
          </a:p>
        </p:txBody>
      </p:sp>
      <p:sp>
        <p:nvSpPr>
          <p:cNvPr id="166" name="Shape 159"/>
          <p:cNvSpPr/>
          <p:nvPr/>
        </p:nvSpPr>
        <p:spPr>
          <a:xfrm>
            <a:off x="3227832" y="4389120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0"/>
          <p:cNvSpPr/>
          <p:nvPr/>
        </p:nvSpPr>
        <p:spPr>
          <a:xfrm>
            <a:off x="3273552" y="4471416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8" name="Text 161"/>
          <p:cNvSpPr/>
          <p:nvPr/>
        </p:nvSpPr>
        <p:spPr>
          <a:xfrm>
            <a:off x="3401568" y="440740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Stack</a:t>
            </a:r>
            <a:endParaRPr lang="en-US" sz="850" dirty="0"/>
          </a:p>
        </p:txBody>
      </p:sp>
      <p:sp>
        <p:nvSpPr>
          <p:cNvPr id="169" name="Shape 162"/>
          <p:cNvSpPr/>
          <p:nvPr/>
        </p:nvSpPr>
        <p:spPr>
          <a:xfrm>
            <a:off x="4636008" y="444398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70" name="Text 163"/>
          <p:cNvSpPr/>
          <p:nvPr/>
        </p:nvSpPr>
        <p:spPr>
          <a:xfrm>
            <a:off x="4690872" y="440740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lwIP network stack</a:t>
            </a:r>
            <a:endParaRPr lang="en-US" sz="780" dirty="0"/>
          </a:p>
        </p:txBody>
      </p:sp>
      <p:sp>
        <p:nvSpPr>
          <p:cNvPr id="171" name="Shape 164"/>
          <p:cNvSpPr/>
          <p:nvPr/>
        </p:nvSpPr>
        <p:spPr>
          <a:xfrm>
            <a:off x="3227832" y="4631436"/>
            <a:ext cx="2688336" cy="233172"/>
          </a:xfrm>
          <a:prstGeom prst="rect">
            <a:avLst/>
          </a:prstGeom>
          <a:solidFill>
            <a:srgbClr val="FDE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65"/>
          <p:cNvSpPr/>
          <p:nvPr/>
        </p:nvSpPr>
        <p:spPr>
          <a:xfrm>
            <a:off x="3273552" y="4713732"/>
            <a:ext cx="73152" cy="73152"/>
          </a:xfrm>
          <a:prstGeom prst="ellipse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73" name="Text 166"/>
          <p:cNvSpPr/>
          <p:nvPr/>
        </p:nvSpPr>
        <p:spPr>
          <a:xfrm>
            <a:off x="3401568" y="46497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850" dirty="0"/>
          </a:p>
        </p:txBody>
      </p:sp>
      <p:sp>
        <p:nvSpPr>
          <p:cNvPr id="174" name="Shape 167"/>
          <p:cNvSpPr/>
          <p:nvPr/>
        </p:nvSpPr>
        <p:spPr>
          <a:xfrm>
            <a:off x="4636008" y="468630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75" name="Text 168"/>
          <p:cNvSpPr/>
          <p:nvPr/>
        </p:nvSpPr>
        <p:spPr>
          <a:xfrm>
            <a:off x="4690872" y="46497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↔ Arduino CLI interface</a:t>
            </a:r>
            <a:endParaRPr lang="en-US" sz="780" dirty="0"/>
          </a:p>
        </p:txBody>
      </p:sp>
      <p:sp>
        <p:nvSpPr>
          <p:cNvPr id="176" name="Shape 169"/>
          <p:cNvSpPr/>
          <p:nvPr/>
        </p:nvSpPr>
        <p:spPr>
          <a:xfrm>
            <a:off x="6149340" y="2907792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7" name="Shape 170"/>
          <p:cNvSpPr/>
          <p:nvPr/>
        </p:nvSpPr>
        <p:spPr>
          <a:xfrm>
            <a:off x="6149340" y="2907792"/>
            <a:ext cx="283464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780" y="2980944"/>
            <a:ext cx="329184" cy="329184"/>
          </a:xfrm>
          <a:prstGeom prst="rect">
            <a:avLst/>
          </a:prstGeom>
        </p:spPr>
      </p:pic>
      <p:sp>
        <p:nvSpPr>
          <p:cNvPr id="179" name="Text 171"/>
          <p:cNvSpPr/>
          <p:nvPr/>
        </p:nvSpPr>
        <p:spPr>
          <a:xfrm>
            <a:off x="6652260" y="298094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Toolchain</a:t>
            </a:r>
            <a:endParaRPr lang="en-US" sz="1100" dirty="0"/>
          </a:p>
        </p:txBody>
      </p:sp>
      <p:sp>
        <p:nvSpPr>
          <p:cNvPr id="180" name="Shape 172"/>
          <p:cNvSpPr/>
          <p:nvPr/>
        </p:nvSpPr>
        <p:spPr>
          <a:xfrm>
            <a:off x="6222492" y="3419856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3"/>
          <p:cNvSpPr/>
          <p:nvPr/>
        </p:nvSpPr>
        <p:spPr>
          <a:xfrm>
            <a:off x="6268212" y="3502152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2" name="Text 174"/>
          <p:cNvSpPr/>
          <p:nvPr/>
        </p:nvSpPr>
        <p:spPr>
          <a:xfrm>
            <a:off x="6396228" y="34381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CLI (Go)</a:t>
            </a:r>
            <a:endParaRPr lang="en-US" sz="850" dirty="0"/>
          </a:p>
        </p:txBody>
      </p:sp>
      <p:sp>
        <p:nvSpPr>
          <p:cNvPr id="183" name="Shape 175"/>
          <p:cNvSpPr/>
          <p:nvPr/>
        </p:nvSpPr>
        <p:spPr>
          <a:xfrm>
            <a:off x="7630668" y="3474720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84" name="Text 176"/>
          <p:cNvSpPr/>
          <p:nvPr/>
        </p:nvSpPr>
        <p:spPr>
          <a:xfrm>
            <a:off x="7685532" y="343814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compile &amp; upload backend</a:t>
            </a:r>
            <a:endParaRPr lang="en-US" sz="780" dirty="0"/>
          </a:p>
        </p:txBody>
      </p:sp>
      <p:sp>
        <p:nvSpPr>
          <p:cNvPr id="185" name="Shape 177"/>
          <p:cNvSpPr/>
          <p:nvPr/>
        </p:nvSpPr>
        <p:spPr>
          <a:xfrm>
            <a:off x="6222492" y="3662172"/>
            <a:ext cx="2688336" cy="233172"/>
          </a:xfrm>
          <a:prstGeom prst="rect">
            <a:avLst/>
          </a:prstGeom>
          <a:solidFill>
            <a:srgbClr val="FEF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78"/>
          <p:cNvSpPr/>
          <p:nvPr/>
        </p:nvSpPr>
        <p:spPr>
          <a:xfrm>
            <a:off x="6268212" y="3744468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7" name="Text 179"/>
          <p:cNvSpPr/>
          <p:nvPr/>
        </p:nvSpPr>
        <p:spPr>
          <a:xfrm>
            <a:off x="6396228" y="36804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xtensa-esp32-gcc</a:t>
            </a:r>
            <a:endParaRPr lang="en-US" sz="850" dirty="0"/>
          </a:p>
        </p:txBody>
      </p:sp>
      <p:sp>
        <p:nvSpPr>
          <p:cNvPr id="188" name="Shape 180"/>
          <p:cNvSpPr/>
          <p:nvPr/>
        </p:nvSpPr>
        <p:spPr>
          <a:xfrm>
            <a:off x="7630668" y="3717036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89" name="Text 181"/>
          <p:cNvSpPr/>
          <p:nvPr/>
        </p:nvSpPr>
        <p:spPr>
          <a:xfrm>
            <a:off x="7685532" y="3680460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cross-compiler toolchain</a:t>
            </a:r>
            <a:endParaRPr lang="en-US" sz="780" dirty="0"/>
          </a:p>
        </p:txBody>
      </p:sp>
      <p:sp>
        <p:nvSpPr>
          <p:cNvPr id="190" name="Shape 182"/>
          <p:cNvSpPr/>
          <p:nvPr/>
        </p:nvSpPr>
        <p:spPr>
          <a:xfrm>
            <a:off x="6222492" y="3904488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3"/>
          <p:cNvSpPr/>
          <p:nvPr/>
        </p:nvSpPr>
        <p:spPr>
          <a:xfrm>
            <a:off x="6268212" y="3986784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2" name="Text 184"/>
          <p:cNvSpPr/>
          <p:nvPr/>
        </p:nvSpPr>
        <p:spPr>
          <a:xfrm>
            <a:off x="6396228" y="39227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esptool.py</a:t>
            </a:r>
            <a:endParaRPr lang="en-US" sz="850" dirty="0"/>
          </a:p>
        </p:txBody>
      </p:sp>
      <p:sp>
        <p:nvSpPr>
          <p:cNvPr id="193" name="Shape 185"/>
          <p:cNvSpPr/>
          <p:nvPr/>
        </p:nvSpPr>
        <p:spPr>
          <a:xfrm>
            <a:off x="7630668" y="3959352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4" name="Text 186"/>
          <p:cNvSpPr/>
          <p:nvPr/>
        </p:nvSpPr>
        <p:spPr>
          <a:xfrm>
            <a:off x="7685532" y="392277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firmware via USB serial</a:t>
            </a:r>
            <a:endParaRPr lang="en-US" sz="780" dirty="0"/>
          </a:p>
        </p:txBody>
      </p:sp>
      <p:sp>
        <p:nvSpPr>
          <p:cNvPr id="195" name="Shape 187"/>
          <p:cNvSpPr/>
          <p:nvPr/>
        </p:nvSpPr>
        <p:spPr>
          <a:xfrm>
            <a:off x="6222492" y="4146804"/>
            <a:ext cx="2688336" cy="233172"/>
          </a:xfrm>
          <a:prstGeom prst="rect">
            <a:avLst/>
          </a:prstGeom>
          <a:solidFill>
            <a:srgbClr val="FEF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88"/>
          <p:cNvSpPr/>
          <p:nvPr/>
        </p:nvSpPr>
        <p:spPr>
          <a:xfrm>
            <a:off x="6268212" y="4229100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7" name="Text 189"/>
          <p:cNvSpPr/>
          <p:nvPr/>
        </p:nvSpPr>
        <p:spPr>
          <a:xfrm>
            <a:off x="6396228" y="416509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/ npm</a:t>
            </a:r>
            <a:endParaRPr lang="en-US" sz="850" dirty="0"/>
          </a:p>
        </p:txBody>
      </p:sp>
      <p:sp>
        <p:nvSpPr>
          <p:cNvPr id="198" name="Shape 190"/>
          <p:cNvSpPr/>
          <p:nvPr/>
        </p:nvSpPr>
        <p:spPr>
          <a:xfrm>
            <a:off x="7630668" y="4201668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9" name="Text 191"/>
          <p:cNvSpPr/>
          <p:nvPr/>
        </p:nvSpPr>
        <p:spPr>
          <a:xfrm>
            <a:off x="7685532" y="416509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package management</a:t>
            </a:r>
            <a:endParaRPr lang="en-US" sz="780" dirty="0"/>
          </a:p>
        </p:txBody>
      </p:sp>
      <p:sp>
        <p:nvSpPr>
          <p:cNvPr id="200" name="Shape 192"/>
          <p:cNvSpPr/>
          <p:nvPr/>
        </p:nvSpPr>
        <p:spPr>
          <a:xfrm>
            <a:off x="6204204" y="4393692"/>
            <a:ext cx="2688336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3"/>
          <p:cNvSpPr/>
          <p:nvPr/>
        </p:nvSpPr>
        <p:spPr>
          <a:xfrm>
            <a:off x="6268212" y="4471416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2" name="Text 194"/>
          <p:cNvSpPr/>
          <p:nvPr/>
        </p:nvSpPr>
        <p:spPr>
          <a:xfrm>
            <a:off x="6396228" y="440740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 5</a:t>
            </a:r>
            <a:endParaRPr lang="en-US" sz="850" dirty="0"/>
          </a:p>
        </p:txBody>
      </p:sp>
      <p:sp>
        <p:nvSpPr>
          <p:cNvPr id="203" name="Shape 195"/>
          <p:cNvSpPr/>
          <p:nvPr/>
        </p:nvSpPr>
        <p:spPr>
          <a:xfrm>
            <a:off x="7630668" y="4443984"/>
            <a:ext cx="9144" cy="128016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4" name="Text 196"/>
          <p:cNvSpPr/>
          <p:nvPr/>
        </p:nvSpPr>
        <p:spPr>
          <a:xfrm>
            <a:off x="7685532" y="4407408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frontend bundler</a:t>
            </a:r>
            <a:endParaRPr lang="en-US" sz="780" dirty="0"/>
          </a:p>
        </p:txBody>
      </p:sp>
      <p:sp>
        <p:nvSpPr>
          <p:cNvPr id="205" name="Shape 197"/>
          <p:cNvSpPr/>
          <p:nvPr/>
        </p:nvSpPr>
        <p:spPr>
          <a:xfrm>
            <a:off x="6222492" y="4631436"/>
            <a:ext cx="2688336" cy="233172"/>
          </a:xfrm>
          <a:prstGeom prst="rect">
            <a:avLst/>
          </a:prstGeom>
          <a:solidFill>
            <a:srgbClr val="FEF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Text 199"/>
          <p:cNvSpPr/>
          <p:nvPr/>
        </p:nvSpPr>
        <p:spPr>
          <a:xfrm>
            <a:off x="6396228" y="46497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9" name="Text 201"/>
          <p:cNvSpPr/>
          <p:nvPr/>
        </p:nvSpPr>
        <p:spPr>
          <a:xfrm>
            <a:off x="7594600" y="4649724"/>
            <a:ext cx="1549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10" name="Shape 20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1" name="Shape 203"/>
          <p:cNvSpPr/>
          <p:nvPr/>
        </p:nvSpPr>
        <p:spPr>
          <a:xfrm>
            <a:off x="182880" y="4860036"/>
            <a:ext cx="1682496" cy="2286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12" name="Text 204"/>
          <p:cNvSpPr/>
          <p:nvPr/>
        </p:nvSpPr>
        <p:spPr>
          <a:xfrm>
            <a:off x="182880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  <a:endParaRPr lang="en-US" sz="750" dirty="0"/>
          </a:p>
        </p:txBody>
      </p:sp>
      <p:sp>
        <p:nvSpPr>
          <p:cNvPr id="213" name="Shape 205"/>
          <p:cNvSpPr/>
          <p:nvPr/>
        </p:nvSpPr>
        <p:spPr>
          <a:xfrm>
            <a:off x="1956816" y="4860036"/>
            <a:ext cx="1682496" cy="228600"/>
          </a:xfrm>
          <a:prstGeom prst="rect">
            <a:avLst/>
          </a:prstGeom>
          <a:solidFill>
            <a:srgbClr val="F0C040">
              <a:alpha val="18000"/>
            </a:srgbClr>
          </a:solidFill>
          <a:ln w="12700">
            <a:solidFill>
              <a:srgbClr val="F0C040">
                <a:alpha val="60000"/>
              </a:srgbClr>
            </a:solidFill>
            <a:prstDash val="solid"/>
          </a:ln>
        </p:spPr>
      </p:sp>
      <p:sp>
        <p:nvSpPr>
          <p:cNvPr id="214" name="Text 206"/>
          <p:cNvSpPr/>
          <p:nvPr/>
        </p:nvSpPr>
        <p:spPr>
          <a:xfrm>
            <a:off x="1956816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Technologies</a:t>
            </a:r>
            <a:endParaRPr lang="en-US" sz="750" dirty="0"/>
          </a:p>
        </p:txBody>
      </p:sp>
      <p:sp>
        <p:nvSpPr>
          <p:cNvPr id="215" name="Shape 207"/>
          <p:cNvSpPr/>
          <p:nvPr/>
        </p:nvSpPr>
        <p:spPr>
          <a:xfrm>
            <a:off x="3730752" y="4860036"/>
            <a:ext cx="1682496" cy="228600"/>
          </a:xfrm>
          <a:prstGeom prst="rect">
            <a:avLst/>
          </a:prstGeom>
          <a:solidFill>
            <a:srgbClr val="14A38B">
              <a:alpha val="18000"/>
            </a:srgbClr>
          </a:solidFill>
          <a:ln w="12700">
            <a:solidFill>
              <a:srgbClr val="14A38B">
                <a:alpha val="60000"/>
              </a:srgbClr>
            </a:solidFill>
            <a:prstDash val="solid"/>
          </a:ln>
        </p:spPr>
      </p:sp>
      <p:sp>
        <p:nvSpPr>
          <p:cNvPr id="216" name="Text 208"/>
          <p:cNvSpPr/>
          <p:nvPr/>
        </p:nvSpPr>
        <p:spPr>
          <a:xfrm>
            <a:off x="3730752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Cost</a:t>
            </a:r>
            <a:endParaRPr lang="en-US" sz="750" dirty="0"/>
          </a:p>
        </p:txBody>
      </p:sp>
      <p:sp>
        <p:nvSpPr>
          <p:cNvPr id="217" name="Shape 209"/>
          <p:cNvSpPr/>
          <p:nvPr/>
        </p:nvSpPr>
        <p:spPr>
          <a:xfrm>
            <a:off x="5504688" y="4860036"/>
            <a:ext cx="1682496" cy="228600"/>
          </a:xfrm>
          <a:prstGeom prst="rect">
            <a:avLst/>
          </a:prstGeom>
          <a:solidFill>
            <a:srgbClr val="5C2D91">
              <a:alpha val="18000"/>
            </a:srgbClr>
          </a:solidFill>
          <a:ln w="12700">
            <a:solidFill>
              <a:srgbClr val="5C2D91">
                <a:alpha val="60000"/>
              </a:srgbClr>
            </a:solidFill>
            <a:prstDash val="solid"/>
          </a:ln>
        </p:spPr>
      </p:sp>
      <p:sp>
        <p:nvSpPr>
          <p:cNvPr id="218" name="Text 210"/>
          <p:cNvSpPr/>
          <p:nvPr/>
        </p:nvSpPr>
        <p:spPr>
          <a:xfrm>
            <a:off x="5504688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750" dirty="0"/>
          </a:p>
        </p:txBody>
      </p:sp>
      <p:sp>
        <p:nvSpPr>
          <p:cNvPr id="219" name="Shape 211"/>
          <p:cNvSpPr/>
          <p:nvPr/>
        </p:nvSpPr>
        <p:spPr>
          <a:xfrm>
            <a:off x="7278624" y="4860036"/>
            <a:ext cx="1682496" cy="228600"/>
          </a:xfrm>
          <a:prstGeom prst="rect">
            <a:avLst/>
          </a:prstGeom>
          <a:solidFill>
            <a:srgbClr val="C0531A">
              <a:alpha val="18000"/>
            </a:srgbClr>
          </a:solidFill>
          <a:ln w="12700">
            <a:solidFill>
              <a:srgbClr val="C0531A">
                <a:alpha val="60000"/>
              </a:srgbClr>
            </a:solidFill>
            <a:prstDash val="solid"/>
          </a:ln>
        </p:spPr>
      </p:sp>
      <p:sp>
        <p:nvSpPr>
          <p:cNvPr id="220" name="Text 212"/>
          <p:cNvSpPr/>
          <p:nvPr/>
        </p:nvSpPr>
        <p:spPr>
          <a:xfrm>
            <a:off x="7278624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Base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2672" y="0"/>
            <a:ext cx="9186672" cy="76809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2400" y="658368"/>
            <a:ext cx="914400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7640" y="5486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 MODULES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76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96" y="768096"/>
            <a:ext cx="658368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" y="775716"/>
            <a:ext cx="457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" y="768096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0560" y="768096"/>
            <a:ext cx="1572768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424" y="768096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3328" y="768096"/>
            <a:ext cx="1261872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8192" y="76809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5200" y="768096"/>
            <a:ext cx="1572768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0064" y="768096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77968" y="768096"/>
            <a:ext cx="3218688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2832" y="768096"/>
            <a:ext cx="3145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96656" y="768096"/>
            <a:ext cx="896112" cy="310896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1520" y="768096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192" y="1078992"/>
            <a:ext cx="9125712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" y="1078992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44" y="1188720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44" y="1188720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25424" y="1097280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Core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98192" y="1207008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98192" y="1207008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60064" y="1097280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Theia · Electron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32832" y="1097280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editor, compiler trigger, board manager — cloned unchanged from Arduino IDE 2.x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51520" y="1207008"/>
            <a:ext cx="749808" cy="201168"/>
          </a:xfrm>
          <a:prstGeom prst="rect">
            <a:avLst/>
          </a:prstGeom>
          <a:solidFill>
            <a:srgbClr val="8090A8">
              <a:alpha val="15000"/>
            </a:srgbClr>
          </a:solidFill>
          <a:ln w="12700">
            <a:solidFill>
              <a:srgbClr val="8090A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1520" y="12070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2192" y="1549908"/>
            <a:ext cx="9125712" cy="470916"/>
          </a:xfrm>
          <a:prstGeom prst="rect">
            <a:avLst/>
          </a:prstGeom>
          <a:solidFill>
            <a:srgbClr val="EEF4FB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92" y="1549908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344" y="1659636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344" y="1659636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25424" y="1568196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Discovery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98192" y="1677924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98192" y="167792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0064" y="1568196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mDNS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32832" y="1568196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SecureOTA-capable devices on local network via _secureota._tcp service records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351520" y="1677924"/>
            <a:ext cx="749808" cy="201168"/>
          </a:xfrm>
          <a:prstGeom prst="rect">
            <a:avLst/>
          </a:prstGeom>
          <a:solidFill>
            <a:srgbClr val="0F7B6C">
              <a:alpha val="15000"/>
            </a:srgbClr>
          </a:solidFill>
          <a:ln w="12700">
            <a:solidFill>
              <a:srgbClr val="0F7B6C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1520" y="167792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2192" y="2020824"/>
            <a:ext cx="9125712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192" y="2020824"/>
            <a:ext cx="45720" cy="470916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44" y="2130552"/>
            <a:ext cx="530352" cy="2286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44" y="2130552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25424" y="2039112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ArduinoOTA Base Library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98192" y="2148840"/>
            <a:ext cx="1152144" cy="201168"/>
          </a:xfrm>
          <a:prstGeom prst="rect">
            <a:avLst/>
          </a:prstGeom>
          <a:solidFill>
            <a:srgbClr val="C0531A">
              <a:alpha val="15000"/>
            </a:srgbClr>
          </a:solidFill>
          <a:ln w="12700">
            <a:solidFill>
              <a:srgbClr val="C0531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98192" y="2148840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Device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560064" y="2039112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Arduino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32832" y="2039112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OTA reception library — extended by MOD-08 with encryption and authentication layer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351520" y="2148840"/>
            <a:ext cx="749808" cy="201168"/>
          </a:xfrm>
          <a:prstGeom prst="rect">
            <a:avLst/>
          </a:prstGeom>
          <a:solidFill>
            <a:srgbClr val="8090A8">
              <a:alpha val="15000"/>
            </a:srgbClr>
          </a:solidFill>
          <a:ln w="12700">
            <a:solidFill>
              <a:srgbClr val="8090A8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51520" y="21488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2192" y="2491740"/>
            <a:ext cx="9125712" cy="470916"/>
          </a:xfrm>
          <a:prstGeom prst="rect">
            <a:avLst/>
          </a:prstGeom>
          <a:solidFill>
            <a:srgbClr val="EEF4FB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2" y="2491740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344" y="2601468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344" y="2601468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25424" y="2510028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 Upload Engine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98192" y="2619756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98192" y="2619756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560064" y="2510028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Node.js crypto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32832" y="2510028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upload, encrypts firmware (AES-256), signs (ECDSA), transmits over TLS 1.3 TCP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351520" y="2619756"/>
            <a:ext cx="749808" cy="20116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51520" y="261975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2192" y="2962656"/>
            <a:ext cx="9125712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192" y="2962656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344" y="3072384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344" y="3072384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25424" y="2980944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Panel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98192" y="3090672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98192" y="309067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560064" y="2980944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· SQLite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32832" y="2980944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OTA upload — sketch, version, device, timestamp, result. Supports one-click rollback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351520" y="3090672"/>
            <a:ext cx="749808" cy="20116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51520" y="309067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2192" y="3433572"/>
            <a:ext cx="9125712" cy="470916"/>
          </a:xfrm>
          <a:prstGeom prst="rect">
            <a:avLst/>
          </a:prstGeom>
          <a:solidFill>
            <a:srgbClr val="EEF4FB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192" y="3433572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344" y="3543300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5344" y="3543300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25424" y="3451860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Relevance Checker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98192" y="3561588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98192" y="3561588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560064" y="3451860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32832" y="3451860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sketch function tags against device profile. Warns if relevance score is below threshold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351520" y="3561588"/>
            <a:ext cx="749808" cy="20116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51520" y="356158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2192" y="3904488"/>
            <a:ext cx="9125712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2192" y="3904488"/>
            <a:ext cx="45720" cy="470916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344" y="4014216"/>
            <a:ext cx="530352" cy="22860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344" y="4014216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MOD-07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25424" y="3922776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Dashboard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298192" y="4032504"/>
            <a:ext cx="1152144" cy="201168"/>
          </a:xfrm>
          <a:prstGeom prst="rect">
            <a:avLst/>
          </a:prstGeom>
          <a:solidFill>
            <a:srgbClr val="1E6FBF">
              <a:alpha val="15000"/>
            </a:srgbClr>
          </a:solidFill>
          <a:ln w="12700">
            <a:solidFill>
              <a:srgbClr val="1E6FBF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98192" y="403250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Host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560064" y="3922776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· Node.js UDP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132832" y="3922776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port 5007 listener with 4-layer security verify. Displays online/offline status per device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351520" y="4032504"/>
            <a:ext cx="749808" cy="20116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51520" y="40325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2192" y="4375404"/>
            <a:ext cx="9125712" cy="470916"/>
          </a:xfrm>
          <a:prstGeom prst="rect">
            <a:avLst/>
          </a:prstGeom>
          <a:solidFill>
            <a:srgbClr val="EEF4FB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192" y="4375404"/>
            <a:ext cx="45720" cy="470916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344" y="4485132"/>
            <a:ext cx="530352" cy="2286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5344" y="4485132"/>
            <a:ext cx="530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MOD-08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25424" y="4393692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SecureArduinoOTA Library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298192" y="4503420"/>
            <a:ext cx="1152144" cy="201168"/>
          </a:xfrm>
          <a:prstGeom prst="rect">
            <a:avLst/>
          </a:prstGeom>
          <a:solidFill>
            <a:srgbClr val="C0531A">
              <a:alpha val="15000"/>
            </a:srgbClr>
          </a:solidFill>
          <a:ln w="12700">
            <a:solidFill>
              <a:srgbClr val="C0531A">
                <a:alpha val="5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98192" y="4503420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Device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560064" y="4393692"/>
            <a:ext cx="148132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mbedTLS · FreeRTOS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132832" y="4393692"/>
            <a:ext cx="31272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for ArduinoOTA. TLS 1.3 listener, AES decrypt, SHA-256 + ECDSA verify, NVS counter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51520" y="4503420"/>
            <a:ext cx="749808" cy="201168"/>
          </a:xfrm>
          <a:prstGeom prst="rect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51520" y="45034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-152400" y="4828032"/>
            <a:ext cx="9296400" cy="3154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480" y="4860036"/>
            <a:ext cx="1682496" cy="228600"/>
          </a:xfrm>
          <a:prstGeom prst="rect">
            <a:avLst/>
          </a:prstGeom>
          <a:solidFill>
            <a:srgbClr val="14A38B">
              <a:alpha val="18000"/>
            </a:srgbClr>
          </a:solidFill>
          <a:ln w="12700">
            <a:solidFill>
              <a:srgbClr val="14A38B">
                <a:alpha val="6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480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4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modules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804416" y="4860036"/>
            <a:ext cx="1682496" cy="228600"/>
          </a:xfrm>
          <a:prstGeom prst="rect">
            <a:avLst/>
          </a:prstGeom>
          <a:solidFill>
            <a:srgbClr val="8090A8">
              <a:alpha val="18000"/>
            </a:srgbClr>
          </a:solidFill>
          <a:ln w="12700">
            <a:solidFill>
              <a:srgbClr val="8090A8">
                <a:alpha val="6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804416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Cloned / Base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578352" y="4860036"/>
            <a:ext cx="1682496" cy="228600"/>
          </a:xfrm>
          <a:prstGeom prst="rect">
            <a:avLst/>
          </a:prstGeom>
          <a:solidFill>
            <a:srgbClr val="0F7B6C">
              <a:alpha val="18000"/>
            </a:srgbClr>
          </a:solidFill>
          <a:ln w="12700">
            <a:solidFill>
              <a:srgbClr val="0F7B6C">
                <a:alpha val="6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578352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Extended module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352288" y="4860036"/>
            <a:ext cx="1682496" cy="228600"/>
          </a:xfrm>
          <a:prstGeom prst="rect">
            <a:avLst/>
          </a:prstGeom>
          <a:solidFill>
            <a:srgbClr val="C0531A">
              <a:alpha val="18000"/>
            </a:srgbClr>
          </a:solidFill>
          <a:ln w="12700">
            <a:solidFill>
              <a:srgbClr val="C0531A">
                <a:alpha val="6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52288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Device-side (ESP32)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7126224" y="4860036"/>
            <a:ext cx="1682496" cy="228600"/>
          </a:xfrm>
          <a:prstGeom prst="rect">
            <a:avLst/>
          </a:prstGeom>
          <a:solidFill>
            <a:srgbClr val="1E6FBF">
              <a:alpha val="18000"/>
            </a:srgbClr>
          </a:solidFill>
          <a:ln w="12700">
            <a:solidFill>
              <a:srgbClr val="1E6FBF">
                <a:alpha val="60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126224" y="48600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IDE Host modules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6426-F6F5-CB85-FB2E-634B2DA0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1BFBA7-A961-92E9-1EB5-D44C0734563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1B57C6-B86B-DEEC-8CCB-AF5771B07DB0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161BAD-CA7A-1CE7-46AD-47A225E79E1D}"/>
              </a:ext>
            </a:extLst>
          </p:cNvPr>
          <p:cNvSpPr/>
          <p:nvPr/>
        </p:nvSpPr>
        <p:spPr>
          <a:xfrm>
            <a:off x="365760" y="731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OUR SOLUTION —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SecureOTA</a:t>
            </a:r>
            <a:endParaRPr lang="en-US" sz="20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EE9E6D1-EBA4-4E65-D9A2-C6F28C436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57200" cy="45720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0854D117-A399-80E4-604A-562EE9B666A5}"/>
              </a:ext>
            </a:extLst>
          </p:cNvPr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034FE45-B603-59FA-6C0A-884AEE80836A}"/>
              </a:ext>
            </a:extLst>
          </p:cNvPr>
          <p:cNvSpPr/>
          <p:nvPr/>
        </p:nvSpPr>
        <p:spPr>
          <a:xfrm>
            <a:off x="320040" y="822960"/>
            <a:ext cx="37490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D7F84B6-F71F-D371-86AE-B2A1511C8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572768"/>
            <a:ext cx="457200" cy="4572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0BF9D39F-B677-CC22-0378-D62C870EF7CF}"/>
              </a:ext>
            </a:extLst>
          </p:cNvPr>
          <p:cNvSpPr/>
          <p:nvPr/>
        </p:nvSpPr>
        <p:spPr>
          <a:xfrm>
            <a:off x="978408" y="1572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</a:t>
            </a:r>
            <a:endParaRPr lang="en-US" sz="11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F4C474B-757E-5D54-6DA7-013EC35D6C34}"/>
              </a:ext>
            </a:extLst>
          </p:cNvPr>
          <p:cNvSpPr/>
          <p:nvPr/>
        </p:nvSpPr>
        <p:spPr>
          <a:xfrm>
            <a:off x="3566160" y="1572768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323DA31-94BE-FE86-CC33-D62EEA03C247}"/>
              </a:ext>
            </a:extLst>
          </p:cNvPr>
          <p:cNvSpPr/>
          <p:nvPr/>
        </p:nvSpPr>
        <p:spPr>
          <a:xfrm>
            <a:off x="3566160" y="157276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AE28999-C864-EED5-FADA-5436DD0DF8D2}"/>
              </a:ext>
            </a:extLst>
          </p:cNvPr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C934F1F-D8B0-AD42-C189-384C02787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572768"/>
            <a:ext cx="457200" cy="45720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B190E17E-E49E-8349-5D24-852C54682512}"/>
              </a:ext>
            </a:extLst>
          </p:cNvPr>
          <p:cNvSpPr/>
          <p:nvPr/>
        </p:nvSpPr>
        <p:spPr>
          <a:xfrm>
            <a:off x="5413248" y="1572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Crypto Verification (TCV)</a:t>
            </a:r>
            <a:endParaRPr lang="en-US" sz="11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1B8C8F6B-7315-1540-750B-87C6C0A5D0CC}"/>
              </a:ext>
            </a:extLst>
          </p:cNvPr>
          <p:cNvSpPr/>
          <p:nvPr/>
        </p:nvSpPr>
        <p:spPr>
          <a:xfrm>
            <a:off x="8001000" y="1572768"/>
            <a:ext cx="749808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D9ED0C6-FD9C-49FE-E4BE-90D45AE2B5FB}"/>
              </a:ext>
            </a:extLst>
          </p:cNvPr>
          <p:cNvSpPr/>
          <p:nvPr/>
        </p:nvSpPr>
        <p:spPr>
          <a:xfrm>
            <a:off x="8001000" y="157276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~2KB</a:t>
            </a:r>
            <a:endParaRPr lang="en-US" sz="750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F375DCEB-4E64-3A3E-3425-12CDF9DED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474720"/>
            <a:ext cx="457200" cy="457200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06F2F154-F6FD-FC26-F4ED-C7F24CAFDFDC}"/>
              </a:ext>
            </a:extLst>
          </p:cNvPr>
          <p:cNvSpPr/>
          <p:nvPr/>
        </p:nvSpPr>
        <p:spPr>
          <a:xfrm>
            <a:off x="978408" y="3474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Anomaly-Scored Heartbeat (AS)</a:t>
            </a:r>
            <a:endParaRPr lang="en-US" sz="11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B5D5F69A-F427-BA74-410D-0637090D6475}"/>
              </a:ext>
            </a:extLst>
          </p:cNvPr>
          <p:cNvSpPr/>
          <p:nvPr/>
        </p:nvSpPr>
        <p:spPr>
          <a:xfrm>
            <a:off x="457200" y="40965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46D80205-5654-51E4-4B59-DFC974E4C216}"/>
              </a:ext>
            </a:extLst>
          </p:cNvPr>
          <p:cNvSpPr/>
          <p:nvPr/>
        </p:nvSpPr>
        <p:spPr>
          <a:xfrm>
            <a:off x="5116875" y="37261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051C33A-7FEA-4772-71A5-B61751CCEC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69080" y="1502229"/>
            <a:ext cx="4994238" cy="3386455"/>
          </a:xfrm>
          <a:prstGeom prst="rect">
            <a:avLst/>
          </a:prstGeom>
        </p:spPr>
      </p:pic>
      <p:sp>
        <p:nvSpPr>
          <p:cNvPr id="39" name="Shape 19">
            <a:extLst>
              <a:ext uri="{FF2B5EF4-FFF2-40B4-BE49-F238E27FC236}">
                <a16:creationId xmlns:a16="http://schemas.microsoft.com/office/drawing/2014/main" id="{3527A259-9477-CB45-37FD-A759E93949FB}"/>
              </a:ext>
            </a:extLst>
          </p:cNvPr>
          <p:cNvSpPr/>
          <p:nvPr/>
        </p:nvSpPr>
        <p:spPr>
          <a:xfrm>
            <a:off x="320040" y="1371600"/>
            <a:ext cx="3246120" cy="3794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A318FBD0-8AD6-10E3-340C-29D94E525F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77" y="1371600"/>
            <a:ext cx="2463085" cy="371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4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ADVANTAGES — WHY THIS IS BETTER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57200" cy="457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5394960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LG-OTA (Ours)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($/device/month)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GitHub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~64 KB (RSA-4096)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KB (Ed25519)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upload /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(Git Tag Trigger)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Health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server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 repo + Ed25519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Anti-Rollback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OTP (costly)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manifest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822960"/>
            <a:ext cx="2971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43600" y="1097280"/>
            <a:ext cx="548640" cy="54864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152144"/>
            <a:ext cx="438912" cy="43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0" y="93268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Democratized Security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583680" y="1280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Ed25519 signatures on a $2 MCU. Zero cost. Open standard.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852160" y="2157984"/>
            <a:ext cx="2971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943600" y="2432304"/>
            <a:ext cx="548640" cy="54864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2487168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0" y="226771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Resilience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583680" y="261518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prevents infinite update loops and denial-of-service bricking attacks.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852160" y="3493008"/>
            <a:ext cx="2971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943600" y="3767328"/>
            <a:ext cx="548640" cy="54864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382219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680" y="360273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Anti-Rollback Built-In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583680" y="395020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manifest prevents attackers from downgrading devices to known-vulnerable firmware.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3A6B">
              <a:alpha val="25000"/>
            </a:srgbClr>
          </a:solidFill>
          <a:ln w="12700">
            <a:solidFill>
              <a:srgbClr val="1A3A6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CONCLUSION &amp; FUTURE 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5486400" cy="2011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13232"/>
            <a:ext cx="5486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046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successfully designed LG-OTA — a framework that bridges the gap between sophisticated security and constrained hardware. By leveraging GitHub's CI/CD infrastructure and lightweight Ed25519 cryptography, even the cheapest IoT devices can be updated securely, reliably, and at zero infrastructure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261872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footprint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55648" y="2834640"/>
            <a:ext cx="1261872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F0C04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55648" y="32918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45536" y="2834640"/>
            <a:ext cx="1261872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4A38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45536" y="32918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pipeline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35424" y="2834640"/>
            <a:ext cx="1261872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33333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288036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</a:t>
            </a: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35424" y="329184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algo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3416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4160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firmware (AES-256 confidentiality tier)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453085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4672" y="4505037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architecture support expansion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0350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03504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5760" y="481888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Heterogeneous OTA Update Mechanism  ·  Rithik Sharma A  ·  Ritesh V  ·  Priyanka Devi S  ·  Guide: Dr. Gokilam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1589</Words>
  <Application>Microsoft Office PowerPoint</Application>
  <PresentationFormat>On-screen Show (16:9)</PresentationFormat>
  <Paragraphs>377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Heterogeneous OTA Update Mechanism</dc:title>
  <dc:subject>PptxGenJS Presentation</dc:subject>
  <dc:creator>SecureOTA IDE Team</dc:creator>
  <cp:lastModifiedBy>Ritesh v</cp:lastModifiedBy>
  <cp:revision>12</cp:revision>
  <dcterms:created xsi:type="dcterms:W3CDTF">2026-03-19T17:01:13Z</dcterms:created>
  <dcterms:modified xsi:type="dcterms:W3CDTF">2026-03-20T11:27:20Z</dcterms:modified>
</cp:coreProperties>
</file>